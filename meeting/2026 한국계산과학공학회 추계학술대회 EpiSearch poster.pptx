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563" autoAdjust="0"/>
  </p:normalViewPr>
  <p:slideViewPr>
    <p:cSldViewPr snapToGrid="0">
      <p:cViewPr varScale="1">
        <p:scale>
          <a:sx n="28" d="100"/>
          <a:sy n="28" d="100"/>
        </p:scale>
        <p:origin x="960" y="139"/>
      </p:cViewPr>
      <p:guideLst>
        <p:guide orient="horz" pos="13482"/>
        <p:guide pos="953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75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4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21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9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1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24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30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82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78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08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57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A3BC9-5EB9-4CF3-B884-5A8D16C5833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F2EE2-0188-44A7-A30D-CF45CC6933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10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6E59C7-6E41-EA15-3BD0-EBF25FACBBA2}"/>
              </a:ext>
            </a:extLst>
          </p:cNvPr>
          <p:cNvSpPr/>
          <p:nvPr/>
        </p:nvSpPr>
        <p:spPr>
          <a:xfrm>
            <a:off x="566539" y="4792069"/>
            <a:ext cx="14234160" cy="1033022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Motivation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The risk of viral infection is strongly associated with the proportion of infected individuals in the community.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Despite robust clinical testing infrastructure, </a:t>
            </a: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clinical data remain limited.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Wastewater-Based Epidemiology, </a:t>
            </a: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the high cost associated with advanced technology.</a:t>
            </a:r>
            <a:b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→ not available in many parts of the world.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BEDD03E-E69F-6372-B393-5BA771C4A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88" y="11281491"/>
            <a:ext cx="7762304" cy="3325875"/>
          </a:xfrm>
          <a:prstGeom prst="rect">
            <a:avLst/>
          </a:prstGeom>
        </p:spPr>
      </p:pic>
      <p:sp>
        <p:nvSpPr>
          <p:cNvPr id="77" name="직사각형 76">
            <a:extLst>
              <a:ext uri="{FF2B5EF4-FFF2-40B4-BE49-F238E27FC236}">
                <a16:creationId xmlns:a16="http://schemas.microsoft.com/office/drawing/2014/main" id="{1D8AD460-4588-5842-103A-F1074A86BC83}"/>
              </a:ext>
            </a:extLst>
          </p:cNvPr>
          <p:cNvSpPr/>
          <p:nvPr/>
        </p:nvSpPr>
        <p:spPr>
          <a:xfrm>
            <a:off x="0" y="0"/>
            <a:ext cx="30275213" cy="4177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CC5EA4-BD28-4CF6-5B28-ED5F4E6EE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"/>
            <a:ext cx="29360814" cy="2346174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ko-KR" sz="6000" b="1" dirty="0">
                <a:solidFill>
                  <a:schemeClr val="tx1"/>
                </a:solidFill>
                <a:latin typeface="Segoe UI Variable Small" pitchFamily="2" charset="0"/>
              </a:rPr>
              <a:t>EpiSearch: Identifying Disease-Specific Leading Search Indicators</a:t>
            </a:r>
            <a:br>
              <a:rPr lang="en-US" altLang="ko-KR" sz="6000" b="1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6000" b="1" dirty="0">
                <a:solidFill>
                  <a:schemeClr val="tx1"/>
                </a:solidFill>
                <a:latin typeface="Segoe UI Variable Small" pitchFamily="2" charset="0"/>
              </a:rPr>
              <a:t>Using Wastewater Surveillance Data in Korea</a:t>
            </a:r>
            <a:endParaRPr lang="ko-KR" altLang="en-US" sz="6000" b="1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제목 1">
                <a:extLst>
                  <a:ext uri="{FF2B5EF4-FFF2-40B4-BE49-F238E27FC236}">
                    <a16:creationId xmlns:a16="http://schemas.microsoft.com/office/drawing/2014/main" id="{F6161761-D79D-ABBF-BB31-FB92A83EF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7" y="3008179"/>
                <a:ext cx="29360813" cy="16347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b">
                <a:noAutofit/>
              </a:bodyPr>
              <a:lstStyle>
                <a:lvl1pPr algn="ctr" defTabSz="3027487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9865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4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Seo</m:t>
                        </m:r>
                        <m:r>
                          <m:rPr>
                            <m:nor/>
                          </m:rPr>
                          <a:rPr lang="en-US" altLang="ko-KR" sz="4000" b="1" i="0" dirty="0" smtClean="0">
                            <a:latin typeface="Segoe UI Variable Small" pitchFamily="2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Jin</m:t>
                        </m:r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Kang</m:t>
                        </m:r>
                      </m:e>
                      <m:sup>
                        <m:r>
                          <a:rPr lang="en-US" altLang="ko-KR" sz="4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altLang="ko-KR" sz="4000" b="1" dirty="0">
                    <a:latin typeface="Segoe UI Variable Small" pitchFamily="2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4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Seongchan</m:t>
                        </m:r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ko-KR" sz="4000" b="1" i="0" dirty="0">
                            <a:latin typeface="Segoe UI Variable Small" pitchFamily="2" charset="0"/>
                          </a:rPr>
                          <m:t>Kim</m:t>
                        </m:r>
                      </m:e>
                      <m:sup>
                        <m:r>
                          <a:rPr lang="en-US" altLang="ko-KR" sz="4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sz="4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4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ko-KR" sz="4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4000" b="1" dirty="0">
                  <a:latin typeface="Segoe UI Variable Small" pitchFamily="2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ko-KR" sz="3400" baseline="30000" dirty="0">
                    <a:latin typeface="Segoe UI Variable Small" pitchFamily="2" charset="0"/>
                  </a:rPr>
                  <a:t>1 </a:t>
                </a:r>
                <a:r>
                  <a:rPr lang="en-US" altLang="ko-KR" sz="3400" dirty="0" err="1">
                    <a:latin typeface="Segoe UI Variable Small" pitchFamily="2" charset="0"/>
                  </a:rPr>
                  <a:t>Sungkyul</a:t>
                </a:r>
                <a:r>
                  <a:rPr lang="en-US" altLang="ko-KR" sz="3400" dirty="0">
                    <a:latin typeface="Segoe UI Variable Small" pitchFamily="2" charset="0"/>
                  </a:rPr>
                  <a:t> University, </a:t>
                </a:r>
                <a:r>
                  <a:rPr lang="en-US" altLang="ko-KR" sz="3400" baseline="30000" dirty="0">
                    <a:latin typeface="Segoe UI Variable Small" pitchFamily="2" charset="0"/>
                  </a:rPr>
                  <a:t>2 </a:t>
                </a:r>
                <a:r>
                  <a:rPr lang="en-US" altLang="ko-KR" sz="3400" dirty="0">
                    <a:latin typeface="Segoe UI Variable Small" pitchFamily="2" charset="0"/>
                  </a:rPr>
                  <a:t>KISTI, </a:t>
                </a:r>
                <a:r>
                  <a:rPr lang="en-US" altLang="ko-KR" sz="3400" baseline="30000" dirty="0">
                    <a:latin typeface="Segoe UI Variable Small" pitchFamily="2" charset="0"/>
                  </a:rPr>
                  <a:t>3 </a:t>
                </a:r>
                <a:r>
                  <a:rPr lang="en-US" altLang="ko-KR" sz="3400" dirty="0">
                    <a:latin typeface="Segoe UI Variable Small" pitchFamily="2" charset="0"/>
                  </a:rPr>
                  <a:t>UST-KISTI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ko-KR" sz="3000" dirty="0">
                    <a:latin typeface="Segoe UI Variable Small" pitchFamily="2" charset="0"/>
                  </a:rPr>
                  <a:t>kseojin0205@sungkyul.ac.kr, sckim@kisti.re.kr</a:t>
                </a:r>
                <a:endParaRPr lang="ko-KR" altLang="en-US" sz="3000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29" name="제목 1">
                <a:extLst>
                  <a:ext uri="{FF2B5EF4-FFF2-40B4-BE49-F238E27FC236}">
                    <a16:creationId xmlns:a16="http://schemas.microsoft.com/office/drawing/2014/main" id="{F6161761-D79D-ABBF-BB31-FB92A83E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7" y="3008179"/>
                <a:ext cx="29360813" cy="1634753"/>
              </a:xfrm>
              <a:prstGeom prst="rect">
                <a:avLst/>
              </a:prstGeom>
              <a:blipFill>
                <a:blip r:embed="rId3"/>
                <a:stretch>
                  <a:fillRect t="-40892" b="-11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그림 46">
            <a:extLst>
              <a:ext uri="{FF2B5EF4-FFF2-40B4-BE49-F238E27FC236}">
                <a16:creationId xmlns:a16="http://schemas.microsoft.com/office/drawing/2014/main" id="{EB6262E0-32E4-E85C-3AFA-9344FC852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7" y="2414768"/>
            <a:ext cx="7396263" cy="16347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22B8C6-C822-89EE-3E25-78F1D0775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173" y="3362547"/>
            <a:ext cx="5619750" cy="12858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D12B9A3-5F85-15BA-9A84-896B5316E3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35" y="10858344"/>
            <a:ext cx="6992364" cy="428432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47CD65-A1BE-CD1E-4102-E3BEBC3C805D}"/>
              </a:ext>
            </a:extLst>
          </p:cNvPr>
          <p:cNvSpPr/>
          <p:nvPr/>
        </p:nvSpPr>
        <p:spPr>
          <a:xfrm>
            <a:off x="15484915" y="25497641"/>
            <a:ext cx="14234160" cy="7867137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76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Conclusion</a:t>
            </a:r>
          </a:p>
          <a:p>
            <a:pPr lvl="1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The Need for Disease-Specific Strategies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It has been confirmed that web search term composition strategies and lead times vary depending on the type of infectious disease.</a:t>
            </a:r>
          </a:p>
          <a:p>
            <a:pPr lvl="1">
              <a:lnSpc>
                <a:spcPct val="10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Proactive Decision Support via Early Warning Indicators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By overcoming the time-lag of WBE and clinical surveillance, validated web search combinations act as powerful early warning indicators. This approach is expected to serve as a crucial decision-support tool for the KDCA to optimize proactive responses and resource allocation.</a:t>
            </a: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10945D-050E-88B7-2D33-78854D998845}"/>
              </a:ext>
            </a:extLst>
          </p:cNvPr>
          <p:cNvSpPr/>
          <p:nvPr/>
        </p:nvSpPr>
        <p:spPr>
          <a:xfrm>
            <a:off x="15474502" y="33561040"/>
            <a:ext cx="14234160" cy="804373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24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Future Works</a:t>
            </a:r>
          </a:p>
          <a:p>
            <a:pPr lvl="1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Expanded Variables &amp; Scope Expansion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Enhancing the framework by incorporating diverse socio-environmental variables (e.g., meteorological data, population mobility) and expanding the scope to emerging infectious diseases with detailed city/provincial-level analyses.</a:t>
            </a:r>
            <a:br>
              <a:rPr lang="en-US" altLang="ko-KR" sz="4000" b="1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Predictive Model &amp; Early Warning System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Developing a real-time infectious disease monitoring Agentic</a:t>
            </a:r>
            <a:b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AI to support proactive decision-making by public health authorities.</a:t>
            </a:r>
          </a:p>
          <a:p>
            <a:pPr lvl="1">
              <a:lnSpc>
                <a:spcPct val="150000"/>
              </a:lnSpc>
            </a:pPr>
            <a:endParaRPr lang="en-US" altLang="ko-KR" sz="32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F71B57-F48A-2B57-F220-A2E5E74B9C96}"/>
              </a:ext>
            </a:extLst>
          </p:cNvPr>
          <p:cNvSpPr/>
          <p:nvPr/>
        </p:nvSpPr>
        <p:spPr>
          <a:xfrm>
            <a:off x="566539" y="32105104"/>
            <a:ext cx="14234160" cy="1028718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Data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Concentrations of Infectious Diseases in Sewage 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from Korea Disease Control and Prevention Agency (KDCA) Portal.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Search Volumes for Keyword by Infectious Diseases 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from NAVER Ads and NAVER </a:t>
            </a:r>
            <a:r>
              <a:rPr lang="en-US" altLang="ko-KR" sz="3400" dirty="0" err="1">
                <a:solidFill>
                  <a:schemeClr val="tx1"/>
                </a:solidFill>
                <a:latin typeface="Segoe UI Variable Small" pitchFamily="2" charset="0"/>
              </a:rPr>
              <a:t>Datalab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Min-max normalization from 0 to 100 is performed.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Period: SARS-CoV-2 (Jul. 2024 – Jun. 2026) |</a:t>
            </a:r>
            <a:b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Influenza &amp;Norovirus (Sep. 2024 – Jun 2026)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D9C002-DA22-C33E-A821-315BF3C5419D}"/>
              </a:ext>
            </a:extLst>
          </p:cNvPr>
          <p:cNvSpPr/>
          <p:nvPr/>
        </p:nvSpPr>
        <p:spPr>
          <a:xfrm>
            <a:off x="556139" y="15393348"/>
            <a:ext cx="14234160" cy="1644069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Internet Search Behavior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When people are exposed to an infectious disease, they tend</a:t>
            </a:r>
            <a:b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</a:b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to search for information about the disease and its symptoms.</a:t>
            </a:r>
          </a:p>
          <a:p>
            <a:pPr lvl="1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Keywords by Target Infectious Diseases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SARS-CoV-2: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코로나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기침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발열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호흡곤란</a:t>
            </a: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Influenza: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인플루엔자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독감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플루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고열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근육통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오한</a:t>
            </a: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Norovirus: </a:t>
            </a:r>
            <a:r>
              <a:rPr lang="ko-KR" altLang="en-US" sz="3400" dirty="0" err="1">
                <a:solidFill>
                  <a:schemeClr val="tx1"/>
                </a:solidFill>
                <a:latin typeface="Segoe UI Variable Small" pitchFamily="2" charset="0"/>
              </a:rPr>
              <a:t>노로바이러스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장염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식중독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구토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 err="1">
                <a:solidFill>
                  <a:schemeClr val="tx1"/>
                </a:solidFill>
                <a:latin typeface="Segoe UI Variable Small" pitchFamily="2" charset="0"/>
              </a:rPr>
              <a:t>물설사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</a:t>
            </a:r>
            <a:r>
              <a:rPr lang="ko-KR" altLang="en-US" sz="3400" dirty="0">
                <a:solidFill>
                  <a:schemeClr val="tx1"/>
                </a:solidFill>
                <a:latin typeface="Segoe UI Variable Small" pitchFamily="2" charset="0"/>
              </a:rPr>
              <a:t>복통</a:t>
            </a: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Search Term Combination Strategies</a:t>
            </a:r>
          </a:p>
          <a:p>
            <a:pPr marL="1200150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Single Keywords</a:t>
            </a:r>
          </a:p>
          <a:p>
            <a:pPr marL="1200150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Disease Name &amp; Symptom Keyword Group</a:t>
            </a:r>
          </a:p>
          <a:p>
            <a:pPr marL="1200150" lvl="1" indent="-7429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Keyword Combination</a:t>
            </a:r>
          </a:p>
          <a:p>
            <a:pPr lvl="1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Segoe UI Variable Small" pitchFamily="2" charset="0"/>
              </a:rPr>
              <a:t>Temporal Pearson Correlation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Temporal Correlation Analysis with WBE (Wastewater-Based Epidemiology) Pathogen Concentration Data.</a:t>
            </a: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4000" b="1" dirty="0">
                <a:solidFill>
                  <a:schemeClr val="tx1"/>
                </a:solidFill>
                <a:latin typeface="Segoe UI Variable Small" pitchFamily="2" charset="0"/>
              </a:rPr>
              <a:t>Time-Lag Analysis (Up to 3 Weeks)</a:t>
            </a:r>
          </a:p>
          <a:p>
            <a:pPr lvl="1">
              <a:lnSpc>
                <a:spcPct val="150000"/>
              </a:lnSpc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By shifting the web search data and wastewater concentration data, respectively, and applying a time-delay correlation analysis, we identify the causal relationship.</a:t>
            </a: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3A6353-9A18-AC8C-84EA-25C42216C59E}"/>
              </a:ext>
            </a:extLst>
          </p:cNvPr>
          <p:cNvSpPr txBox="1"/>
          <p:nvPr/>
        </p:nvSpPr>
        <p:spPr>
          <a:xfrm>
            <a:off x="8995902" y="12496321"/>
            <a:ext cx="28435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  <a:latin typeface="Segoe UI Variable Small" pitchFamily="2" charset="0"/>
              </a:rPr>
              <a:t>High Cost 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63A3BB5-9DE8-118A-AD2C-916F41515C91}"/>
              </a:ext>
            </a:extLst>
          </p:cNvPr>
          <p:cNvSpPr/>
          <p:nvPr/>
        </p:nvSpPr>
        <p:spPr>
          <a:xfrm>
            <a:off x="15474502" y="9288145"/>
            <a:ext cx="14234160" cy="15954837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76000" bIns="54000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0" b="1" dirty="0">
                <a:solidFill>
                  <a:schemeClr val="tx1"/>
                </a:solidFill>
                <a:latin typeface="Segoe UI Variable Small" pitchFamily="2" charset="0"/>
              </a:rPr>
              <a:t>Results</a:t>
            </a: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SARS-CoV-2 (r=0.9) and Influenza (r=0.89) 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serve as leading indicators for </a:t>
            </a: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one week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, while </a:t>
            </a: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Norovirus (r=0.65)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 serves as leading indicators for </a:t>
            </a:r>
            <a:r>
              <a:rPr lang="en-US" altLang="ko-KR" sz="3400" b="1" dirty="0">
                <a:solidFill>
                  <a:schemeClr val="tx1"/>
                </a:solidFill>
                <a:latin typeface="Segoe UI Variable Small" pitchFamily="2" charset="0"/>
              </a:rPr>
              <a:t>two weeks</a:t>
            </a: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Statistically significant correlations were confirmed for all of them.</a:t>
            </a: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400" dirty="0">
                <a:solidFill>
                  <a:schemeClr val="tx1"/>
                </a:solidFill>
                <a:latin typeface="Segoe UI Variable Small" pitchFamily="2" charset="0"/>
              </a:rPr>
              <a:t>Identified the optimal keywords with the highest correlation coefficients through heatmap analysis.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3400" dirty="0">
              <a:solidFill>
                <a:schemeClr val="tx1"/>
              </a:solidFill>
              <a:latin typeface="Segoe UI Variable Small" pitchFamily="2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70B35CDC-AF64-F7CB-5E28-F9A265CBE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" t="3090" b="2866"/>
          <a:stretch>
            <a:fillRect/>
          </a:stretch>
        </p:blipFill>
        <p:spPr>
          <a:xfrm>
            <a:off x="15739155" y="10453674"/>
            <a:ext cx="4637457" cy="354817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B70051-F029-B519-2256-284595FCBE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" t="3090" b="2866"/>
          <a:stretch>
            <a:fillRect/>
          </a:stretch>
        </p:blipFill>
        <p:spPr>
          <a:xfrm>
            <a:off x="20333319" y="10453674"/>
            <a:ext cx="4682618" cy="3579012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2256C3C-23B8-F4E3-0C99-7A7C61B7C0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" t="3262"/>
          <a:stretch>
            <a:fillRect/>
          </a:stretch>
        </p:blipFill>
        <p:spPr>
          <a:xfrm>
            <a:off x="25015937" y="10453674"/>
            <a:ext cx="4547540" cy="357901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B6B4552B-19A2-F4CB-9953-34793F6D38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936" y="1366944"/>
            <a:ext cx="4507726" cy="1406774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8A6AC437-5B9F-1B73-5180-36F402AC48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173" y="2497617"/>
            <a:ext cx="5173503" cy="979487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76CD7C50-CE13-B72A-10AB-2B8EFA28EE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9" t="9392"/>
          <a:stretch>
            <a:fillRect/>
          </a:stretch>
        </p:blipFill>
        <p:spPr>
          <a:xfrm>
            <a:off x="12467180" y="33803492"/>
            <a:ext cx="2323119" cy="736623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A7173AAF-EB7B-6B2F-D440-9089DB34C3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629" y="35566021"/>
            <a:ext cx="1766507" cy="33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2" name="표 91">
                <a:extLst>
                  <a:ext uri="{FF2B5EF4-FFF2-40B4-BE49-F238E27FC236}">
                    <a16:creationId xmlns:a16="http://schemas.microsoft.com/office/drawing/2014/main" id="{EE693790-FCB3-737D-A0B3-6838A05F25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0751609"/>
                  </p:ext>
                </p:extLst>
              </p:nvPr>
            </p:nvGraphicFramePr>
            <p:xfrm>
              <a:off x="556138" y="26748434"/>
              <a:ext cx="14234161" cy="1866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7609">
                      <a:extLst>
                        <a:ext uri="{9D8B030D-6E8A-4147-A177-3AD203B41FA5}">
                          <a16:colId xmlns:a16="http://schemas.microsoft.com/office/drawing/2014/main" val="1194444782"/>
                        </a:ext>
                      </a:extLst>
                    </a:gridCol>
                    <a:gridCol w="10394954">
                      <a:extLst>
                        <a:ext uri="{9D8B030D-6E8A-4147-A177-3AD203B41FA5}">
                          <a16:colId xmlns:a16="http://schemas.microsoft.com/office/drawing/2014/main" val="1529062532"/>
                        </a:ext>
                      </a:extLst>
                    </a:gridCol>
                    <a:gridCol w="2861598">
                      <a:extLst>
                        <a:ext uri="{9D8B030D-6E8A-4147-A177-3AD203B41FA5}">
                          <a16:colId xmlns:a16="http://schemas.microsoft.com/office/drawing/2014/main" val="15972613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340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3027487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3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3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3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  <m:r>
                                  <a:rPr lang="en-US" altLang="ko-KR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3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altLang="ko-KR" sz="3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1"/>
                                          </m:rPr>
                                          <a:rPr lang="en-US" altLang="ko-KR" sz="3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)(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  <m:r>
                                          <a:rPr lang="en-US" altLang="ko-KR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ko-KR" altLang="en-US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1"/>
                                              </m:r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3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3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𝑋</m:t>
                                                    </m:r>
                                                  </m:e>
                                                </m:acc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nary>
                                      </m:e>
                                    </m:rad>
                                    <m:rad>
                                      <m:radPr>
                                        <m:degHide m:val="on"/>
                                        <m:ctrlPr>
                                          <a:rPr lang="ko-KR" altLang="en-US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ctrl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1"/>
                                              </m:rPr>
                                              <a:rPr lang="en-US" altLang="ko-KR" sz="3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3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3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(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altLang="ko-KR" sz="34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</m:acc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3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nary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ko-KR" altLang="en-US" sz="3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 latinLnBrk="1"/>
                          <a:endParaRPr lang="ko-KR" altLang="en-US" sz="3400" dirty="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3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3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(1)</a:t>
                          </a:r>
                          <a:endParaRPr lang="ko-KR" altLang="en-US" sz="3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4891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2" name="표 91">
                <a:extLst>
                  <a:ext uri="{FF2B5EF4-FFF2-40B4-BE49-F238E27FC236}">
                    <a16:creationId xmlns:a16="http://schemas.microsoft.com/office/drawing/2014/main" id="{EE693790-FCB3-737D-A0B3-6838A05F25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0751609"/>
                  </p:ext>
                </p:extLst>
              </p:nvPr>
            </p:nvGraphicFramePr>
            <p:xfrm>
              <a:off x="556138" y="26748434"/>
              <a:ext cx="14234161" cy="1866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7609">
                      <a:extLst>
                        <a:ext uri="{9D8B030D-6E8A-4147-A177-3AD203B41FA5}">
                          <a16:colId xmlns:a16="http://schemas.microsoft.com/office/drawing/2014/main" val="1194444782"/>
                        </a:ext>
                      </a:extLst>
                    </a:gridCol>
                    <a:gridCol w="10394954">
                      <a:extLst>
                        <a:ext uri="{9D8B030D-6E8A-4147-A177-3AD203B41FA5}">
                          <a16:colId xmlns:a16="http://schemas.microsoft.com/office/drawing/2014/main" val="1529062532"/>
                        </a:ext>
                      </a:extLst>
                    </a:gridCol>
                    <a:gridCol w="2861598">
                      <a:extLst>
                        <a:ext uri="{9D8B030D-6E8A-4147-A177-3AD203B41FA5}">
                          <a16:colId xmlns:a16="http://schemas.microsoft.com/office/drawing/2014/main" val="1597261358"/>
                        </a:ext>
                      </a:extLst>
                    </a:gridCol>
                  </a:tblGrid>
                  <a:tr h="186607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3400"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9379" r="-27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3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 latinLnBrk="1"/>
                          <a:r>
                            <a:rPr lang="en-US" altLang="ko-KR" sz="3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(1)</a:t>
                          </a:r>
                          <a:endParaRPr lang="ko-KR" altLang="en-US" sz="3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948917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FEDD1FD-E3FD-2603-1A39-EA2263374B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88" y="17959513"/>
            <a:ext cx="6715397" cy="5102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32376DF-F7B9-309D-0856-63F2E42554A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592" y="17944176"/>
            <a:ext cx="6715397" cy="511800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9155213-D8AD-0701-8F12-CFDB6E8809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52" y="38605136"/>
            <a:ext cx="6282351" cy="356771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46A7223-42B3-FAD0-C0E6-530E965C1B2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306" y="38603638"/>
            <a:ext cx="6284989" cy="356921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E6FF5C-B3FB-AA09-9FDD-CF2AFCB055E8}"/>
              </a:ext>
            </a:extLst>
          </p:cNvPr>
          <p:cNvSpPr/>
          <p:nvPr/>
        </p:nvSpPr>
        <p:spPr>
          <a:xfrm>
            <a:off x="15484915" y="4798412"/>
            <a:ext cx="14234160" cy="428432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" numCol="2" rtlCol="0" anchor="ctr"/>
          <a:lstStyle/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3600" dirty="0">
              <a:solidFill>
                <a:schemeClr val="tx1"/>
              </a:solidFill>
              <a:latin typeface="Segoe UI Variable Small" pitchFamily="2" charset="0"/>
            </a:endParaRPr>
          </a:p>
          <a:p>
            <a:pPr marL="1028700" lvl="1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sz="3600" dirty="0">
                <a:solidFill>
                  <a:schemeClr val="tx1"/>
                </a:solidFill>
                <a:latin typeface="Segoe UI Variable Small" pitchFamily="2" charset="0"/>
              </a:rPr>
              <a:t>Visualized the temporal trends of wastewater pathogen concentrations and keyword search volumes using graphs.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DB7386C-1B0B-83A1-CDC2-EDD8B2D86D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3588" y="5153494"/>
            <a:ext cx="6284989" cy="3569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5F952-00D5-A9AB-0958-7016F5D94D91}"/>
              </a:ext>
            </a:extLst>
          </p:cNvPr>
          <p:cNvSpPr txBox="1"/>
          <p:nvPr/>
        </p:nvSpPr>
        <p:spPr>
          <a:xfrm>
            <a:off x="15484915" y="41745953"/>
            <a:ext cx="14333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함초롬바탕" panose="02030604000101010101" pitchFamily="18" charset="-127"/>
                <a:cs typeface="굴림" panose="020B0600000101010101" pitchFamily="50" charset="-127"/>
              </a:rPr>
              <a:t>Acknowledgment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함초롬바탕" panose="02030604000101010101" pitchFamily="18" charset="-127"/>
                <a:cs typeface="굴림" panose="020B0600000101010101" pitchFamily="50" charset="-127"/>
              </a:rPr>
              <a:t>s This research was supported by the Korea Institute of Science and Technology Information (KISTI) [Project No. K26L8M2C1, Development of AI-based Early Warning System for Infectious Disease Using Wastewater].</a:t>
            </a:r>
            <a:endParaRPr lang="ko-KR" altLang="ko-KR" sz="3200" dirty="0">
              <a:effectLst/>
              <a:latin typeface="굴림" panose="020B0600000101010101" pitchFamily="50" charset="-127"/>
              <a:ea typeface="굴림" panose="020B0600000101010101" pitchFamily="50" charset="-127"/>
              <a:cs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7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1882</TotalTime>
  <Words>552</Words>
  <Application>Microsoft Office PowerPoint</Application>
  <PresentationFormat>사용자 지정</PresentationFormat>
  <Paragraphs>71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굴림</vt:lpstr>
      <vt:lpstr>Arial</vt:lpstr>
      <vt:lpstr>Calibri</vt:lpstr>
      <vt:lpstr>Calibri Light</vt:lpstr>
      <vt:lpstr>Cambria Math</vt:lpstr>
      <vt:lpstr>Segoe UI Variable Small</vt:lpstr>
      <vt:lpstr>Office 테마</vt:lpstr>
      <vt:lpstr>EpiSearch: Identifying Disease-Specific Leading Search Indicators Using Wastewater Surveillance Data in Korea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Seongchan Kim</cp:lastModifiedBy>
  <cp:revision>22</cp:revision>
  <dcterms:created xsi:type="dcterms:W3CDTF">2026-09-04T02:50:48Z</dcterms:created>
  <dcterms:modified xsi:type="dcterms:W3CDTF">2026-09-07T07:58:56Z</dcterms:modified>
</cp:coreProperties>
</file>