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316" r:id="rId4"/>
    <p:sldId id="319" r:id="rId5"/>
    <p:sldId id="318" r:id="rId6"/>
    <p:sldId id="317" r:id="rId7"/>
    <p:sldId id="320" r:id="rId8"/>
    <p:sldId id="321" r:id="rId9"/>
    <p:sldId id="322" r:id="rId10"/>
    <p:sldId id="293" r:id="rId11"/>
    <p:sldId id="324" r:id="rId12"/>
    <p:sldId id="327" r:id="rId13"/>
    <p:sldId id="325" r:id="rId14"/>
    <p:sldId id="326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6" r:id="rId23"/>
    <p:sldId id="337" r:id="rId24"/>
    <p:sldId id="335" r:id="rId25"/>
    <p:sldId id="338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FEF97-EB89-4CE2-9A05-DD7C42310DD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1087-5ADD-45FD-A1BF-AD9178EAE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09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71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3098-051C-DDAB-3231-C4728E9D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913793-E84A-1744-E0E5-AF68D4739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401E26-16A3-0D06-4154-794DC7213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867B30-18F8-CE8E-D040-9D39CEACD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19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4407-8346-1391-DC34-4962F30E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6C49AD-78CD-41D1-5EBD-7DF4AD9FE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EFC03-C5EF-13AE-EE5B-88AE3747F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597DD-7378-6D9A-ABE2-AA23BDE1F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743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697-D461-D7A1-08E5-71300721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7C5292-1E38-0DC1-7F94-A4612A7BC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AFF2F3-51AD-F337-82CD-225A4D893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637729-5464-F5FE-51D2-4AE1BCAB0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308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879E-246F-8922-D0C4-5FE2763F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0B4413-6C00-D7C4-4D61-DE0D27AA0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95347-6FD9-1D6C-7ABD-04A68FE45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194E3E-19F9-EEE2-DACF-137D7744C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07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A5A3-C7D3-D782-2428-DF7B6D550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D8858-C043-81E4-819E-582647179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6E4308-30D4-CB0F-F610-F106C30C3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10B38-F5FD-89A2-F550-E6A24705A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21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572AB-7A79-BFBF-FAEA-5A040AAA0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CF2170-EE53-A493-2FB0-0CA5F5763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F7E08-0E42-5AFC-7BFA-F8797123D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18BD4-3342-8376-1BEC-42CD62E33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557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CC68-15F5-6940-1E67-ED59840A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3E554E-EE2D-A753-E402-D5338B2E4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D4FCC6-D577-1C88-804C-9C49C3650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8B314A-79E7-5E4F-5FD8-57B7B76A8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874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6AA8-78DE-1783-78BB-C71DE14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7DCC29-BBDB-2DEB-84FF-DC2D1E745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DC0A82-C3C7-5B4B-874F-BB6AC2470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91FDD2-99FB-7A11-7FCB-304E88FC9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441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BC46C-A8C3-10DF-A612-E8496A85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9C05DF-C36F-87E1-F7B4-54FAEDDCD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B5E886-698E-3C1A-3508-976957C44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2DB27-B863-632A-BEB7-3898E3D8E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11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726E-493F-90BB-4638-2E9BCFB3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B86219-2B4F-2AAB-7813-B3FABD88E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5E2EAC-C4B9-72C5-1F05-A02881027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AA99F-1E37-BAC7-93FC-AD4751636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842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A76B-EE80-810C-90E7-640EEC34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D62FB-C925-EAD7-68DB-D646ABC5A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3D92A-E84A-7767-96A8-662ECF1B3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0EF7A-EFB0-69B5-60B2-38C7F7A72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32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223A-5AF5-DAA9-BC01-C98FB7F0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23B68D-983E-393E-09D0-62724CC4C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242CFA-F29A-E152-1DE4-EFD11E76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6FE720-04B8-E13C-5440-FFEB3AAFC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714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3FB30-E0D3-8014-38AA-C6D3325B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6C2125-C1A1-2909-F6B2-8D3167E90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812CEA-3767-6334-B262-66D8A7878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86E71-3CDE-6BF0-AF60-916E6BF72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61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2ABD-64DA-F3BA-8DA2-B6B8509F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0E683D-EBB4-E529-A9DD-7E7B6D6B5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E9281E-A3BE-6899-9A6B-60365B793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56D9F9-4084-F1A1-58C4-5A847282E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4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4A31-E0C1-A392-9400-CBF40792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FEC08B-FEC4-8D7F-4921-3D547C2F5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0F7E3-F2F7-16EB-F847-BC8B8A348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E4CA7-2DF7-F596-841C-F1C0F243A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457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F422-702F-35D8-9679-2B83C809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FA27CB-2920-D037-1B66-7209D446B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1375BD-4127-6121-5056-0F249C2DD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E4151-15B7-ADDD-FC18-813A15796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623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9E06-F4F5-2BC8-ED1F-22F36202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19C00-6E8E-64B1-CB2D-03B8F6EB2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DE5B54-CA95-0A3D-2537-85E3C6B93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F0795-9BD8-93C4-5FF7-51CE7309E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242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67245-5B53-B8D9-5ED5-0D7177A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A63A42-9BAE-F26E-FCEC-DEBF7D5BB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DD8CF5-4F43-3904-D92D-C55989CA1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82586D-93B0-6A42-628F-AB7DB3A41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974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62F1-54E1-4712-D814-E3AAD5318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0BA0AD-642D-1929-2CE2-37E69C84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9ABF4F-D2BC-B8A8-5F61-660D8BB23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34A875-582E-7CF0-7B45-E9A4953B6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0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C7983-6441-6F98-F269-EA97BAE24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4A6457-F6A2-CB52-60C5-23010AA08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485AE-BCCB-AC24-CDA0-5043CA9F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5588EA-A5AB-B4FB-BFBF-D882BC0E5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941A6A-FE89-5056-42D0-04198F68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6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1520A-42E7-914D-3800-357AF9BF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BC3B9D-78C0-D1CB-8837-48304B53F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29C055-DF7C-B876-C739-2659F0B7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5519A-A24F-37AF-EE94-C6D43EE56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5D9FBE-0661-D483-ADE1-721671CB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16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31902-73AB-A25A-8C39-9FDFB451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D25EDE-7239-B499-9344-EA9BC8CA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0B9B5-05D9-5DFE-D74E-CBD7DC99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1B2F6-687D-81CE-65C6-E4155ADF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E13D8-E993-0639-ED26-B461901E5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24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AC765-DE87-C7F6-36E7-33559CC3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A8728F-C192-44B0-3C48-A4B0CDD21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B6CB47-B47C-50FD-93B4-1FD43380F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9F00D5-AEC2-267B-D374-25500373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AC0716-78F5-0387-342D-E165A078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0583A1-1AA9-8041-47D9-00CC1F50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C3AE-4FC4-1F97-65DB-9C65D13B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DA4D25-9B40-4E0B-2BAF-57C3D2D0B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39FCE9-C7AE-82AE-3999-917174AD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25DB0F-8B09-9698-3F27-DF0C9612A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E7441D-0C41-5E2F-D72A-FA81B3712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F522B5-E943-8D6A-AAB9-ED268BDE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7CAD2D-7FB2-3B44-D8C3-8DBA8C6D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84C66D-A96C-3FC6-9660-44DC53B5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1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77AA9-6885-9D58-4E98-693225D3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861C31-2351-658D-672B-5708C4B8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B6850C-B5FA-CDD9-CE4D-6C3866D4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448120-998D-729C-8FF1-CB5BBB17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90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B51A65-CD6B-E281-CA04-5E032B46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0EBF4C-722D-DFE1-0EBA-263FF0DC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0D95B-6A09-7153-CC9D-335C4BCC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09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3E981-9C3F-4B40-3303-47272B77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4E913-9B8A-D90B-05D7-98BF5ACB6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46D3C3-4FE3-4E17-D2EA-E78211316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052DB8-D779-20B0-814A-D165995D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67C23C-351E-5692-E531-671B687F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AFEBB-545C-2FC0-3B2D-ED35D27A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2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C9450-9001-EA3D-2D69-D6AFC21A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C8BEC0-5964-8F62-755E-772640BF8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28DCF9-4F40-2B40-18DA-B7AFE3EA7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32926D-DBC4-1446-4E63-7318B5BF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D2A59D-46C1-351F-6708-541824EC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33A910-7073-628E-1F31-244039B7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7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403AF-D25A-D512-EF43-1B4A059E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BED862-4CEB-2436-5461-994F266D1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F7EE4-C9AF-8A6E-4A1C-32DA9A4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4D12C-E110-BC10-13FF-EE8B3349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1C0AEC-7D9F-71C9-3DBC-E749CEEA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03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374735-F466-ECA8-B88D-CC8788D8A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3C5776-4CE5-E10F-CE0D-DF58A1C08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2E530A-2FF9-5498-2E86-D9EF5923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4698A-C6CE-DC85-D32A-495D96FC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2965C3-9C8C-C185-1AB8-A1983E10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41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2B6C1F-1182-620D-E938-C2FD7DF1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DF4042-0A32-347D-8743-0E12A0D4B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CD457-2F55-DE52-3BAF-2167E69CB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F4138-8CC2-4387-B0C3-3A049B08B0F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5C1411-9BDE-B74A-F807-FFB27B2C8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57C26-5EFC-0AFD-5A53-7538574E0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9A27A-97CC-41CD-98A8-B509504B1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86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283" y="1427034"/>
            <a:ext cx="11104076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5400" b="1" dirty="0">
                <a:latin typeface="Segoe UI Variable Small" pitchFamily="2" charset="0"/>
                <a:cs typeface="Times New Roman" panose="02020603050405020304" pitchFamily="18" charset="0"/>
              </a:rPr>
              <a:t>EpiSearch</a:t>
            </a:r>
            <a:endParaRPr lang="ko-KR" altLang="en-US" sz="5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>
            <a:cxnSpLocks/>
          </p:cNvCxnSpPr>
          <p:nvPr/>
        </p:nvCxnSpPr>
        <p:spPr>
          <a:xfrm>
            <a:off x="772646" y="3667180"/>
            <a:ext cx="10586653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89" y="375062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Segoe UI Variable Small" pitchFamily="2" charset="0"/>
                <a:cs typeface="Times New Roman" panose="02020603050405020304" pitchFamily="18" charset="0"/>
              </a:rPr>
              <a:t>2026. 9. .</a:t>
            </a:r>
            <a:endParaRPr lang="ko-KR" altLang="en-US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772646" y="3667180"/>
            <a:ext cx="4203655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Seo-Jin Kang, </a:t>
            </a: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Seongchan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Kim*</a:t>
            </a:r>
            <a:endParaRPr lang="ko-KR" altLang="en-US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95" y="323004"/>
            <a:ext cx="2878648" cy="5450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38D40CF-B43B-84FE-AD30-2DC25A85F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279" y="419670"/>
            <a:ext cx="1746370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Outline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Results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Predictive</a:t>
            </a: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654CC-C117-4AAE-168D-B82BE6B5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35C62-E568-CFA2-E77A-CE1E43A2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3D0CE0-FDE7-B072-63CA-CCF0B19D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83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90297-010A-F986-B035-7185EA98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DAFE2-1F26-C4E8-5596-B17EFCAC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31727-917D-F0CB-479F-E5D98AA7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4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042E0B2-50D2-4721-46DE-C30EF107A157}"/>
              </a:ext>
            </a:extLst>
          </p:cNvPr>
          <p:cNvSpPr txBox="1">
            <a:spLocks/>
          </p:cNvSpPr>
          <p:nvPr/>
        </p:nvSpPr>
        <p:spPr>
          <a:xfrm>
            <a:off x="740336" y="1085849"/>
            <a:ext cx="10613463" cy="5635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altLang="ko-KR" sz="2000" b="1" dirty="0">
                <a:latin typeface="Segoe UI Variable Small" pitchFamily="2" charset="0"/>
              </a:rPr>
              <a:t>Wastewater Data by Target Infectious Disease</a:t>
            </a:r>
          </a:p>
          <a:p>
            <a:r>
              <a:rPr lang="en-US" altLang="ko-KR" sz="1800" b="1" dirty="0">
                <a:latin typeface="Segoe UI Variable Small" pitchFamily="2" charset="0"/>
              </a:rPr>
              <a:t>SARS-CoV-2 </a:t>
            </a:r>
            <a:r>
              <a:rPr lang="en-US" altLang="ko-KR" sz="1400" b="1" dirty="0">
                <a:latin typeface="Segoe UI Variable Small" pitchFamily="2" charset="0"/>
              </a:rPr>
              <a:t>(2024-07-02~2026-08-24)</a:t>
            </a:r>
          </a:p>
          <a:p>
            <a:r>
              <a:rPr lang="en-US" altLang="ko-KR" sz="1800" b="1" dirty="0">
                <a:latin typeface="Segoe UI Variable Small" pitchFamily="2" charset="0"/>
              </a:rPr>
              <a:t>Influenza </a:t>
            </a:r>
            <a:r>
              <a:rPr lang="en-US" altLang="ko-KR" sz="1400" b="1" dirty="0">
                <a:latin typeface="Segoe UI Variable Small" pitchFamily="2" charset="0"/>
              </a:rPr>
              <a:t>(2024-09-02~2026-08-24)</a:t>
            </a:r>
          </a:p>
          <a:p>
            <a:r>
              <a:rPr lang="en-US" altLang="ko-KR" sz="1800" b="1" dirty="0">
                <a:latin typeface="Segoe UI Variable Small" pitchFamily="2" charset="0"/>
              </a:rPr>
              <a:t>Norovirus </a:t>
            </a:r>
            <a:r>
              <a:rPr lang="en-US" altLang="ko-KR" sz="1400" b="1" dirty="0">
                <a:latin typeface="Segoe UI Variable Small" pitchFamily="2" charset="0"/>
              </a:rPr>
              <a:t>(2024-09-02~2026-08-24)</a:t>
            </a:r>
          </a:p>
          <a:p>
            <a:pPr lvl="1"/>
            <a:endParaRPr lang="en-US" altLang="ko-KR" sz="1800" b="1" dirty="0">
              <a:latin typeface="Segoe UI Variable Small" pitchFamily="2" charset="0"/>
            </a:endParaRPr>
          </a:p>
          <a:p>
            <a:pPr marL="0" indent="0">
              <a:buNone/>
            </a:pPr>
            <a:r>
              <a:rPr lang="en-US" altLang="ko-KR" sz="2000" b="1" dirty="0">
                <a:latin typeface="Segoe UI Variable Small" pitchFamily="2" charset="0"/>
              </a:rPr>
              <a:t>Search Volume </a:t>
            </a:r>
            <a:r>
              <a:rPr lang="en-US" altLang="ko-KR" sz="1400" b="1" dirty="0">
                <a:latin typeface="Segoe UI Variable Small" pitchFamily="2" charset="0"/>
              </a:rPr>
              <a:t>(</a:t>
            </a:r>
            <a:r>
              <a:rPr lang="ko-KR" altLang="en-US" sz="1400" b="1" dirty="0">
                <a:latin typeface="Segoe UI Variable Small" pitchFamily="2" charset="0"/>
              </a:rPr>
              <a:t>기간 동일</a:t>
            </a:r>
            <a:r>
              <a:rPr lang="en-US" altLang="ko-KR" sz="1400" b="1" dirty="0">
                <a:latin typeface="Segoe UI Variable Small" pitchFamily="2" charset="0"/>
              </a:rPr>
              <a:t>)</a:t>
            </a:r>
          </a:p>
          <a:p>
            <a:r>
              <a:rPr lang="en-US" altLang="ko-KR" sz="1800" b="1" dirty="0">
                <a:latin typeface="Segoe UI Variable Small" pitchFamily="2" charset="0"/>
              </a:rPr>
              <a:t>Related Keywords by Infectious Disease (Wikipedia, KDCA</a:t>
            </a:r>
            <a:r>
              <a:rPr lang="ko-KR" altLang="en-US" sz="1800" b="1" dirty="0">
                <a:latin typeface="Segoe UI Variable Small" pitchFamily="2" charset="0"/>
              </a:rPr>
              <a:t>의 감염병정보</a:t>
            </a:r>
            <a:r>
              <a:rPr lang="en-US" altLang="ko-KR" sz="1800" b="1" dirty="0">
                <a:latin typeface="Segoe UI Variable Small" pitchFamily="2" charset="0"/>
              </a:rPr>
              <a:t>)</a:t>
            </a:r>
          </a:p>
          <a:p>
            <a:r>
              <a:rPr lang="en-US" altLang="ko-KR" sz="1800" b="1" dirty="0">
                <a:latin typeface="Segoe UI Variable Small" pitchFamily="2" charset="0"/>
              </a:rPr>
              <a:t>SARS-CoV-2: </a:t>
            </a:r>
            <a:r>
              <a:rPr lang="en-US" altLang="ko-KR" sz="1400" b="1" dirty="0">
                <a:latin typeface="Segoe UI Variable Small" pitchFamily="2" charset="0"/>
              </a:rPr>
              <a:t>COVID-19, SARS-CoV-2, </a:t>
            </a:r>
            <a:r>
              <a:rPr lang="ko-KR" altLang="en-US" sz="1400" b="1" dirty="0">
                <a:latin typeface="Segoe UI Variable Small" pitchFamily="2" charset="0"/>
              </a:rPr>
              <a:t>근육통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기침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두통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마른기침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발열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숨가쁨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열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오한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인후통</a:t>
            </a:r>
            <a:r>
              <a:rPr lang="en-US" altLang="ko-KR" sz="1400" b="1" dirty="0">
                <a:latin typeface="Segoe UI Variable Small" pitchFamily="2" charset="0"/>
              </a:rPr>
              <a:t>,</a:t>
            </a:r>
            <a:br>
              <a:rPr lang="en-US" altLang="ko-KR" sz="1400" b="1" dirty="0">
                <a:latin typeface="Segoe UI Variable Small" pitchFamily="2" charset="0"/>
              </a:rPr>
            </a:br>
            <a:r>
              <a:rPr lang="ko-KR" altLang="en-US" sz="1400" b="1" dirty="0">
                <a:latin typeface="Segoe UI Variable Small" pitchFamily="2" charset="0"/>
              </a:rPr>
              <a:t>코로나</a:t>
            </a:r>
            <a:r>
              <a:rPr lang="en-US" altLang="ko-KR" sz="1400" b="1" dirty="0">
                <a:latin typeface="Segoe UI Variable Small" pitchFamily="2" charset="0"/>
              </a:rPr>
              <a:t>19, </a:t>
            </a:r>
            <a:r>
              <a:rPr lang="ko-KR" altLang="en-US" sz="1400" b="1" dirty="0">
                <a:latin typeface="Segoe UI Variable Small" pitchFamily="2" charset="0"/>
              </a:rPr>
              <a:t>코로나바이러스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호흡곤란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후각</a:t>
            </a:r>
            <a:endParaRPr lang="en-US" altLang="ko-KR" sz="1400" b="1" dirty="0">
              <a:latin typeface="Segoe UI Variable Small" pitchFamily="2" charset="0"/>
            </a:endParaRPr>
          </a:p>
          <a:p>
            <a:r>
              <a:rPr lang="en-US" altLang="ko-KR" sz="1800" b="1" dirty="0">
                <a:latin typeface="Segoe UI Variable Small" pitchFamily="2" charset="0"/>
              </a:rPr>
              <a:t>Influenza: </a:t>
            </a:r>
            <a:r>
              <a:rPr lang="ko-KR" altLang="en-US" sz="1400" b="1" dirty="0">
                <a:latin typeface="Segoe UI Variable Small" pitchFamily="2" charset="0"/>
              </a:rPr>
              <a:t>고열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구토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근육통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기침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독감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두통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마른기침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무력감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발열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복통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불쾌감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식욕부진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 err="1">
                <a:latin typeface="Segoe UI Variable Small" pitchFamily="2" charset="0"/>
              </a:rPr>
              <a:t>안구통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오한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유행성감기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인플루엔자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인후염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인후통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 err="1">
                <a:latin typeface="Segoe UI Variable Small" pitchFamily="2" charset="0"/>
              </a:rPr>
              <a:t>코막힘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콧물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피로감</a:t>
            </a:r>
            <a:endParaRPr lang="en-US" altLang="ko-KR" sz="1400" b="1" dirty="0">
              <a:latin typeface="Segoe UI Variable Small" pitchFamily="2" charset="0"/>
            </a:endParaRPr>
          </a:p>
          <a:p>
            <a:r>
              <a:rPr lang="en-US" altLang="ko-KR" sz="1800" b="1" dirty="0">
                <a:latin typeface="Segoe UI Variable Small" pitchFamily="2" charset="0"/>
              </a:rPr>
              <a:t>Norovirus: </a:t>
            </a:r>
            <a:r>
              <a:rPr lang="ko-KR" altLang="en-US" sz="1400" b="1" dirty="0">
                <a:latin typeface="Segoe UI Variable Small" pitchFamily="2" charset="0"/>
              </a:rPr>
              <a:t>구역질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구토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 err="1">
                <a:latin typeface="Segoe UI Variable Small" pitchFamily="2" charset="0"/>
              </a:rPr>
              <a:t>노로바이러스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발열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복통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설사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오한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탈수</a:t>
            </a:r>
            <a:r>
              <a:rPr lang="en-US" altLang="ko-KR" sz="1400" b="1" dirty="0">
                <a:latin typeface="Segoe UI Variable Small" pitchFamily="2" charset="0"/>
              </a:rPr>
              <a:t>, </a:t>
            </a:r>
            <a:r>
              <a:rPr lang="ko-KR" altLang="en-US" sz="1400" b="1" dirty="0">
                <a:latin typeface="Segoe UI Variable Small" pitchFamily="2" charset="0"/>
              </a:rPr>
              <a:t>팽만감</a:t>
            </a:r>
            <a:endParaRPr lang="en-US" altLang="ko-KR" sz="1400" b="1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93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2571-581B-9F20-3E7D-B3A4A20F5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6AE1E-6D2D-9CF8-DD6B-40BCAEE9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 Source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4DB46-AB82-CD18-1BD8-AEFBC24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5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870BB81-294B-83C5-D3C1-86C0BAC23A17}"/>
              </a:ext>
            </a:extLst>
          </p:cNvPr>
          <p:cNvSpPr txBox="1">
            <a:spLocks/>
          </p:cNvSpPr>
          <p:nvPr/>
        </p:nvSpPr>
        <p:spPr>
          <a:xfrm>
            <a:off x="740336" y="1085850"/>
            <a:ext cx="10613463" cy="455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altLang="ko-KR" sz="2000" b="1" dirty="0">
                <a:latin typeface="Segoe UI Variable Small" pitchFamily="2" charset="0"/>
              </a:rPr>
              <a:t>Naver </a:t>
            </a:r>
            <a:r>
              <a:rPr lang="en-US" altLang="ko-KR" sz="2000" b="1" dirty="0" err="1">
                <a:latin typeface="Segoe UI Variable Small" pitchFamily="2" charset="0"/>
              </a:rPr>
              <a:t>Datalab</a:t>
            </a:r>
            <a:endParaRPr lang="en-US" altLang="ko-KR" sz="2000" b="1" dirty="0">
              <a:latin typeface="Segoe UI Variable Small" pitchFamily="2" charset="0"/>
            </a:endParaRPr>
          </a:p>
          <a:p>
            <a:r>
              <a:rPr lang="en-US" altLang="ko-KR" sz="1800" b="1" dirty="0">
                <a:latin typeface="Segoe UI Variable Small" pitchFamily="2" charset="0"/>
              </a:rPr>
              <a:t>Search Volume</a:t>
            </a:r>
          </a:p>
          <a:p>
            <a:pPr lvl="1"/>
            <a:endParaRPr lang="en-US" altLang="ko-KR" sz="2000" b="1" dirty="0">
              <a:latin typeface="Segoe UI Variable Small" pitchFamily="2" charset="0"/>
            </a:endParaRPr>
          </a:p>
          <a:p>
            <a:pPr marL="0" lvl="0" indent="0">
              <a:buNone/>
            </a:pPr>
            <a:r>
              <a:rPr lang="en-US" altLang="ko-KR" sz="2000" b="1" dirty="0">
                <a:latin typeface="Segoe UI Variable Small" pitchFamily="2" charset="0"/>
              </a:rPr>
              <a:t>KDCA Infectious Disease Portal</a:t>
            </a:r>
          </a:p>
          <a:p>
            <a:r>
              <a:rPr lang="en-US" altLang="ko-KR" sz="1800" b="1" dirty="0">
                <a:latin typeface="Segoe UI Variable Small" pitchFamily="2" charset="0"/>
              </a:rPr>
              <a:t>Wastewater Pathogen Concentration</a:t>
            </a:r>
          </a:p>
          <a:p>
            <a:pPr lvl="1"/>
            <a:endParaRPr lang="en-US" altLang="ko-KR" sz="1800" b="1" dirty="0">
              <a:latin typeface="Segoe UI Variable Small" pitchFamily="2" charset="0"/>
            </a:endParaRPr>
          </a:p>
          <a:p>
            <a:pPr marL="0" indent="0">
              <a:buNone/>
            </a:pPr>
            <a:r>
              <a:rPr lang="ko-KR" altLang="en-US" sz="2000" b="1" dirty="0">
                <a:latin typeface="Segoe UI Variable Small" pitchFamily="2" charset="0"/>
              </a:rPr>
              <a:t>절대 </a:t>
            </a:r>
            <a:r>
              <a:rPr lang="ko-KR" altLang="en-US" sz="2000" b="1" dirty="0" err="1">
                <a:latin typeface="Segoe UI Variable Small" pitchFamily="2" charset="0"/>
              </a:rPr>
              <a:t>검색량</a:t>
            </a:r>
            <a:r>
              <a:rPr lang="ko-KR" altLang="en-US" sz="2000" b="1" dirty="0">
                <a:latin typeface="Segoe UI Variable Small" pitchFamily="2" charset="0"/>
              </a:rPr>
              <a:t> 데이터를 사용하지 않을 이유</a:t>
            </a:r>
            <a:endParaRPr lang="en-US" altLang="ko-KR" sz="2000" b="1" dirty="0">
              <a:latin typeface="Segoe UI Variable Small" pitchFamily="2" charset="0"/>
            </a:endParaRPr>
          </a:p>
          <a:p>
            <a:pPr lvl="1"/>
            <a:endParaRPr lang="ko-KR" altLang="ko-KR" sz="1800" b="1" dirty="0">
              <a:latin typeface="Segoe UI Variable Small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916866-B913-7369-EA79-64DE0CFB2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36" y="3992760"/>
            <a:ext cx="4298203" cy="20904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57AFB0-C710-64F0-1180-6F5160911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542" y="4431822"/>
            <a:ext cx="1089115" cy="404198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E4B923-5157-2EE2-9D0B-9B6DAF6C3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068" y="4008199"/>
            <a:ext cx="4298204" cy="207684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6E6621-B844-EC41-7CFD-83F051084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6618" y="4092930"/>
            <a:ext cx="1090756" cy="375507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93E978-35C0-BF78-1AC5-DA0E8B730271}"/>
              </a:ext>
            </a:extLst>
          </p:cNvPr>
          <p:cNvSpPr txBox="1"/>
          <p:nvPr/>
        </p:nvSpPr>
        <p:spPr>
          <a:xfrm>
            <a:off x="4396761" y="4154823"/>
            <a:ext cx="855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코로나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12295-7357-3AB6-E2FF-6A67908C5069}"/>
              </a:ext>
            </a:extLst>
          </p:cNvPr>
          <p:cNvSpPr txBox="1"/>
          <p:nvPr/>
        </p:nvSpPr>
        <p:spPr>
          <a:xfrm>
            <a:off x="9756125" y="4154823"/>
            <a:ext cx="855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기침</a:t>
            </a:r>
            <a:endParaRPr lang="ko-KR" altLang="en-US" sz="11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15819E1-8310-B2DC-0790-5CDB2B0C80FC}"/>
              </a:ext>
            </a:extLst>
          </p:cNvPr>
          <p:cNvCxnSpPr>
            <a:cxnSpLocks/>
          </p:cNvCxnSpPr>
          <p:nvPr/>
        </p:nvCxnSpPr>
        <p:spPr>
          <a:xfrm>
            <a:off x="3565793" y="4786274"/>
            <a:ext cx="4698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15E4591-420B-2EF6-8E2F-CE3F868ACAB9}"/>
              </a:ext>
            </a:extLst>
          </p:cNvPr>
          <p:cNvCxnSpPr>
            <a:cxnSpLocks/>
          </p:cNvCxnSpPr>
          <p:nvPr/>
        </p:nvCxnSpPr>
        <p:spPr>
          <a:xfrm>
            <a:off x="8741996" y="4468437"/>
            <a:ext cx="4698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90A185E-743E-FECD-4341-01A3FF5323A7}"/>
              </a:ext>
            </a:extLst>
          </p:cNvPr>
          <p:cNvSpPr txBox="1"/>
          <p:nvPr/>
        </p:nvSpPr>
        <p:spPr>
          <a:xfrm>
            <a:off x="1933891" y="6176571"/>
            <a:ext cx="821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Segoe UI Variable Small" pitchFamily="2" charset="0"/>
              </a:rPr>
              <a:t>한 키워드의 </a:t>
            </a:r>
            <a:r>
              <a:rPr lang="ko-KR" altLang="en-US" sz="1600" b="1" dirty="0" err="1">
                <a:latin typeface="Segoe UI Variable Small" pitchFamily="2" charset="0"/>
              </a:rPr>
              <a:t>검색량이</a:t>
            </a:r>
            <a:r>
              <a:rPr lang="ko-KR" altLang="en-US" sz="1600" b="1" dirty="0">
                <a:latin typeface="Segoe UI Variable Small" pitchFamily="2" charset="0"/>
              </a:rPr>
              <a:t> 압도적으로 클 경우</a:t>
            </a:r>
            <a:r>
              <a:rPr lang="en-US" altLang="ko-KR" sz="1600" b="1" dirty="0">
                <a:latin typeface="Segoe UI Variable Small" pitchFamily="2" charset="0"/>
              </a:rPr>
              <a:t>, </a:t>
            </a:r>
            <a:r>
              <a:rPr lang="ko-KR" altLang="en-US" sz="1600" b="1" dirty="0">
                <a:latin typeface="Segoe UI Variable Small" pitchFamily="2" charset="0"/>
              </a:rPr>
              <a:t>다른 키워드의 영향은 미미할 것이기 때문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0048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C1EE-7BAB-88E8-AE87-66B10A6A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E1136-8DD8-C16A-5100-29D199F4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Trends of Sewage &amp; Search Volume: SARS-CoV-2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AAAB9-1868-A30A-B83C-D6425549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6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1EA1A5B-8A7A-2C68-D8B5-16BD6519BB48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5659A-1AD9-0519-2D6F-C2AE97B03E04}"/>
              </a:ext>
            </a:extLst>
          </p:cNvPr>
          <p:cNvSpPr txBox="1"/>
          <p:nvPr/>
        </p:nvSpPr>
        <p:spPr>
          <a:xfrm>
            <a:off x="1937682" y="6026117"/>
            <a:ext cx="924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본 그림은 </a:t>
            </a:r>
            <a:r>
              <a:rPr lang="en-US" altLang="ko-KR" b="1" dirty="0">
                <a:latin typeface="Segoe UI Variable Small" pitchFamily="2" charset="0"/>
              </a:rPr>
              <a:t>SARS-CoV-2 </a:t>
            </a:r>
            <a:r>
              <a:rPr lang="ko-KR" altLang="en-US" b="1" dirty="0">
                <a:latin typeface="Segoe UI Variable Small" pitchFamily="2" charset="0"/>
              </a:rPr>
              <a:t>하수농도와</a:t>
            </a:r>
            <a:r>
              <a:rPr lang="en-US" altLang="ko-KR" b="1" dirty="0">
                <a:latin typeface="Segoe UI Variable Small" pitchFamily="2" charset="0"/>
              </a:rPr>
              <a:t> </a:t>
            </a:r>
            <a:r>
              <a:rPr lang="ko-KR" altLang="en-US" b="1" dirty="0">
                <a:latin typeface="Segoe UI Variable Small" pitchFamily="2" charset="0"/>
              </a:rPr>
              <a:t>연관 검색 키워드에 대한 </a:t>
            </a:r>
            <a:r>
              <a:rPr lang="ko-KR" altLang="en-US" b="1" dirty="0" err="1">
                <a:latin typeface="Segoe UI Variable Small" pitchFamily="2" charset="0"/>
              </a:rPr>
              <a:t>스케일된</a:t>
            </a:r>
            <a:r>
              <a:rPr lang="ko-KR" altLang="en-US" b="1" dirty="0">
                <a:latin typeface="Segoe UI Variable Small" pitchFamily="2" charset="0"/>
              </a:rPr>
              <a:t> </a:t>
            </a:r>
            <a:r>
              <a:rPr lang="ko-KR" altLang="en-US" b="1" dirty="0" err="1">
                <a:latin typeface="Segoe UI Variable Small" pitchFamily="2" charset="0"/>
              </a:rPr>
              <a:t>검색량</a:t>
            </a:r>
            <a:r>
              <a:rPr lang="ko-KR" altLang="en-US" b="1" dirty="0">
                <a:latin typeface="Segoe UI Variable Small" pitchFamily="2" charset="0"/>
              </a:rPr>
              <a:t> 추이이다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8AEA4A4-F824-F65C-2829-71FCF5DE3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331" y="1187191"/>
            <a:ext cx="9037338" cy="448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9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2A9-0D4B-FD20-63D9-F1141010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81457-A2E8-5801-FACD-54E6DE90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Trends of Sewage &amp; Search Volume: Influenza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A11185-500D-5AFD-B1E3-6B81CF27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7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9DBACCA-06FD-BA1B-8591-F85F96565A51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F256A-E1CA-B410-B4A3-109B53CDC3EE}"/>
              </a:ext>
            </a:extLst>
          </p:cNvPr>
          <p:cNvSpPr txBox="1"/>
          <p:nvPr/>
        </p:nvSpPr>
        <p:spPr>
          <a:xfrm>
            <a:off x="1937682" y="6026117"/>
            <a:ext cx="89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본 그림은 </a:t>
            </a:r>
            <a:r>
              <a:rPr lang="en-US" altLang="ko-KR" b="1" dirty="0">
                <a:latin typeface="Segoe UI Variable Small" pitchFamily="2" charset="0"/>
              </a:rPr>
              <a:t>Influenza </a:t>
            </a:r>
            <a:r>
              <a:rPr lang="ko-KR" altLang="en-US" b="1" dirty="0">
                <a:latin typeface="Segoe UI Variable Small" pitchFamily="2" charset="0"/>
              </a:rPr>
              <a:t>하수농도와</a:t>
            </a:r>
            <a:r>
              <a:rPr lang="en-US" altLang="ko-KR" b="1" dirty="0">
                <a:latin typeface="Segoe UI Variable Small" pitchFamily="2" charset="0"/>
              </a:rPr>
              <a:t> </a:t>
            </a:r>
            <a:r>
              <a:rPr lang="ko-KR" altLang="en-US" b="1" dirty="0">
                <a:latin typeface="Segoe UI Variable Small" pitchFamily="2" charset="0"/>
              </a:rPr>
              <a:t>연관 검색 키워드에 대한 </a:t>
            </a:r>
            <a:r>
              <a:rPr lang="ko-KR" altLang="en-US" b="1" dirty="0" err="1">
                <a:latin typeface="Segoe UI Variable Small" pitchFamily="2" charset="0"/>
              </a:rPr>
              <a:t>스케일된</a:t>
            </a:r>
            <a:r>
              <a:rPr lang="ko-KR" altLang="en-US" b="1" dirty="0">
                <a:latin typeface="Segoe UI Variable Small" pitchFamily="2" charset="0"/>
              </a:rPr>
              <a:t> </a:t>
            </a:r>
            <a:r>
              <a:rPr lang="ko-KR" altLang="en-US" b="1" dirty="0" err="1">
                <a:latin typeface="Segoe UI Variable Small" pitchFamily="2" charset="0"/>
              </a:rPr>
              <a:t>검색량</a:t>
            </a:r>
            <a:r>
              <a:rPr lang="ko-KR" altLang="en-US" b="1" dirty="0">
                <a:latin typeface="Segoe UI Variable Small" pitchFamily="2" charset="0"/>
              </a:rPr>
              <a:t> 추이이다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endParaRPr lang="ko-KR" altLang="en-US" sz="1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A0E19EA-0188-5E50-5FEE-9FDDB3721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855" y="1187191"/>
            <a:ext cx="9034290" cy="448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8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6B3F-80C9-567D-5033-1125FB33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04F97-3FD7-36D7-C3B8-D93085E8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Trends of Sewage &amp; Search Volume: Norovirus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94A08-9A32-E456-DD6B-CC017EB96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8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9F12353-D11D-076B-27C8-621A5F5A5E36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F8882-DD85-C7C5-6C05-960301F89C27}"/>
              </a:ext>
            </a:extLst>
          </p:cNvPr>
          <p:cNvSpPr txBox="1"/>
          <p:nvPr/>
        </p:nvSpPr>
        <p:spPr>
          <a:xfrm>
            <a:off x="1937682" y="6026117"/>
            <a:ext cx="885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본 그림은 </a:t>
            </a:r>
            <a:r>
              <a:rPr lang="en-US" altLang="ko-KR" b="1" dirty="0">
                <a:latin typeface="Segoe UI Variable Small" pitchFamily="2" charset="0"/>
              </a:rPr>
              <a:t>Norovirus </a:t>
            </a:r>
            <a:r>
              <a:rPr lang="ko-KR" altLang="en-US" b="1" dirty="0">
                <a:latin typeface="Segoe UI Variable Small" pitchFamily="2" charset="0"/>
              </a:rPr>
              <a:t>하수농도와</a:t>
            </a:r>
            <a:r>
              <a:rPr lang="en-US" altLang="ko-KR" b="1" dirty="0">
                <a:latin typeface="Segoe UI Variable Small" pitchFamily="2" charset="0"/>
              </a:rPr>
              <a:t> </a:t>
            </a:r>
            <a:r>
              <a:rPr lang="ko-KR" altLang="en-US" b="1" dirty="0">
                <a:latin typeface="Segoe UI Variable Small" pitchFamily="2" charset="0"/>
              </a:rPr>
              <a:t>연관 검색 키워드에 대한 </a:t>
            </a:r>
            <a:r>
              <a:rPr lang="ko-KR" altLang="en-US" b="1" dirty="0" err="1">
                <a:latin typeface="Segoe UI Variable Small" pitchFamily="2" charset="0"/>
              </a:rPr>
              <a:t>스케일된</a:t>
            </a:r>
            <a:r>
              <a:rPr lang="ko-KR" altLang="en-US" b="1" dirty="0">
                <a:latin typeface="Segoe UI Variable Small" pitchFamily="2" charset="0"/>
              </a:rPr>
              <a:t> </a:t>
            </a:r>
            <a:r>
              <a:rPr lang="ko-KR" altLang="en-US" b="1" dirty="0" err="1">
                <a:latin typeface="Segoe UI Variable Small" pitchFamily="2" charset="0"/>
              </a:rPr>
              <a:t>검색량</a:t>
            </a:r>
            <a:r>
              <a:rPr lang="ko-KR" altLang="en-US" b="1" dirty="0">
                <a:latin typeface="Segoe UI Variable Small" pitchFamily="2" charset="0"/>
              </a:rPr>
              <a:t> 추이이다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endParaRPr lang="ko-KR" altLang="en-US" sz="16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D80BE28-50D0-661B-A2EA-0E9B17CF0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759" y="1187191"/>
            <a:ext cx="9046482" cy="448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86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922F-8770-2821-895F-6B1A602B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C412B-5BD5-D39B-3203-34FF5186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Trends of Sewage Volume by Infectious Disease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C3BE9E-08AE-3184-1516-D5A30F81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9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FE18622-33D9-E223-EFD6-C74EF1EF7E8C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8478F7-1103-90A4-108E-D6B6D0B48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34" y="1148770"/>
            <a:ext cx="9555714" cy="4737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88D498-307E-CEB2-D714-862060E93E12}"/>
              </a:ext>
            </a:extLst>
          </p:cNvPr>
          <p:cNvSpPr txBox="1"/>
          <p:nvPr/>
        </p:nvSpPr>
        <p:spPr>
          <a:xfrm>
            <a:off x="1937682" y="6026117"/>
            <a:ext cx="8218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본 그림은 세 감염병에 대한 </a:t>
            </a:r>
            <a:r>
              <a:rPr lang="ko-KR" altLang="en-US" b="1" dirty="0" err="1">
                <a:latin typeface="Segoe UI Variable Small" pitchFamily="2" charset="0"/>
              </a:rPr>
              <a:t>스케일된</a:t>
            </a:r>
            <a:r>
              <a:rPr lang="ko-KR" altLang="en-US" b="1" dirty="0">
                <a:latin typeface="Segoe UI Variable Small" pitchFamily="2" charset="0"/>
              </a:rPr>
              <a:t> 하수 농도 추이이다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3894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B249-CEB6-5F8B-9D4E-7CBAED44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ABB0C-2F2B-67B2-5231-2D20BBE3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55AF999-390E-61DF-8EB2-492F2A25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0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AE05-CED5-F729-941B-6A90FC7C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69D91-5FA2-22F5-1D73-1DC7214D9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Framework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573F64-6D60-6C43-0EF9-7C9170C0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11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32D3E79-74FC-BAB4-5F87-BE70ECE98B99}"/>
              </a:ext>
            </a:extLst>
          </p:cNvPr>
          <p:cNvSpPr txBox="1">
            <a:spLocks/>
          </p:cNvSpPr>
          <p:nvPr/>
        </p:nvSpPr>
        <p:spPr>
          <a:xfrm>
            <a:off x="740336" y="1085850"/>
            <a:ext cx="10613463" cy="5486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ko-KR" sz="2400" b="1" dirty="0">
              <a:latin typeface="Segoe UI Variable Small" pitchFamily="2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A53EDDA-6E63-12DF-3ED0-E93249477A23}"/>
              </a:ext>
            </a:extLst>
          </p:cNvPr>
          <p:cNvSpPr/>
          <p:nvPr/>
        </p:nvSpPr>
        <p:spPr>
          <a:xfrm>
            <a:off x="4708064" y="2406083"/>
            <a:ext cx="2000250" cy="4381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 w="0"/>
                <a:solidFill>
                  <a:schemeClr val="tx1"/>
                </a:solidFill>
              </a:rPr>
              <a:t>전체 기간 </a:t>
            </a:r>
            <a:r>
              <a:rPr lang="en-US" altLang="ko-KR" sz="1400" b="1" dirty="0">
                <a:ln w="0"/>
                <a:solidFill>
                  <a:schemeClr val="tx1"/>
                </a:solidFill>
              </a:rPr>
              <a:t>(Global)</a:t>
            </a:r>
            <a:endParaRPr lang="ko-KR" altLang="en-US" sz="1400" b="1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B5990A-62B2-03BE-E19C-FFAFE493BEC7}"/>
              </a:ext>
            </a:extLst>
          </p:cNvPr>
          <p:cNvSpPr/>
          <p:nvPr/>
        </p:nvSpPr>
        <p:spPr>
          <a:xfrm>
            <a:off x="4708064" y="3283389"/>
            <a:ext cx="2000250" cy="4381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 w="0"/>
                <a:solidFill>
                  <a:schemeClr val="tx1"/>
                </a:solidFill>
              </a:rPr>
              <a:t>계절 </a:t>
            </a:r>
            <a:r>
              <a:rPr lang="en-US" altLang="ko-KR" sz="1400" b="1" dirty="0">
                <a:ln w="0"/>
                <a:solidFill>
                  <a:schemeClr val="tx1"/>
                </a:solidFill>
              </a:rPr>
              <a:t>(Seasonal)</a:t>
            </a:r>
            <a:endParaRPr lang="ko-KR" altLang="en-US" sz="1400" b="1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F068F-234A-3D2D-2C59-3BBEC71C9F48}"/>
              </a:ext>
            </a:extLst>
          </p:cNvPr>
          <p:cNvSpPr txBox="1"/>
          <p:nvPr/>
        </p:nvSpPr>
        <p:spPr>
          <a:xfrm>
            <a:off x="4195809" y="1611068"/>
            <a:ext cx="304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감염병별 대표 지연 키워드 선정</a:t>
            </a:r>
            <a:endParaRPr lang="en-US" altLang="ko-KR" sz="12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예측모델 변수로 사용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8C48B-73E9-8E2F-6EBE-99DD1D39767C}"/>
              </a:ext>
            </a:extLst>
          </p:cNvPr>
          <p:cNvSpPr txBox="1"/>
          <p:nvPr/>
        </p:nvSpPr>
        <p:spPr>
          <a:xfrm>
            <a:off x="7353301" y="2904145"/>
            <a:ext cx="447320" cy="2462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Segoe UI Variable Small" pitchFamily="2" charset="0"/>
                <a:cs typeface="Times New Roman" panose="02020603050405020304" pitchFamily="18" charset="0"/>
              </a:rPr>
              <a:t>봄</a:t>
            </a: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DBDD26-5A50-29D5-F811-509D61BA1C86}"/>
                  </a:ext>
                </a:extLst>
              </p:cNvPr>
              <p:cNvSpPr txBox="1"/>
              <p:nvPr/>
            </p:nvSpPr>
            <p:spPr>
              <a:xfrm>
                <a:off x="2733322" y="2310713"/>
                <a:ext cx="1727246" cy="6232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200" b="1" dirty="0">
                    <a:effectLst/>
                    <a:latin typeface="Segoe UI Variable Small" pitchFamily="2" charset="0"/>
                    <a:cs typeface="Times New Roman" panose="02020603050405020304" pitchFamily="18" charset="0"/>
                  </a:rPr>
                  <a:t>Sewage Conc.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105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altLang="ko-KR" sz="1050" b="1" dirty="0">
                  <a:effectLst/>
                  <a:latin typeface="Segoe UI Variable Small" pitchFamily="2" charset="0"/>
                </a:endParaRPr>
              </a:p>
              <a:p>
                <a:pPr algn="ctr"/>
                <a:r>
                  <a:rPr lang="en-US" altLang="ko-KR" sz="1200" b="1" dirty="0">
                    <a:effectLst/>
                    <a:latin typeface="Segoe UI Variable Small" pitchFamily="2" charset="0"/>
                  </a:rPr>
                  <a:t>Search Volume</a:t>
                </a:r>
                <a:endParaRPr lang="ko-KR" altLang="en-US" sz="1200" b="1" dirty="0">
                  <a:effectLst/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DBDD26-5A50-29D5-F811-509D61BA1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322" y="2310713"/>
                <a:ext cx="1727246" cy="623248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A23974-D830-B47A-B88C-DCDC1BD0DA81}"/>
                  </a:ext>
                </a:extLst>
              </p:cNvPr>
              <p:cNvSpPr txBox="1"/>
              <p:nvPr/>
            </p:nvSpPr>
            <p:spPr>
              <a:xfrm>
                <a:off x="3763515" y="3379952"/>
                <a:ext cx="653489" cy="26161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105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altLang="ko-KR" sz="1050" b="1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A23974-D830-B47A-B88C-DCDC1BD0D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515" y="3379952"/>
                <a:ext cx="653489" cy="261610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B585539-2850-B7BF-6D50-A913511393DC}"/>
              </a:ext>
            </a:extLst>
          </p:cNvPr>
          <p:cNvCxnSpPr>
            <a:cxnSpLocks/>
          </p:cNvCxnSpPr>
          <p:nvPr/>
        </p:nvCxnSpPr>
        <p:spPr>
          <a:xfrm flipV="1">
            <a:off x="4410817" y="3487278"/>
            <a:ext cx="297246" cy="34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9090BD9-C773-02F9-9308-A9AE55A716B6}"/>
              </a:ext>
            </a:extLst>
          </p:cNvPr>
          <p:cNvCxnSpPr>
            <a:cxnSpLocks/>
            <a:stCxn id="22" idx="3"/>
            <a:endCxn id="3" idx="1"/>
          </p:cNvCxnSpPr>
          <p:nvPr/>
        </p:nvCxnSpPr>
        <p:spPr>
          <a:xfrm>
            <a:off x="4460568" y="2622337"/>
            <a:ext cx="247496" cy="28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B5933C0-1299-2170-1FDB-38AF66EF412F}"/>
              </a:ext>
            </a:extLst>
          </p:cNvPr>
          <p:cNvSpPr txBox="1"/>
          <p:nvPr/>
        </p:nvSpPr>
        <p:spPr>
          <a:xfrm>
            <a:off x="4106253" y="3784349"/>
            <a:ext cx="144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+ 3week ahead</a:t>
            </a:r>
            <a:endParaRPr lang="ko-KR" altLang="en-US" sz="9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EC7453-AF36-4EF1-CA7D-65ED692BA9E8}"/>
              </a:ext>
            </a:extLst>
          </p:cNvPr>
          <p:cNvSpPr txBox="1"/>
          <p:nvPr/>
        </p:nvSpPr>
        <p:spPr>
          <a:xfrm>
            <a:off x="2582253" y="2010811"/>
            <a:ext cx="30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Pearson Corr.</a:t>
            </a:r>
            <a:endParaRPr lang="ko-KR" altLang="en-US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07416A-70A7-95D1-515E-F8F71F2693F7}"/>
              </a:ext>
            </a:extLst>
          </p:cNvPr>
          <p:cNvSpPr txBox="1"/>
          <p:nvPr/>
        </p:nvSpPr>
        <p:spPr>
          <a:xfrm>
            <a:off x="2671809" y="3049268"/>
            <a:ext cx="30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Spearman Corr.</a:t>
            </a:r>
            <a:endParaRPr lang="ko-KR" altLang="en-US" sz="900" dirty="0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9C38A93-8844-1CD1-D1F1-E7987C58222D}"/>
              </a:ext>
            </a:extLst>
          </p:cNvPr>
          <p:cNvCxnSpPr>
            <a:cxnSpLocks/>
            <a:stCxn id="6" idx="3"/>
            <a:endCxn id="89" idx="1"/>
          </p:cNvCxnSpPr>
          <p:nvPr/>
        </p:nvCxnSpPr>
        <p:spPr>
          <a:xfrm>
            <a:off x="6708314" y="3502464"/>
            <a:ext cx="644987" cy="1915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34FF846-0AA3-58BB-117B-7672D9E8CBF0}"/>
              </a:ext>
            </a:extLst>
          </p:cNvPr>
          <p:cNvCxnSpPr>
            <a:cxnSpLocks/>
            <a:stCxn id="6" idx="3"/>
            <a:endCxn id="87" idx="1"/>
          </p:cNvCxnSpPr>
          <p:nvPr/>
        </p:nvCxnSpPr>
        <p:spPr>
          <a:xfrm flipV="1">
            <a:off x="6708314" y="3360632"/>
            <a:ext cx="644987" cy="141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63D76E9-9186-C611-73C1-66F60E211279}"/>
              </a:ext>
            </a:extLst>
          </p:cNvPr>
          <p:cNvCxnSpPr>
            <a:cxnSpLocks/>
            <a:stCxn id="6" idx="3"/>
            <a:endCxn id="91" idx="1"/>
          </p:cNvCxnSpPr>
          <p:nvPr/>
        </p:nvCxnSpPr>
        <p:spPr>
          <a:xfrm>
            <a:off x="6708314" y="3502464"/>
            <a:ext cx="644986" cy="5179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52CDB54-9EF7-B8C4-9E8C-A1766A811AE5}"/>
              </a:ext>
            </a:extLst>
          </p:cNvPr>
          <p:cNvSpPr txBox="1"/>
          <p:nvPr/>
        </p:nvSpPr>
        <p:spPr>
          <a:xfrm>
            <a:off x="7353301" y="3237521"/>
            <a:ext cx="447320" cy="2462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Segoe UI Variable Small" pitchFamily="2" charset="0"/>
                <a:cs typeface="Times New Roman" panose="02020603050405020304" pitchFamily="18" charset="0"/>
              </a:rPr>
              <a:t>여름</a:t>
            </a: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D577FA4-4ADB-75B7-284E-E434EFD083C8}"/>
              </a:ext>
            </a:extLst>
          </p:cNvPr>
          <p:cNvSpPr txBox="1"/>
          <p:nvPr/>
        </p:nvSpPr>
        <p:spPr>
          <a:xfrm>
            <a:off x="7353301" y="3570897"/>
            <a:ext cx="447320" cy="2462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sz="1000" b="1">
                <a:latin typeface="Segoe UI Variable Small" pitchFamily="2" charset="0"/>
                <a:cs typeface="Times New Roman" panose="02020603050405020304" pitchFamily="18" charset="0"/>
              </a:rPr>
              <a:t>가을</a:t>
            </a: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29F5B9-9953-82BC-DE64-DC4BA2CFE579}"/>
              </a:ext>
            </a:extLst>
          </p:cNvPr>
          <p:cNvSpPr txBox="1"/>
          <p:nvPr/>
        </p:nvSpPr>
        <p:spPr>
          <a:xfrm>
            <a:off x="7353300" y="3897318"/>
            <a:ext cx="447320" cy="2462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sz="1000" b="1">
                <a:latin typeface="Segoe UI Variable Small" pitchFamily="2" charset="0"/>
                <a:cs typeface="Times New Roman" panose="02020603050405020304" pitchFamily="18" charset="0"/>
              </a:rPr>
              <a:t>겨울</a:t>
            </a: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4B0668B-8D2C-9BE3-C26F-4BE8226C65C8}"/>
              </a:ext>
            </a:extLst>
          </p:cNvPr>
          <p:cNvSpPr txBox="1"/>
          <p:nvPr/>
        </p:nvSpPr>
        <p:spPr>
          <a:xfrm>
            <a:off x="981121" y="2423000"/>
            <a:ext cx="1504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{SARS-CoV-2,</a:t>
            </a:r>
          </a:p>
          <a:p>
            <a:pPr algn="ctr"/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Norovirus,</a:t>
            </a:r>
          </a:p>
          <a:p>
            <a:pPr algn="ctr"/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Influenza}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496EB190-17BA-C672-D74B-71A83994AC8F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6708314" y="3027256"/>
            <a:ext cx="644987" cy="4752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072A314-7297-58A9-B11C-B257290B9869}"/>
                  </a:ext>
                </a:extLst>
              </p:cNvPr>
              <p:cNvSpPr txBox="1"/>
              <p:nvPr/>
            </p:nvSpPr>
            <p:spPr>
              <a:xfrm>
                <a:off x="2333857" y="2415948"/>
                <a:ext cx="2757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072A314-7297-58A9-B11C-B257290B9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57" y="2415948"/>
                <a:ext cx="275717" cy="276999"/>
              </a:xfrm>
              <a:prstGeom prst="rect">
                <a:avLst/>
              </a:prstGeom>
              <a:blipFill>
                <a:blip r:embed="rId5"/>
                <a:stretch>
                  <a:fillRect l="-6667" r="-6667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63F3D2E-931D-17B3-88A8-7D44C83292AF}"/>
                  </a:ext>
                </a:extLst>
              </p:cNvPr>
              <p:cNvSpPr txBox="1"/>
              <p:nvPr/>
            </p:nvSpPr>
            <p:spPr>
              <a:xfrm>
                <a:off x="3349939" y="3321237"/>
                <a:ext cx="2757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63F3D2E-931D-17B3-88A8-7D44C8329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939" y="3321237"/>
                <a:ext cx="275717" cy="276999"/>
              </a:xfrm>
              <a:prstGeom prst="rect">
                <a:avLst/>
              </a:prstGeom>
              <a:blipFill>
                <a:blip r:embed="rId6"/>
                <a:stretch>
                  <a:fillRect l="-6667" r="-6667" b="-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48BB812-FBBB-8825-2F19-86C1F03524E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708314" y="2625158"/>
            <a:ext cx="163349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5A6A86B-BDE1-E326-E220-28EC94D46F04}"/>
              </a:ext>
            </a:extLst>
          </p:cNvPr>
          <p:cNvCxnSpPr>
            <a:cxnSpLocks/>
          </p:cNvCxnSpPr>
          <p:nvPr/>
        </p:nvCxnSpPr>
        <p:spPr>
          <a:xfrm>
            <a:off x="7800620" y="3024671"/>
            <a:ext cx="5411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4A19C8E-4FCE-EB80-B816-94B677E2064C}"/>
              </a:ext>
            </a:extLst>
          </p:cNvPr>
          <p:cNvCxnSpPr>
            <a:cxnSpLocks/>
          </p:cNvCxnSpPr>
          <p:nvPr/>
        </p:nvCxnSpPr>
        <p:spPr>
          <a:xfrm>
            <a:off x="7800620" y="3341723"/>
            <a:ext cx="5411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012E638-0D9A-9129-62FB-7DBA79C9ED3C}"/>
              </a:ext>
            </a:extLst>
          </p:cNvPr>
          <p:cNvCxnSpPr>
            <a:cxnSpLocks/>
          </p:cNvCxnSpPr>
          <p:nvPr/>
        </p:nvCxnSpPr>
        <p:spPr>
          <a:xfrm>
            <a:off x="7800620" y="3673445"/>
            <a:ext cx="5411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9C0A66A-266D-A688-448E-DB91830A5E74}"/>
              </a:ext>
            </a:extLst>
          </p:cNvPr>
          <p:cNvCxnSpPr>
            <a:cxnSpLocks/>
          </p:cNvCxnSpPr>
          <p:nvPr/>
        </p:nvCxnSpPr>
        <p:spPr>
          <a:xfrm>
            <a:off x="7800620" y="4020428"/>
            <a:ext cx="5411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C4E3137-B341-09DD-8961-A32BEF6EDA07}"/>
              </a:ext>
            </a:extLst>
          </p:cNvPr>
          <p:cNvSpPr/>
          <p:nvPr/>
        </p:nvSpPr>
        <p:spPr>
          <a:xfrm>
            <a:off x="8353425" y="2260126"/>
            <a:ext cx="2000250" cy="21222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n w="0"/>
                <a:solidFill>
                  <a:schemeClr val="tx1"/>
                </a:solidFill>
              </a:rPr>
              <a:t>Predictive</a:t>
            </a:r>
            <a:r>
              <a:rPr lang="ko-KR" altLang="en-US" b="1" dirty="0">
                <a:ln w="0"/>
                <a:solidFill>
                  <a:schemeClr val="tx1"/>
                </a:solidFill>
              </a:rPr>
              <a:t> </a:t>
            </a:r>
            <a:r>
              <a:rPr lang="en-US" altLang="ko-KR" b="1" dirty="0">
                <a:ln w="0"/>
                <a:solidFill>
                  <a:schemeClr val="tx1"/>
                </a:solidFill>
              </a:rPr>
              <a:t>Model</a:t>
            </a:r>
          </a:p>
          <a:p>
            <a:pPr algn="ctr"/>
            <a:endParaRPr lang="en-US" altLang="ko-KR" b="1" dirty="0">
              <a:ln w="0"/>
              <a:solidFill>
                <a:schemeClr val="tx1"/>
              </a:solidFill>
            </a:endParaRPr>
          </a:p>
          <a:p>
            <a:pPr algn="ctr"/>
            <a:endParaRPr lang="ko-KR" altLang="en-US" b="1" dirty="0">
              <a:ln w="0"/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8F8362-E4FB-78A8-109D-B360FC6888FA}"/>
              </a:ext>
            </a:extLst>
          </p:cNvPr>
          <p:cNvSpPr txBox="1"/>
          <p:nvPr/>
        </p:nvSpPr>
        <p:spPr>
          <a:xfrm>
            <a:off x="8546010" y="3570897"/>
            <a:ext cx="182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전체 기간 반영 모델</a:t>
            </a:r>
            <a:endParaRPr lang="en-US" altLang="ko-KR" sz="12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계절 반영 모델</a:t>
            </a:r>
            <a:endParaRPr lang="en-US" altLang="ko-KR" sz="12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혼합 모델</a:t>
            </a:r>
            <a:endParaRPr lang="ko-KR" altLang="en-US" sz="9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7DD12E6-4F60-9A9F-A4A0-34EFAF6442D2}"/>
              </a:ext>
            </a:extLst>
          </p:cNvPr>
          <p:cNvCxnSpPr>
            <a:cxnSpLocks/>
          </p:cNvCxnSpPr>
          <p:nvPr/>
        </p:nvCxnSpPr>
        <p:spPr>
          <a:xfrm flipV="1">
            <a:off x="7353300" y="4382348"/>
            <a:ext cx="1316458" cy="8468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8F5EC0E-322E-1156-F02F-9C07B71A83D9}"/>
              </a:ext>
            </a:extLst>
          </p:cNvPr>
          <p:cNvCxnSpPr>
            <a:cxnSpLocks/>
          </p:cNvCxnSpPr>
          <p:nvPr/>
        </p:nvCxnSpPr>
        <p:spPr>
          <a:xfrm flipH="1" flipV="1">
            <a:off x="10068580" y="4382348"/>
            <a:ext cx="1285219" cy="835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BFF08DC-3378-5C9E-F3EA-62D63676FC92}"/>
              </a:ext>
            </a:extLst>
          </p:cNvPr>
          <p:cNvSpPr txBox="1"/>
          <p:nvPr/>
        </p:nvSpPr>
        <p:spPr>
          <a:xfrm>
            <a:off x="7800619" y="4906059"/>
            <a:ext cx="2069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2024 ~ 2025: Train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2026: Prediction</a:t>
            </a:r>
            <a:endParaRPr lang="ko-KR" alt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D84AE8-A8FB-B754-69F2-D119263A7DBB}"/>
              </a:ext>
            </a:extLst>
          </p:cNvPr>
          <p:cNvSpPr txBox="1"/>
          <p:nvPr/>
        </p:nvSpPr>
        <p:spPr>
          <a:xfrm>
            <a:off x="9561195" y="5106398"/>
            <a:ext cx="144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실제 </a:t>
            </a:r>
            <a:r>
              <a:rPr lang="ko-KR" altLang="en-US" sz="1200" b="1">
                <a:latin typeface="Segoe UI Variable Small" pitchFamily="2" charset="0"/>
                <a:cs typeface="Times New Roman" panose="02020603050405020304" pitchFamily="18" charset="0"/>
              </a:rPr>
              <a:t>하수와 비교</a:t>
            </a:r>
            <a:endParaRPr lang="ko-KR" alt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C010CFE-5321-7198-45F8-5B97B6C6FF88}"/>
                  </a:ext>
                </a:extLst>
              </p:cNvPr>
              <p:cNvSpPr txBox="1"/>
              <p:nvPr/>
            </p:nvSpPr>
            <p:spPr>
              <a:xfrm>
                <a:off x="9347144" y="5079777"/>
                <a:ext cx="2757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C010CFE-5321-7198-45F8-5B97B6C6F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144" y="5079777"/>
                <a:ext cx="275717" cy="276999"/>
              </a:xfrm>
              <a:prstGeom prst="rect">
                <a:avLst/>
              </a:prstGeom>
              <a:blipFill>
                <a:blip r:embed="rId7"/>
                <a:stretch>
                  <a:fillRect l="-4348" r="-6522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B2401DC-71C4-AE28-9518-A2A190CF86DF}"/>
              </a:ext>
            </a:extLst>
          </p:cNvPr>
          <p:cNvSpPr txBox="1"/>
          <p:nvPr/>
        </p:nvSpPr>
        <p:spPr>
          <a:xfrm>
            <a:off x="7639703" y="5367724"/>
            <a:ext cx="144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Segoe UI Variable Small" pitchFamily="2" charset="0"/>
                <a:cs typeface="Times New Roman" panose="02020603050405020304" pitchFamily="18" charset="0"/>
              </a:rPr>
              <a:t>약 </a:t>
            </a:r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7 : 3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1A9AC-53FA-FBB9-53AA-0CCCDECFE454}"/>
              </a:ext>
            </a:extLst>
          </p:cNvPr>
          <p:cNvSpPr txBox="1"/>
          <p:nvPr/>
        </p:nvSpPr>
        <p:spPr>
          <a:xfrm>
            <a:off x="7556568" y="2705358"/>
            <a:ext cx="593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Segoe UI Variable Small" pitchFamily="2" charset="0"/>
                <a:cs typeface="Times New Roman" panose="02020603050405020304" pitchFamily="18" charset="0"/>
              </a:rPr>
              <a:t>12, 1, 2</a:t>
            </a:r>
            <a:endParaRPr lang="ko-KR" altLang="en-US" sz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758FD-5A88-0BCA-C7B8-CBD9F19BB184}"/>
              </a:ext>
            </a:extLst>
          </p:cNvPr>
          <p:cNvSpPr txBox="1"/>
          <p:nvPr/>
        </p:nvSpPr>
        <p:spPr>
          <a:xfrm>
            <a:off x="7576960" y="3090078"/>
            <a:ext cx="593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Segoe UI Variable Small" pitchFamily="2" charset="0"/>
                <a:cs typeface="Times New Roman" panose="02020603050405020304" pitchFamily="18" charset="0"/>
              </a:rPr>
              <a:t>3, 4, 5</a:t>
            </a:r>
            <a:endParaRPr lang="ko-KR" altLang="en-US" sz="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45D71D-C128-E659-2E6D-57702F3406C3}"/>
              </a:ext>
            </a:extLst>
          </p:cNvPr>
          <p:cNvSpPr txBox="1"/>
          <p:nvPr/>
        </p:nvSpPr>
        <p:spPr>
          <a:xfrm>
            <a:off x="7639703" y="3413244"/>
            <a:ext cx="593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Segoe UI Variable Small" pitchFamily="2" charset="0"/>
                <a:cs typeface="Times New Roman" panose="02020603050405020304" pitchFamily="18" charset="0"/>
              </a:rPr>
              <a:t>6, 7, 8</a:t>
            </a:r>
            <a:endParaRPr lang="ko-KR" altLang="en-US" sz="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7D8110-8C08-95B7-13C6-B09F18CF04A9}"/>
              </a:ext>
            </a:extLst>
          </p:cNvPr>
          <p:cNvSpPr txBox="1"/>
          <p:nvPr/>
        </p:nvSpPr>
        <p:spPr>
          <a:xfrm>
            <a:off x="7587165" y="3770414"/>
            <a:ext cx="688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Segoe UI Variable Small" pitchFamily="2" charset="0"/>
                <a:cs typeface="Times New Roman" panose="02020603050405020304" pitchFamily="18" charset="0"/>
              </a:rPr>
              <a:t>9, 10 ,11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58425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A1D9-D103-19D1-ADE7-49B1FA76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ACF41-38DD-05CF-8B31-82E020CE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Results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AB3B88-C800-27A5-9293-B46A4B2AD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90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E66E-7713-3758-F566-42B450CA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A84D8-EBEC-0269-FF03-559A946A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 기간 상관분석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4910F0-454F-68BA-5B59-D251B0EA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13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6ABF5AD-8575-CDA3-80A4-E9B42D5744AB}"/>
              </a:ext>
            </a:extLst>
          </p:cNvPr>
          <p:cNvSpPr txBox="1">
            <a:spLocks/>
          </p:cNvSpPr>
          <p:nvPr/>
        </p:nvSpPr>
        <p:spPr>
          <a:xfrm>
            <a:off x="740336" y="1085850"/>
            <a:ext cx="10613463" cy="5486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ko-KR" sz="2400" b="1" dirty="0">
              <a:latin typeface="Segoe UI Variable Small" pitchFamily="2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72DB11A-FC1F-D2C5-2DB1-FEECEDA0C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162201"/>
              </p:ext>
            </p:extLst>
          </p:nvPr>
        </p:nvGraphicFramePr>
        <p:xfrm>
          <a:off x="1677440" y="2103120"/>
          <a:ext cx="8837120" cy="2651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4640">
                  <a:extLst>
                    <a:ext uri="{9D8B030D-6E8A-4147-A177-3AD203B41FA5}">
                      <a16:colId xmlns:a16="http://schemas.microsoft.com/office/drawing/2014/main" val="3957905093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2324672624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1590786432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87386454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3858145193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1912608313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932232036"/>
                    </a:ext>
                  </a:extLst>
                </a:gridCol>
                <a:gridCol w="1104640">
                  <a:extLst>
                    <a:ext uri="{9D8B030D-6E8A-4147-A177-3AD203B41FA5}">
                      <a16:colId xmlns:a16="http://schemas.microsoft.com/office/drawing/2014/main" val="543557553"/>
                    </a:ext>
                  </a:extLst>
                </a:gridCol>
              </a:tblGrid>
              <a:tr h="616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Infectious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Disease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Nolag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Search 1week ahead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Sewage 1week ahead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Search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2week ahead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Sewage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2week ahead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Search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3week ahead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Sewage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3week ahead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35594"/>
                  </a:ext>
                </a:extLst>
              </a:tr>
              <a:tr h="616903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SARS-CoV2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코로나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코로나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0.84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COVID-19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코로나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COVID-19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0.67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코로나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COVID-19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0.58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581586"/>
                  </a:ext>
                </a:extLst>
              </a:tr>
              <a:tr h="616903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Influenza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오한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오한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오한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오한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구토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오한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구토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01046"/>
                  </a:ext>
                </a:extLst>
              </a:tr>
              <a:tr h="616903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Norovirus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노로바이러스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0.66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노로바이러스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노로바이러스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0.57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노로바이러스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노로바이러스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0.46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노로바이러스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노로바이러스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0.35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98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72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275E9-5D16-F080-1C65-EFCA135D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5351C-C431-FAF6-EC52-2B0E7D72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상관분석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5765EF-E8B9-99DF-6E2A-7E86548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14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0F90533-C8D3-37FD-8A91-5B5682390190}"/>
              </a:ext>
            </a:extLst>
          </p:cNvPr>
          <p:cNvSpPr txBox="1">
            <a:spLocks/>
          </p:cNvSpPr>
          <p:nvPr/>
        </p:nvSpPr>
        <p:spPr>
          <a:xfrm>
            <a:off x="740336" y="1085850"/>
            <a:ext cx="10613463" cy="5486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ko-KR" sz="2400" b="1" dirty="0">
              <a:latin typeface="Segoe UI Variable Small" pitchFamily="2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74CC508-2D2C-C704-20F0-90CF2FB4B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886463"/>
              </p:ext>
            </p:extLst>
          </p:nvPr>
        </p:nvGraphicFramePr>
        <p:xfrm>
          <a:off x="2418323" y="2038243"/>
          <a:ext cx="7721600" cy="358161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3957905093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324672624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159078643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87386454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3858145193"/>
                    </a:ext>
                  </a:extLst>
                </a:gridCol>
              </a:tblGrid>
              <a:tr h="5640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Infectious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Disease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Spring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Summer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Fall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35594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SARS-CoV2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Nolag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인후통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Sewage</a:t>
                      </a:r>
                    </a:p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우세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Search 3week ahead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SARS-CoV-2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0.43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= 0.0293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Search 1week ahead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숨가쁨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0.81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581586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Influenza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Nolag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인플루엔자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0.85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Sewage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우세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Search 1week ahead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인플루엔자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01046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Norovirus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Search 3week ahead</a:t>
                      </a:r>
                    </a:p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노로바이러스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0.53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= 0.0058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Search 1week ahead</a:t>
                      </a:r>
                    </a:p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노로바이러스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&lt; 0.001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Search 3week ahead</a:t>
                      </a:r>
                    </a:p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노로바이러스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 = 0.0011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98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967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FE4E-4B13-7D02-C93F-61DD99C6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BA4DA-0BAC-AE46-FD49-865736E5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Predictive Model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99BC78F-1C0B-1CF2-5FFF-4C85CE4A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03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CD67-9F33-DAA6-22A3-077E36650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5C47A-EA2E-F6F8-C56A-4E6D59AF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SARS-CoV-2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전체기간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(Global)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D44BE-7C91-983D-E12A-E6E2CF91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16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7220B88-37F8-9E81-A47F-9C64BFB3A542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069BBD-4887-6FAA-62F4-F2D4AD19B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9" y="1457447"/>
            <a:ext cx="9549279" cy="40575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A78980-602C-EA36-CB9B-DA646950CD1C}"/>
              </a:ext>
            </a:extLst>
          </p:cNvPr>
          <p:cNvSpPr txBox="1"/>
          <p:nvPr/>
        </p:nvSpPr>
        <p:spPr>
          <a:xfrm>
            <a:off x="1937682" y="5821240"/>
            <a:ext cx="8218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Segoe UI Variable Small" pitchFamily="2" charset="0"/>
              </a:rPr>
              <a:t>2026</a:t>
            </a:r>
            <a:r>
              <a:rPr lang="ko-KR" altLang="en-US" b="1" dirty="0">
                <a:latin typeface="Segoe UI Variable Small" pitchFamily="2" charset="0"/>
              </a:rPr>
              <a:t>년도 안정기를 잘 예측함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</a:p>
          <a:p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4D8F04-8D02-953F-4ADB-472B800182C0}"/>
              </a:ext>
            </a:extLst>
          </p:cNvPr>
          <p:cNvSpPr txBox="1"/>
          <p:nvPr/>
        </p:nvSpPr>
        <p:spPr>
          <a:xfrm>
            <a:off x="9752476" y="501649"/>
            <a:ext cx="16013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선형회귀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Search1, </a:t>
            </a:r>
            <a:r>
              <a:rPr lang="ko-KR" altLang="en-US" sz="1200" b="1" dirty="0">
                <a:latin typeface="Segoe UI Variable Small" pitchFamily="2" charset="0"/>
              </a:rPr>
              <a:t>코로나</a:t>
            </a:r>
            <a:r>
              <a:rPr lang="en-US" altLang="ko-KR" sz="1200" b="1" dirty="0">
                <a:latin typeface="Segoe UI Variable Small" pitchFamily="2" charset="0"/>
              </a:rPr>
              <a:t>19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-1.0495</a:t>
            </a:r>
          </a:p>
          <a:p>
            <a:r>
              <a:rPr lang="en-US" altLang="ko-KR" sz="1200" b="1" dirty="0"/>
              <a:t>RMSE: 1.6752</a:t>
            </a:r>
            <a:endParaRPr lang="ko-KR" altLang="en-US" sz="1200" b="1" dirty="0"/>
          </a:p>
        </p:txBody>
      </p:sp>
      <p:sp>
        <p:nvSpPr>
          <p:cNvPr id="20" name="별: 꼭짓점 5개 19">
            <a:extLst>
              <a:ext uri="{FF2B5EF4-FFF2-40B4-BE49-F238E27FC236}">
                <a16:creationId xmlns:a16="http://schemas.microsoft.com/office/drawing/2014/main" id="{F6365B3C-F048-9411-FA08-23684AD8A868}"/>
              </a:ext>
            </a:extLst>
          </p:cNvPr>
          <p:cNvSpPr/>
          <p:nvPr/>
        </p:nvSpPr>
        <p:spPr>
          <a:xfrm>
            <a:off x="1246094" y="1343025"/>
            <a:ext cx="277906" cy="279587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339693A-CA14-2C42-0066-D525109C7735}"/>
              </a:ext>
            </a:extLst>
          </p:cNvPr>
          <p:cNvCxnSpPr>
            <a:cxnSpLocks/>
          </p:cNvCxnSpPr>
          <p:nvPr/>
        </p:nvCxnSpPr>
        <p:spPr>
          <a:xfrm flipV="1">
            <a:off x="1783976" y="5567336"/>
            <a:ext cx="6248774" cy="7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BDB5BB3-3405-36D1-9D31-35E522F9CA5A}"/>
              </a:ext>
            </a:extLst>
          </p:cNvPr>
          <p:cNvCxnSpPr>
            <a:cxnSpLocks/>
          </p:cNvCxnSpPr>
          <p:nvPr/>
        </p:nvCxnSpPr>
        <p:spPr>
          <a:xfrm>
            <a:off x="1783976" y="5440289"/>
            <a:ext cx="0" cy="255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109474D-126E-A1E9-9E2A-7242C8D5F14A}"/>
              </a:ext>
            </a:extLst>
          </p:cNvPr>
          <p:cNvCxnSpPr>
            <a:cxnSpLocks/>
          </p:cNvCxnSpPr>
          <p:nvPr/>
        </p:nvCxnSpPr>
        <p:spPr>
          <a:xfrm>
            <a:off x="8041715" y="5440289"/>
            <a:ext cx="0" cy="255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0D3ADC2-E808-E82A-D6CA-05A2104AD6BF}"/>
              </a:ext>
            </a:extLst>
          </p:cNvPr>
          <p:cNvSpPr txBox="1"/>
          <p:nvPr/>
        </p:nvSpPr>
        <p:spPr>
          <a:xfrm>
            <a:off x="4396740" y="5483441"/>
            <a:ext cx="59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Segoe UI Variable Small" pitchFamily="2" charset="0"/>
              </a:rPr>
              <a:t>Train</a:t>
            </a:r>
            <a:r>
              <a:rPr lang="ko-KR" altLang="en-US" sz="1800" b="1" dirty="0">
                <a:latin typeface="Segoe UI Variable Small" pitchFamily="2" charset="0"/>
              </a:rPr>
              <a:t> </a:t>
            </a:r>
            <a:endParaRPr lang="ko-KR" altLang="en-US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DF54E54-789D-4B6B-5488-61A1A6305581}"/>
              </a:ext>
            </a:extLst>
          </p:cNvPr>
          <p:cNvCxnSpPr>
            <a:cxnSpLocks/>
          </p:cNvCxnSpPr>
          <p:nvPr/>
        </p:nvCxnSpPr>
        <p:spPr>
          <a:xfrm>
            <a:off x="8041715" y="5567336"/>
            <a:ext cx="27686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824C99B-4DEE-E1F3-4ED3-D2ED07CF0FA2}"/>
              </a:ext>
            </a:extLst>
          </p:cNvPr>
          <p:cNvCxnSpPr>
            <a:cxnSpLocks/>
          </p:cNvCxnSpPr>
          <p:nvPr/>
        </p:nvCxnSpPr>
        <p:spPr>
          <a:xfrm>
            <a:off x="10810315" y="5451375"/>
            <a:ext cx="0" cy="255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26AF4B-5078-64EB-3E61-56B28200E7F8}"/>
              </a:ext>
            </a:extLst>
          </p:cNvPr>
          <p:cNvSpPr txBox="1"/>
          <p:nvPr/>
        </p:nvSpPr>
        <p:spPr>
          <a:xfrm>
            <a:off x="9256395" y="554663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Segoe UI Variable Small" pitchFamily="2" charset="0"/>
              </a:rPr>
              <a:t>Test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0124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E76F-A83F-7B6E-A507-4E2DD554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70D72-70A8-9534-DC2B-0B3FE7B3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Influenza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전체기간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(Global)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1A6C5-D45E-B850-C3BF-016E487F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17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807175F-5715-ECF7-3B23-4EDA9BBF6BFC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416B71C-96E5-BB20-BFFF-A2501B60E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9" y="1457448"/>
            <a:ext cx="9549279" cy="40575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CDC249-8830-1105-EE2D-E1107B6E05F6}"/>
              </a:ext>
            </a:extLst>
          </p:cNvPr>
          <p:cNvSpPr txBox="1"/>
          <p:nvPr/>
        </p:nvSpPr>
        <p:spPr>
          <a:xfrm>
            <a:off x="1937682" y="6026117"/>
            <a:ext cx="8218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Segoe UI Variable Small" pitchFamily="2" charset="0"/>
              </a:rPr>
              <a:t>2026</a:t>
            </a:r>
            <a:r>
              <a:rPr lang="ko-KR" altLang="en-US" b="1" dirty="0">
                <a:latin typeface="Segoe UI Variable Small" pitchFamily="2" charset="0"/>
              </a:rPr>
              <a:t>년도 상승곡선과 안정기를 잘 예측함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A28A0E-C42C-573B-2B60-AF61436EE51D}"/>
              </a:ext>
            </a:extLst>
          </p:cNvPr>
          <p:cNvSpPr txBox="1"/>
          <p:nvPr/>
        </p:nvSpPr>
        <p:spPr>
          <a:xfrm>
            <a:off x="9752476" y="438474"/>
            <a:ext cx="16013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선형회귀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Search1, </a:t>
            </a:r>
            <a:r>
              <a:rPr lang="ko-KR" altLang="en-US" sz="1200" b="1" dirty="0">
                <a:latin typeface="Segoe UI Variable Small" pitchFamily="2" charset="0"/>
              </a:rPr>
              <a:t>오한</a:t>
            </a:r>
            <a:endParaRPr lang="en-US" altLang="ko-KR" sz="1200" b="1" dirty="0">
              <a:latin typeface="Segoe UI Variable Small" pitchFamily="2" charset="0"/>
            </a:endParaRP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0.6695</a:t>
            </a:r>
          </a:p>
          <a:p>
            <a:r>
              <a:rPr lang="en-US" altLang="ko-KR" sz="1200" b="1" dirty="0"/>
              <a:t>RMSE: 5.8529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68476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79DAA-7902-200D-B6D0-D5D7F251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C71B8-22CF-A465-B9A3-80AD1EE4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Norovirus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전체기간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(Global)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79ABA-AE4F-AFA3-4B15-725D2A0D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18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6D3B13D-7079-F191-E545-6C20F4C2CEE7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058535F-64CD-9A08-6709-CA70B627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60" y="1457448"/>
            <a:ext cx="9549279" cy="40575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ED6C00-5228-352D-B333-D270AD9F7656}"/>
              </a:ext>
            </a:extLst>
          </p:cNvPr>
          <p:cNvSpPr txBox="1"/>
          <p:nvPr/>
        </p:nvSpPr>
        <p:spPr>
          <a:xfrm>
            <a:off x="9755930" y="414506"/>
            <a:ext cx="18394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선형회귀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Search2,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endParaRPr lang="en-US" altLang="ko-KR" sz="1200" b="1" dirty="0">
              <a:latin typeface="Segoe UI Variable Small" pitchFamily="2" charset="0"/>
            </a:endParaRP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-0.0083</a:t>
            </a:r>
          </a:p>
          <a:p>
            <a:r>
              <a:rPr lang="en-US" altLang="ko-KR" sz="1200" b="1" dirty="0"/>
              <a:t>RMSE: 29.4741</a:t>
            </a:r>
            <a:endParaRPr lang="ko-KR" altLang="en-US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817146-82F6-9528-16E3-3F2A490D4C6D}"/>
              </a:ext>
            </a:extLst>
          </p:cNvPr>
          <p:cNvSpPr txBox="1"/>
          <p:nvPr/>
        </p:nvSpPr>
        <p:spPr>
          <a:xfrm>
            <a:off x="1937682" y="5821240"/>
            <a:ext cx="8218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추세는 어느정도 반영하였으나 실제 하수 농도 값과는 거리가 멀다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</a:p>
          <a:p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89354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AA55-BFD7-48DF-028E-F58347A9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5E3DF-E960-CCAE-D470-D6EE552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SARS-CoV-2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(Seasonal)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472F80-EA53-B838-6FF1-4284399F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19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4BF710D-FFDE-8AF9-3FDF-6088EBD24E53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DE4B2-C89C-CBC3-BC84-51857F1ECB6F}"/>
              </a:ext>
            </a:extLst>
          </p:cNvPr>
          <p:cNvSpPr txBox="1"/>
          <p:nvPr/>
        </p:nvSpPr>
        <p:spPr>
          <a:xfrm>
            <a:off x="1937682" y="5821240"/>
            <a:ext cx="8218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추세는 어느정도 반영하였으나 실제 하수 농도 값과는 거리가 멀다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</a:p>
          <a:p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A2CA33-291F-6E1D-BBE5-C47857F51032}"/>
              </a:ext>
            </a:extLst>
          </p:cNvPr>
          <p:cNvSpPr txBox="1"/>
          <p:nvPr/>
        </p:nvSpPr>
        <p:spPr>
          <a:xfrm>
            <a:off x="9413311" y="136525"/>
            <a:ext cx="29146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선형회귀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Spring: </a:t>
            </a:r>
            <a:r>
              <a:rPr lang="ko-KR" altLang="en-US" sz="1200" b="1" dirty="0">
                <a:latin typeface="Segoe UI Variable Small" pitchFamily="2" charset="0"/>
              </a:rPr>
              <a:t>인후통 </a:t>
            </a:r>
            <a:r>
              <a:rPr lang="en-US" altLang="ko-KR" sz="1200" b="1" dirty="0" err="1">
                <a:latin typeface="Segoe UI Variable Small" pitchFamily="2" charset="0"/>
              </a:rPr>
              <a:t>nolag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Fall: SARS-CoV-2 search3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Winter: </a:t>
            </a:r>
            <a:r>
              <a:rPr lang="ko-KR" altLang="en-US" sz="1200" b="1" dirty="0">
                <a:latin typeface="Segoe UI Variable Small" pitchFamily="2" charset="0"/>
              </a:rPr>
              <a:t>숨가쁨 </a:t>
            </a:r>
            <a:r>
              <a:rPr lang="en-US" altLang="ko-KR" sz="1200" b="1" dirty="0">
                <a:latin typeface="Segoe UI Variable Small" pitchFamily="2" charset="0"/>
              </a:rPr>
              <a:t>search1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-179.3331</a:t>
            </a:r>
          </a:p>
          <a:p>
            <a:r>
              <a:rPr lang="en-US" altLang="ko-KR" sz="1200" b="1" dirty="0"/>
              <a:t>RMSE: 15.7482</a:t>
            </a:r>
            <a:endParaRPr lang="ko-KR" altLang="en-US" sz="12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16E048A-893F-6937-C47B-E1250D727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7" y="1457447"/>
            <a:ext cx="9549281" cy="40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68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FE02-F0F4-9A4A-22FB-9942A3FC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D0724-55C8-2FE1-0307-2B7675D5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Influenza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(Seasonal)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84039-C477-12C2-415D-1C9D2AC9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20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701EC9F-57C0-9BB6-0EB2-66BAB8AA20C7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5F972-14E9-3F1F-708E-FCA9E714A89E}"/>
              </a:ext>
            </a:extLst>
          </p:cNvPr>
          <p:cNvSpPr txBox="1"/>
          <p:nvPr/>
        </p:nvSpPr>
        <p:spPr>
          <a:xfrm>
            <a:off x="9413311" y="136525"/>
            <a:ext cx="2914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선형회귀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Spring: </a:t>
            </a:r>
            <a:r>
              <a:rPr lang="ko-KR" altLang="en-US" sz="1200" b="1" dirty="0">
                <a:latin typeface="Segoe UI Variable Small" pitchFamily="2" charset="0"/>
              </a:rPr>
              <a:t>인플루엔자 </a:t>
            </a:r>
            <a:r>
              <a:rPr lang="en-US" altLang="ko-KR" sz="1200" b="1" dirty="0" err="1">
                <a:latin typeface="Segoe UI Variable Small" pitchFamily="2" charset="0"/>
              </a:rPr>
              <a:t>nolag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Winter: </a:t>
            </a:r>
            <a:r>
              <a:rPr lang="ko-KR" altLang="en-US" sz="1200" b="1" dirty="0">
                <a:latin typeface="Segoe UI Variable Small" pitchFamily="2" charset="0"/>
              </a:rPr>
              <a:t>인플루엔자 </a:t>
            </a:r>
            <a:r>
              <a:rPr lang="en-US" altLang="ko-KR" sz="1200" b="1" dirty="0">
                <a:latin typeface="Segoe UI Variable Small" pitchFamily="2" charset="0"/>
              </a:rPr>
              <a:t>search1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0.8272</a:t>
            </a:r>
          </a:p>
          <a:p>
            <a:r>
              <a:rPr lang="en-US" altLang="ko-KR" sz="1200" b="1" dirty="0"/>
              <a:t>RMSE: 4.2319</a:t>
            </a:r>
            <a:endParaRPr lang="ko-KR" altLang="en-US" sz="12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59C892-0462-147F-31AB-2060D8F88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7" y="1457447"/>
            <a:ext cx="9549281" cy="4056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8CD6D0-3DD7-A6EA-7144-DEC8D2E42F28}"/>
              </a:ext>
            </a:extLst>
          </p:cNvPr>
          <p:cNvSpPr txBox="1"/>
          <p:nvPr/>
        </p:nvSpPr>
        <p:spPr>
          <a:xfrm>
            <a:off x="1937682" y="6026117"/>
            <a:ext cx="8218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Segoe UI Variable Small" pitchFamily="2" charset="0"/>
              </a:rPr>
              <a:t>2026</a:t>
            </a:r>
            <a:r>
              <a:rPr lang="ko-KR" altLang="en-US" b="1" dirty="0">
                <a:latin typeface="Segoe UI Variable Small" pitchFamily="2" charset="0"/>
              </a:rPr>
              <a:t>년도 상승곡선과 안정기를 잘 예측함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sp>
        <p:nvSpPr>
          <p:cNvPr id="12" name="별: 꼭짓점 5개 11">
            <a:extLst>
              <a:ext uri="{FF2B5EF4-FFF2-40B4-BE49-F238E27FC236}">
                <a16:creationId xmlns:a16="http://schemas.microsoft.com/office/drawing/2014/main" id="{57B822DB-9889-9096-2B39-5AB1AFB114A9}"/>
              </a:ext>
            </a:extLst>
          </p:cNvPr>
          <p:cNvSpPr/>
          <p:nvPr/>
        </p:nvSpPr>
        <p:spPr>
          <a:xfrm>
            <a:off x="1246094" y="1343025"/>
            <a:ext cx="277906" cy="279587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443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52A3-A511-9C84-FC88-309E8A47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0D99E-A326-668A-5F71-F64A44B5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Norovirus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(Seasonal)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04B7D-4017-420A-7E90-73C2C33A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21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4091840-0E3B-E6F4-2CDE-AB9F59916AD9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925DE2-23B5-27F3-137A-B0ABFB704AA5}"/>
              </a:ext>
            </a:extLst>
          </p:cNvPr>
          <p:cNvSpPr txBox="1"/>
          <p:nvPr/>
        </p:nvSpPr>
        <p:spPr>
          <a:xfrm>
            <a:off x="1937682" y="5821240"/>
            <a:ext cx="8218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추세는 어느정도 반영하였으나 실제 하수 농도 값과는 거리가 멀다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</a:p>
          <a:p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1E4062-BC44-9DDC-1FFC-EA2E388622A7}"/>
              </a:ext>
            </a:extLst>
          </p:cNvPr>
          <p:cNvSpPr txBox="1"/>
          <p:nvPr/>
        </p:nvSpPr>
        <p:spPr>
          <a:xfrm>
            <a:off x="9413311" y="136525"/>
            <a:ext cx="29146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Segoe UI Variable Small" pitchFamily="2" charset="0"/>
              </a:rPr>
              <a:t>선형회귀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Spring: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search3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Fall: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search1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Winter: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search3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0.1328</a:t>
            </a:r>
          </a:p>
          <a:p>
            <a:r>
              <a:rPr lang="en-US" altLang="ko-KR" sz="1200" b="1" dirty="0"/>
              <a:t>RMSE: 27.3352</a:t>
            </a:r>
            <a:endParaRPr lang="ko-KR" altLang="en-US" sz="12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6C281A-35C7-98D4-783E-A938FCFFC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6" y="1457447"/>
            <a:ext cx="9549281" cy="4058502"/>
          </a:xfrm>
          <a:prstGeom prst="rect">
            <a:avLst/>
          </a:prstGeom>
        </p:spPr>
      </p:pic>
      <p:sp>
        <p:nvSpPr>
          <p:cNvPr id="10" name="별: 꼭짓점 5개 9">
            <a:extLst>
              <a:ext uri="{FF2B5EF4-FFF2-40B4-BE49-F238E27FC236}">
                <a16:creationId xmlns:a16="http://schemas.microsoft.com/office/drawing/2014/main" id="{07BF89BE-9643-A196-ECF7-F3DF26ECB796}"/>
              </a:ext>
            </a:extLst>
          </p:cNvPr>
          <p:cNvSpPr/>
          <p:nvPr/>
        </p:nvSpPr>
        <p:spPr>
          <a:xfrm>
            <a:off x="1246094" y="1343025"/>
            <a:ext cx="277906" cy="279587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20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FF2A-0BA1-839A-7707-F3B2C2018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93F6-2081-B945-16FB-7C4B4A3E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SARS-CoV-2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+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(Mixed)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48E6C-6CF3-0097-2263-B4F7166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22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2C34DDB-96AA-9907-684A-CCD80C88D134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61A43-D351-6A20-20B9-59F87B92A357}"/>
              </a:ext>
            </a:extLst>
          </p:cNvPr>
          <p:cNvSpPr txBox="1"/>
          <p:nvPr/>
        </p:nvSpPr>
        <p:spPr>
          <a:xfrm>
            <a:off x="1937682" y="5821240"/>
            <a:ext cx="8218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추세는 어느정도 반영하였으나 실제 하수 농도 값과는 거리가 멀다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</a:p>
          <a:p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FD616B-8A70-66FD-361F-DFE37E418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5" y="1457447"/>
            <a:ext cx="9549282" cy="40575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ED02D2-23BB-BB4E-2E0C-1D7626DFB73C}"/>
              </a:ext>
            </a:extLst>
          </p:cNvPr>
          <p:cNvSpPr txBox="1"/>
          <p:nvPr/>
        </p:nvSpPr>
        <p:spPr>
          <a:xfrm>
            <a:off x="9277347" y="136525"/>
            <a:ext cx="29146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</a:rPr>
              <a:t>Lasso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Global: </a:t>
            </a:r>
            <a:r>
              <a:rPr lang="ko-KR" altLang="en-US" sz="1200" b="1" dirty="0">
                <a:latin typeface="Segoe UI Variable Small" pitchFamily="2" charset="0"/>
              </a:rPr>
              <a:t>코로나</a:t>
            </a:r>
            <a:r>
              <a:rPr lang="en-US" altLang="ko-KR" sz="1200" b="1" dirty="0">
                <a:latin typeface="Segoe UI Variable Small" pitchFamily="2" charset="0"/>
              </a:rPr>
              <a:t>19 search1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Spring: </a:t>
            </a:r>
            <a:r>
              <a:rPr lang="ko-KR" altLang="en-US" sz="1200" b="1" dirty="0">
                <a:latin typeface="Segoe UI Variable Small" pitchFamily="2" charset="0"/>
              </a:rPr>
              <a:t>인후통 </a:t>
            </a:r>
            <a:r>
              <a:rPr lang="en-US" altLang="ko-KR" sz="1200" b="1" dirty="0" err="1">
                <a:latin typeface="Segoe UI Variable Small" pitchFamily="2" charset="0"/>
              </a:rPr>
              <a:t>nolag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Fall: SARS-CoV-2 search3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Winter: </a:t>
            </a:r>
            <a:r>
              <a:rPr lang="ko-KR" altLang="en-US" sz="1200" b="1" dirty="0">
                <a:latin typeface="Segoe UI Variable Small" pitchFamily="2" charset="0"/>
              </a:rPr>
              <a:t>숨가쁨 </a:t>
            </a:r>
            <a:r>
              <a:rPr lang="en-US" altLang="ko-KR" sz="1200" b="1" dirty="0">
                <a:latin typeface="Segoe UI Variable Small" pitchFamily="2" charset="0"/>
              </a:rPr>
              <a:t>search1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-64.6327</a:t>
            </a:r>
          </a:p>
          <a:p>
            <a:r>
              <a:rPr lang="en-US" altLang="ko-KR" sz="1200" b="1" dirty="0"/>
              <a:t>RMSE: 9.5007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31612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055A-0312-7D34-5961-0BA448EF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1B6B7-9332-6A6A-14AC-7AF4EDA4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Influenza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+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(Mixed)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742B99-8BBE-5CED-E80B-994F452B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23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46B58DB-0A16-7920-6FA6-5E5955D6BA82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1E43AA-00BF-AC91-59B1-80AE0820F8E6}"/>
              </a:ext>
            </a:extLst>
          </p:cNvPr>
          <p:cNvSpPr txBox="1"/>
          <p:nvPr/>
        </p:nvSpPr>
        <p:spPr>
          <a:xfrm>
            <a:off x="9413311" y="136525"/>
            <a:ext cx="29146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</a:rPr>
              <a:t>Lasso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Global: </a:t>
            </a:r>
            <a:r>
              <a:rPr lang="ko-KR" altLang="en-US" sz="1200" b="1" dirty="0">
                <a:latin typeface="Segoe UI Variable Small" pitchFamily="2" charset="0"/>
              </a:rPr>
              <a:t>오한 </a:t>
            </a:r>
            <a:r>
              <a:rPr lang="en-US" altLang="ko-KR" sz="1200" b="1" dirty="0">
                <a:latin typeface="Segoe UI Variable Small" pitchFamily="2" charset="0"/>
              </a:rPr>
              <a:t>search2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Spring: </a:t>
            </a:r>
            <a:r>
              <a:rPr lang="ko-KR" altLang="en-US" sz="1200" b="1" dirty="0">
                <a:latin typeface="Segoe UI Variable Small" pitchFamily="2" charset="0"/>
              </a:rPr>
              <a:t>인플루엔자 </a:t>
            </a:r>
            <a:r>
              <a:rPr lang="en-US" altLang="ko-KR" sz="1200" b="1" dirty="0" err="1">
                <a:latin typeface="Segoe UI Variable Small" pitchFamily="2" charset="0"/>
              </a:rPr>
              <a:t>nolag</a:t>
            </a:r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Winter: </a:t>
            </a:r>
            <a:r>
              <a:rPr lang="ko-KR" altLang="en-US" sz="1200" b="1" dirty="0">
                <a:latin typeface="Segoe UI Variable Small" pitchFamily="2" charset="0"/>
              </a:rPr>
              <a:t>인플루엔자 </a:t>
            </a:r>
            <a:r>
              <a:rPr lang="en-US" altLang="ko-KR" sz="1200" b="1" dirty="0">
                <a:latin typeface="Segoe UI Variable Small" pitchFamily="2" charset="0"/>
              </a:rPr>
              <a:t>search1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0.7939</a:t>
            </a:r>
          </a:p>
          <a:p>
            <a:r>
              <a:rPr lang="en-US" altLang="ko-KR" sz="1200" b="1" dirty="0"/>
              <a:t>RMSE: 4.6216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DCDDD-1AB9-CF9E-E7F4-99A7B83CBE36}"/>
              </a:ext>
            </a:extLst>
          </p:cNvPr>
          <p:cNvSpPr txBox="1"/>
          <p:nvPr/>
        </p:nvSpPr>
        <p:spPr>
          <a:xfrm>
            <a:off x="1937682" y="6026117"/>
            <a:ext cx="8218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Segoe UI Variable Small" pitchFamily="2" charset="0"/>
              </a:rPr>
              <a:t>2026</a:t>
            </a:r>
            <a:r>
              <a:rPr lang="ko-KR" altLang="en-US" b="1" dirty="0">
                <a:latin typeface="Segoe UI Variable Small" pitchFamily="2" charset="0"/>
              </a:rPr>
              <a:t>년도 상승곡선과 안정기를 잘 예측함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8638C81-68B9-52E6-690B-182870C57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047" y="1457446"/>
            <a:ext cx="9549282" cy="40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5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5A74-2F7C-26BE-49D3-596C64B2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F76D4-87E2-F74C-460B-D7603A3C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Norovirus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전체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+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계절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(Mixed)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73407C-473E-C34E-1AA6-767E842E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24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E226DAD-BCB3-4ED1-9B30-C9EF96E7BFA5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ko-KR" dirty="0">
              <a:latin typeface="Segoe UI Variable Small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A29244-6897-B4F3-789B-8DE07910B24D}"/>
              </a:ext>
            </a:extLst>
          </p:cNvPr>
          <p:cNvSpPr txBox="1"/>
          <p:nvPr/>
        </p:nvSpPr>
        <p:spPr>
          <a:xfrm>
            <a:off x="1937682" y="5821240"/>
            <a:ext cx="8218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Segoe UI Variable Small" pitchFamily="2" charset="0"/>
              </a:rPr>
              <a:t>추세는 어느정도 반영하였으나 실제 하수 농도 값과는 거리가 멀다</a:t>
            </a:r>
            <a:r>
              <a:rPr lang="en-US" altLang="ko-KR" b="1" dirty="0">
                <a:latin typeface="Segoe UI Variable Small" pitchFamily="2" charset="0"/>
              </a:rPr>
              <a:t>.</a:t>
            </a:r>
          </a:p>
          <a:p>
            <a:r>
              <a:rPr lang="ko-KR" altLang="en-US" b="1" dirty="0">
                <a:latin typeface="Segoe UI Variable Small" pitchFamily="2" charset="0"/>
              </a:rPr>
              <a:t> </a:t>
            </a:r>
            <a:endParaRPr lang="ko-KR" altLang="en-US" sz="16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CFD2A81-C3A6-57F6-35A2-AF41AF8D8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57" y="1457447"/>
            <a:ext cx="9549282" cy="4058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CAC6ED-9D2D-2C9D-5DFB-E643C2B9867A}"/>
              </a:ext>
            </a:extLst>
          </p:cNvPr>
          <p:cNvSpPr txBox="1"/>
          <p:nvPr/>
        </p:nvSpPr>
        <p:spPr>
          <a:xfrm>
            <a:off x="9413311" y="136525"/>
            <a:ext cx="29146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</a:rPr>
              <a:t>Lasso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Global: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search2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Spring: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search3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Fall: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search1</a:t>
            </a:r>
          </a:p>
          <a:p>
            <a:r>
              <a:rPr lang="en-US" altLang="ko-KR" sz="1200" b="1" dirty="0">
                <a:latin typeface="Segoe UI Variable Small" pitchFamily="2" charset="0"/>
              </a:rPr>
              <a:t>Winter: </a:t>
            </a:r>
            <a:r>
              <a:rPr lang="ko-KR" altLang="en-US" sz="1200" b="1" dirty="0" err="1">
                <a:latin typeface="Segoe UI Variable Small" pitchFamily="2" charset="0"/>
              </a:rPr>
              <a:t>노로바이러스</a:t>
            </a:r>
            <a:r>
              <a:rPr lang="ko-KR" altLang="en-US" sz="1200" b="1" dirty="0">
                <a:latin typeface="Segoe UI Variable Small" pitchFamily="2" charset="0"/>
              </a:rPr>
              <a:t> </a:t>
            </a:r>
            <a:r>
              <a:rPr lang="en-US" altLang="ko-KR" sz="1200" b="1" dirty="0">
                <a:latin typeface="Segoe UI Variable Small" pitchFamily="2" charset="0"/>
              </a:rPr>
              <a:t>search3</a:t>
            </a:r>
          </a:p>
          <a:p>
            <a:endParaRPr lang="en-US" altLang="ko-KR" sz="1200" b="1" dirty="0">
              <a:latin typeface="Segoe UI Variable Small" pitchFamily="2" charset="0"/>
            </a:endParaRPr>
          </a:p>
          <a:p>
            <a:r>
              <a:rPr lang="en-US" altLang="ko-KR" sz="1200" b="1" dirty="0">
                <a:latin typeface="Segoe UI Variable Small" pitchFamily="2" charset="0"/>
              </a:rPr>
              <a:t>R</a:t>
            </a:r>
            <a:r>
              <a:rPr lang="en-US" altLang="ko-KR" sz="1200" b="1" baseline="30000" dirty="0">
                <a:latin typeface="Segoe UI Variable Small" pitchFamily="2" charset="0"/>
              </a:rPr>
              <a:t>2</a:t>
            </a:r>
            <a:r>
              <a:rPr lang="en-US" altLang="ko-KR" sz="1200" b="1" dirty="0">
                <a:latin typeface="Segoe UI Variable Small" pitchFamily="2" charset="0"/>
              </a:rPr>
              <a:t>: 0.0948</a:t>
            </a:r>
          </a:p>
          <a:p>
            <a:r>
              <a:rPr lang="en-US" altLang="ko-KR" sz="1200" b="1" dirty="0"/>
              <a:t>RMSE: 27.9266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27902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6406-95CE-0964-CE12-C18E3C82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3A3CCF-1551-98D8-B9AB-862133DB6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결과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AA90C4-8B5C-E306-4287-085E9944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25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2A57748-BF25-3043-36D1-593B511D931E}"/>
              </a:ext>
            </a:extLst>
          </p:cNvPr>
          <p:cNvSpPr txBox="1">
            <a:spLocks/>
          </p:cNvSpPr>
          <p:nvPr/>
        </p:nvSpPr>
        <p:spPr>
          <a:xfrm>
            <a:off x="740336" y="1085850"/>
            <a:ext cx="10613463" cy="5486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ko-KR" sz="2400" b="1" dirty="0">
              <a:latin typeface="Segoe UI Variable Small" pitchFamily="2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6C0F4C-0571-D90B-CEAC-9C9D0E7E9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05961"/>
              </p:ext>
            </p:extLst>
          </p:nvPr>
        </p:nvGraphicFramePr>
        <p:xfrm>
          <a:off x="2958427" y="2257556"/>
          <a:ext cx="6177280" cy="23428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3957905093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324672624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159078643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87386454"/>
                    </a:ext>
                  </a:extLst>
                </a:gridCol>
              </a:tblGrid>
              <a:tr h="564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Infectious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Disease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계절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계절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35594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SARS-CoV2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1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1" dirty="0">
                          <a:latin typeface="Segoe UI Variable Small" pitchFamily="2" charset="0"/>
                        </a:rPr>
                        <a:t>: -1.0495</a:t>
                      </a:r>
                    </a:p>
                    <a:p>
                      <a:pPr algn="ctr"/>
                      <a:r>
                        <a:rPr lang="en-US" altLang="ko-KR" sz="1200" b="1" dirty="0"/>
                        <a:t>RMSE: 1.6752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0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0" dirty="0">
                          <a:latin typeface="Segoe UI Variable Small" pitchFamily="2" charset="0"/>
                        </a:rPr>
                        <a:t>: -179.3331</a:t>
                      </a:r>
                    </a:p>
                    <a:p>
                      <a:pPr algn="ctr"/>
                      <a:r>
                        <a:rPr lang="en-US" altLang="ko-KR" sz="1200" b="0" dirty="0"/>
                        <a:t>RMSE: 15.7482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0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0" dirty="0">
                          <a:latin typeface="Segoe UI Variable Small" pitchFamily="2" charset="0"/>
                        </a:rPr>
                        <a:t>: -64.6327</a:t>
                      </a:r>
                    </a:p>
                    <a:p>
                      <a:pPr algn="ctr"/>
                      <a:r>
                        <a:rPr lang="en-US" altLang="ko-KR" sz="1200" b="0" dirty="0"/>
                        <a:t>RMSE: 9.5007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581586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Influenza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0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0" dirty="0">
                          <a:latin typeface="Segoe UI Variable Small" pitchFamily="2" charset="0"/>
                        </a:rPr>
                        <a:t>: 0.6695</a:t>
                      </a:r>
                    </a:p>
                    <a:p>
                      <a:pPr algn="ctr"/>
                      <a:r>
                        <a:rPr lang="en-US" altLang="ko-KR" sz="1200" b="0" dirty="0"/>
                        <a:t>RMSE: 5.8529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1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1" dirty="0">
                          <a:latin typeface="Segoe UI Variable Small" pitchFamily="2" charset="0"/>
                        </a:rPr>
                        <a:t>: 0.8272</a:t>
                      </a:r>
                    </a:p>
                    <a:p>
                      <a:pPr algn="ctr"/>
                      <a:r>
                        <a:rPr lang="en-US" altLang="ko-KR" sz="1200" b="1" dirty="0"/>
                        <a:t>RMSE: 4.2319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0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0" dirty="0">
                          <a:latin typeface="Segoe UI Variable Small" pitchFamily="2" charset="0"/>
                        </a:rPr>
                        <a:t>: 0.7939</a:t>
                      </a:r>
                    </a:p>
                    <a:p>
                      <a:pPr algn="ctr"/>
                      <a:r>
                        <a:rPr lang="en-US" altLang="ko-KR" sz="1200" b="0" dirty="0"/>
                        <a:t>RMSE: 4.6216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01046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Norovirus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0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0" dirty="0">
                          <a:latin typeface="Segoe UI Variable Small" pitchFamily="2" charset="0"/>
                        </a:rPr>
                        <a:t>: -0.0083</a:t>
                      </a:r>
                    </a:p>
                    <a:p>
                      <a:pPr algn="ctr"/>
                      <a:r>
                        <a:rPr lang="en-US" altLang="ko-KR" sz="1200" b="0" dirty="0"/>
                        <a:t>RMSE: 29.4741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1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1" dirty="0">
                          <a:latin typeface="Segoe UI Variable Small" pitchFamily="2" charset="0"/>
                        </a:rPr>
                        <a:t>: 0.1328</a:t>
                      </a:r>
                    </a:p>
                    <a:p>
                      <a:pPr algn="ctr"/>
                      <a:r>
                        <a:rPr lang="en-US" altLang="ko-KR" sz="1200" b="1" dirty="0"/>
                        <a:t>RMSE: 27.3352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Segoe UI Variable Small" pitchFamily="2" charset="0"/>
                        </a:rPr>
                        <a:t>R</a:t>
                      </a:r>
                      <a:r>
                        <a:rPr lang="en-US" altLang="ko-KR" sz="1200" b="0" baseline="30000" dirty="0">
                          <a:latin typeface="Segoe UI Variable Small" pitchFamily="2" charset="0"/>
                        </a:rPr>
                        <a:t>2</a:t>
                      </a:r>
                      <a:r>
                        <a:rPr lang="en-US" altLang="ko-KR" sz="1200" b="0" dirty="0">
                          <a:latin typeface="Segoe UI Variable Small" pitchFamily="2" charset="0"/>
                        </a:rPr>
                        <a:t>: 0.0948</a:t>
                      </a:r>
                    </a:p>
                    <a:p>
                      <a:pPr algn="ctr"/>
                      <a:r>
                        <a:rPr lang="en-US" altLang="ko-KR" sz="1200" b="0" dirty="0"/>
                        <a:t>RMSE: 27.9266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98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55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923</Words>
  <Application>Microsoft Office PowerPoint</Application>
  <PresentationFormat>와이드스크린</PresentationFormat>
  <Paragraphs>348</Paragraphs>
  <Slides>25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맑은 고딕</vt:lpstr>
      <vt:lpstr>Arial</vt:lpstr>
      <vt:lpstr>Cambria Math</vt:lpstr>
      <vt:lpstr>Segoe UI Variable Small</vt:lpstr>
      <vt:lpstr>Office 테마</vt:lpstr>
      <vt:lpstr>EpiSearch</vt:lpstr>
      <vt:lpstr>Outline</vt:lpstr>
      <vt:lpstr>Data</vt:lpstr>
      <vt:lpstr>Data</vt:lpstr>
      <vt:lpstr>Data Source</vt:lpstr>
      <vt:lpstr>Trends of Sewage &amp; Search Volume: SARS-CoV-2</vt:lpstr>
      <vt:lpstr>Trends of Sewage &amp; Search Volume: Influenza</vt:lpstr>
      <vt:lpstr>Trends of Sewage &amp; Search Volume: Norovirus</vt:lpstr>
      <vt:lpstr>Trends of Sewage Volume by Infectious Disease</vt:lpstr>
      <vt:lpstr>Method</vt:lpstr>
      <vt:lpstr>Framework</vt:lpstr>
      <vt:lpstr>Results</vt:lpstr>
      <vt:lpstr>전체 기간 상관분석</vt:lpstr>
      <vt:lpstr>계절 상관분석</vt:lpstr>
      <vt:lpstr>Predictive Model</vt:lpstr>
      <vt:lpstr>SARS-CoV-2 전체기간 (Global)</vt:lpstr>
      <vt:lpstr>Influenza 전체기간 (Global)</vt:lpstr>
      <vt:lpstr>Norovirus 전체기간 (Global)</vt:lpstr>
      <vt:lpstr>SARS-CoV-2 계절 (Seasonal)</vt:lpstr>
      <vt:lpstr>Influenza 계절 (Seasonal)</vt:lpstr>
      <vt:lpstr>Norovirus 계절 (Seasonal)</vt:lpstr>
      <vt:lpstr>SARS-CoV-2 전체+계절 (Mixed)</vt:lpstr>
      <vt:lpstr>Influenza 전체+계절 (Mixed)</vt:lpstr>
      <vt:lpstr>Norovirus 전체+계절 (Mixed)</vt:lpstr>
      <vt:lpstr>결과 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17</cp:revision>
  <dcterms:created xsi:type="dcterms:W3CDTF">2026-09-13T10:01:59Z</dcterms:created>
  <dcterms:modified xsi:type="dcterms:W3CDTF">2026-09-16T05:10:42Z</dcterms:modified>
</cp:coreProperties>
</file>