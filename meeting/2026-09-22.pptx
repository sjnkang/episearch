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7" r:id="rId2"/>
    <p:sldId id="258" r:id="rId3"/>
    <p:sldId id="316" r:id="rId4"/>
    <p:sldId id="319" r:id="rId5"/>
    <p:sldId id="318" r:id="rId6"/>
    <p:sldId id="317" r:id="rId7"/>
    <p:sldId id="320" r:id="rId8"/>
    <p:sldId id="321" r:id="rId9"/>
    <p:sldId id="322" r:id="rId10"/>
    <p:sldId id="293" r:id="rId11"/>
    <p:sldId id="324" r:id="rId12"/>
    <p:sldId id="327" r:id="rId13"/>
    <p:sldId id="325" r:id="rId14"/>
    <p:sldId id="326" r:id="rId15"/>
    <p:sldId id="328" r:id="rId16"/>
    <p:sldId id="329" r:id="rId17"/>
    <p:sldId id="330" r:id="rId18"/>
    <p:sldId id="331" r:id="rId19"/>
    <p:sldId id="332" r:id="rId20"/>
    <p:sldId id="333" r:id="rId21"/>
    <p:sldId id="334" r:id="rId22"/>
    <p:sldId id="339" r:id="rId23"/>
    <p:sldId id="340" r:id="rId24"/>
    <p:sldId id="341" r:id="rId25"/>
    <p:sldId id="336" r:id="rId26"/>
    <p:sldId id="337" r:id="rId27"/>
    <p:sldId id="335" r:id="rId28"/>
    <p:sldId id="338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4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5FEF97-EB89-4CE2-9A05-DD7C42310DD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5C1087-5ADD-45FD-A1BF-AD9178EAE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0090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79DBCA-738F-45AD-B1D5-0651DCA9246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4711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63098-051C-DDAB-3231-C4728E9D6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13793-E84A-1744-E0E5-AF68D4739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401E26-16A3-0D06-4154-794DC72134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867B30-18F8-CE8E-D040-9D39CEACDC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1964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74407-8346-1391-DC34-4962F30E3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6C49AD-78CD-41D1-5EBD-7DF4AD9FE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DEFC03-C5EF-13AE-EE5B-88AE3747F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0597DD-7378-6D9A-ABE2-AA23BDE1F8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6743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17697-D461-D7A1-08E5-713007212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7C5292-1E38-0DC1-7F94-A4612A7BC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AFF2F3-51AD-F337-82CD-225A4D893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637729-5464-F5FE-51D2-4AE1BCAB01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3080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879E-246F-8922-D0C4-5FE2763F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0B4413-6C00-D7C4-4D61-DE0D27AA0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B95347-6FD9-1D6C-7ABD-04A68FE45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194E3E-19F9-EEE2-DACF-137D7744C6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8807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EA5A3-C7D3-D782-2428-DF7B6D550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7D8858-C043-81E4-819E-582647179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6E4308-30D4-CB0F-F610-F106C30C3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F10B38-F5FD-89A2-F550-E6A24705A4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7211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72AB-7A79-BFBF-FAEA-5A040AAA0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CF2170-EE53-A493-2FB0-0CA5F57634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2F7E08-0E42-5AFC-7BFA-F8797123D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18BD4-3342-8376-1BEC-42CD62E33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5570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ACC68-15F5-6940-1E67-ED59840A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3E554E-EE2D-A753-E402-D5338B2E41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D4FCC6-D577-1C88-804C-9C49C3650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8B314A-79E7-5E4F-5FD8-57B7B76A8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38742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6AA8-78DE-1783-78BB-C71DE141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7DCC29-BBDB-2DEB-84FF-DC2D1E745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DC0A82-C3C7-5B4B-874F-BB6AC2470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91FDD2-99FB-7A11-7FCB-304E88FC9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4410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BC46C-A8C3-10DF-A612-E8496A85B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9C05DF-C36F-87E1-F7B4-54FAEDDCDD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B5E886-698E-3C1A-3508-976957C442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2DB27-B863-632A-BEB7-3898E3D8E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30119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726E-493F-90BB-4638-2E9BCFB3E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B86219-2B4F-2AAB-7813-B3FABD88E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45E2EAC-C4B9-72C5-1F05-A02881027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7AA99F-1E37-BAC7-93FC-AD4751636B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5842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FA76B-EE80-810C-90E7-640EEC343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6D62FB-C925-EAD7-68DB-D646ABC5A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C3D92A-E84A-7767-96A8-662ECF1B3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40EF7A-EFB0-69B5-60B2-38C7F7A729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08321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7223A-5AF5-DAA9-BC01-C98FB7F0E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23B68D-983E-393E-09D0-62724CC4C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242CFA-F29A-E152-1DE4-EFD11E764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FE720-04B8-E13C-5440-FFEB3AAFC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7141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3FB30-E0D3-8014-38AA-C6D3325BB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6C2125-C1A1-2909-F6B2-8D3167E90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812CEA-3767-6334-B262-66D8A78786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F86E71-3CDE-6BF0-AF60-916E6BF728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5613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42ABD-64DA-F3BA-8DA2-B6B8509F7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0E683D-EBB4-E529-A9DD-7E7B6D6B5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E9281E-A3BE-6899-9A6B-60365B79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56D9F9-4084-F1A1-58C4-5A847282E7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643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4A31-E0C1-A392-9400-CBF407929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FEC08B-FEC4-8D7F-4921-3D547C2F5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20F7E3-F2F7-16EB-F847-BC8B8A348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AE4CA7-2DF7-F596-841C-F1C0F243A1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4576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99A05-D927-409E-ECE1-4C75D9B86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87E49E-CC6E-300B-5685-07F6F6C86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F7B94E-CA7B-52EE-6CD4-E7ADA9A96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3AC748-4520-6005-9047-3FB9C9966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36839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7FD4E-9A62-3F12-7AF9-E0B603980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C6FC3B-A7D6-832C-BAE0-8CCC3759D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91B400-5597-86A3-0BA3-BA461CA8B6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A82611-4064-392E-2B5D-7A8E834BBF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5198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90D63-713D-7AC1-068A-77334552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9E1A97-C0D2-2EC0-9315-5AE8B0671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F177AB-CA65-F180-8274-5CE1CC27FE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C340BF-4794-EDE6-088B-6333344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3554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2F422-702F-35D8-9679-2B83C8092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A27CB-2920-D037-1B66-7209D446B9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1375BD-4127-6121-5056-0F249C2DD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BE4151-15B7-ADDD-FC18-813A15796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6239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99E06-F4F5-2BC8-ED1F-22F36202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719C00-6E8E-64B1-CB2D-03B8F6EB2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DE5B54-CA95-0A3D-2537-85E3C6B93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FF0795-9BD8-93C4-5FF7-51CE7309E5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92424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67245-5B53-B8D9-5ED5-0D7177A3D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A63A42-9BAE-F26E-FCEC-DEBF7D5BB5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DD8CF5-4F43-3904-D92D-C55989CA1C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82586D-93B0-6A42-628F-AB7DB3A410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79746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62F1-54E1-4712-D814-E3AAD5318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0BA0AD-642D-1929-2CE2-37E69C848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9ABF4F-D2BC-B8A8-5F61-660D8BB23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34A875-582E-7CF0-7B45-E9A4953B61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3B962-9482-4F36-8949-7CD2CA744F36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06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BC7983-6441-6F98-F269-EA97BAE244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E4A6457-F6A2-CB52-60C5-23010AA086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9485AE-BCCB-AC24-CDA0-5043CA9F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5588EA-A5AB-B4FB-BFBF-D882BC0E5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941A6A-FE89-5056-42D0-04198F686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965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1520A-42E7-914D-3800-357AF9BFF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BC3B9D-78C0-D1CB-8837-48304B53F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29C055-DF7C-B876-C739-2659F0B77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25519A-A24F-37AF-EE94-C6D43EE56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5D9FBE-0661-D483-ADE1-721671CBA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51692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A31902-73AB-A25A-8C39-9FDFB4519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DD25EDE-7239-B499-9344-EA9BC8CA3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B0B9B5-05D9-5DFE-D74E-CBD7DC995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B1B2F6-687D-81CE-65C6-E4155ADF3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4E13D8-E993-0639-ED26-B461901E5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247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AC765-DE87-C7F6-36E7-33559CC3B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A8728F-C192-44B0-3C48-A4B0CDD211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B6CB47-B47C-50FD-93B4-1FD43380F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9F00D5-AEC2-267B-D374-25500373E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AC0716-78F5-0387-342D-E165A078E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B0583A1-1AA9-8041-47D9-00CC1F50D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509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8C3AE-4FC4-1F97-65DB-9C65D13B0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DA4D25-9B40-4E0B-2BAF-57C3D2D0B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439FCE9-C7AE-82AE-3999-917174AD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425DB0F-8B09-9698-3F27-DF0C9612AE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BE7441D-0C41-5E2F-D72A-FA81B3712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5F522B5-E943-8D6A-AAB9-ED268BDED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97CAD2D-7FB2-3B44-D8C3-8DBA8C6DD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F84C66D-A96C-3FC6-9660-44DC53B5A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816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677AA9-6885-9D58-4E98-693225D34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A861C31-2351-658D-672B-5708C4B8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B6850C-B5FA-CDD9-CE4D-6C3866D42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448120-998D-729C-8FF1-CB5BBB172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906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AB51A65-CD6B-E281-CA04-5E032B460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70EBF4C-722D-DFE1-0EBA-263FF0DC9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90D95B-6A09-7153-CC9D-335C4BCC1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3091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E3E981-9C3F-4B40-3303-47272B778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04E913-9B8A-D90B-05D7-98BF5ACB6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E46D3C3-4FE3-4E17-D2EA-E78211316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8052DB8-D779-20B0-814A-D165995DA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67C23C-351E-5692-E531-671B687F8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4AFEBB-545C-2FC0-3B2D-ED35D27A6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25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CC9450-9001-EA3D-2D69-D6AFC21A2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FC8BEC0-5964-8F62-755E-772640BF80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28DCF9-4F40-2B40-18DA-B7AFE3EA7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B32926D-DBC4-1446-4E63-7318B5BFF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D2A59D-46C1-351F-6708-541824ECA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33A910-7073-628E-1F31-244039B75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477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3403AF-D25A-D512-EF43-1B4A059E9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DBED862-4CEB-2436-5461-994F266D1A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CF7EE4-C9AF-8A6E-4A1C-32DA9A4F9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4D12C-E110-BC10-13FF-EE8B3349B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1C0AEC-7D9F-71C9-3DBC-E749CEEA3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0032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374735-F466-ECA8-B88D-CC8788D8AD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F3C5776-4CE5-E10F-CE0D-DF58A1C085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2E530A-2FF9-5498-2E86-D9EF5923B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C64698A-C6CE-DC85-D32A-495D96FCA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2965C3-9C8C-C185-1AB8-A1983E10E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6413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22B6C1F-1182-620D-E938-C2FD7DF19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DDF4042-0A32-347D-8743-0E12A0D4BA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DCD457-2F55-DE52-3BAF-2167E69CB1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BF4138-8CC2-4387-B0C3-3A049B08B0F8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5C1411-9BDE-B74A-F807-FFB27B2C8D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E57C26-5EFC-0AFD-5A53-7538574E0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F9A27A-97CC-41CD-98A8-B509504B10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862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A4E972B-3437-24CA-81C5-3C9178A85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8283" y="1427034"/>
            <a:ext cx="11104076" cy="2124075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5400" b="1" dirty="0">
                <a:latin typeface="Segoe UI Variable Small" pitchFamily="2" charset="0"/>
                <a:cs typeface="Times New Roman" panose="02020603050405020304" pitchFamily="18" charset="0"/>
              </a:rPr>
              <a:t>EpiSearch</a:t>
            </a:r>
            <a:endParaRPr lang="ko-KR" altLang="en-US" sz="5400" b="1" dirty="0"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1D00E97C-BAC9-2F9A-6244-0BF79AAA073C}"/>
              </a:ext>
            </a:extLst>
          </p:cNvPr>
          <p:cNvCxnSpPr>
            <a:cxnSpLocks/>
          </p:cNvCxnSpPr>
          <p:nvPr/>
        </p:nvCxnSpPr>
        <p:spPr>
          <a:xfrm>
            <a:off x="772646" y="3667180"/>
            <a:ext cx="10586653" cy="0"/>
          </a:xfrm>
          <a:prstGeom prst="line">
            <a:avLst/>
          </a:prstGeom>
          <a:ln w="222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74984EA7-0D6F-1540-BACD-13A41E344D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89" y="375062"/>
            <a:ext cx="2603686" cy="5957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CF0A89-D5DF-88EA-78E8-F622DA7FA90F}"/>
              </a:ext>
            </a:extLst>
          </p:cNvPr>
          <p:cNvSpPr txBox="1"/>
          <p:nvPr/>
        </p:nvSpPr>
        <p:spPr>
          <a:xfrm>
            <a:off x="10158115" y="6014540"/>
            <a:ext cx="1429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Segoe UI Variable Small" pitchFamily="2" charset="0"/>
                <a:cs typeface="Times New Roman" panose="02020603050405020304" pitchFamily="18" charset="0"/>
              </a:rPr>
              <a:t>2026. 9. .</a:t>
            </a:r>
            <a:endParaRPr lang="ko-KR" altLang="en-US" dirty="0"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C67962-551A-ABD9-AF22-68E0C1FDAACB}"/>
              </a:ext>
            </a:extLst>
          </p:cNvPr>
          <p:cNvSpPr txBox="1"/>
          <p:nvPr/>
        </p:nvSpPr>
        <p:spPr>
          <a:xfrm>
            <a:off x="772646" y="3667180"/>
            <a:ext cx="4203655" cy="456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atin typeface="Segoe UI Variable Small" pitchFamily="2" charset="0"/>
                <a:cs typeface="Times New Roman" panose="02020603050405020304" pitchFamily="18" charset="0"/>
              </a:rPr>
              <a:t>Seo-Jin Kang, </a:t>
            </a:r>
            <a:r>
              <a:rPr lang="en-US" altLang="ko-KR" b="1" dirty="0" err="1">
                <a:latin typeface="Segoe UI Variable Small" pitchFamily="2" charset="0"/>
                <a:cs typeface="Times New Roman" panose="02020603050405020304" pitchFamily="18" charset="0"/>
              </a:rPr>
              <a:t>Seongchan</a:t>
            </a:r>
            <a:r>
              <a:rPr lang="en-US" altLang="ko-KR" b="1" dirty="0">
                <a:latin typeface="Segoe UI Variable Small" pitchFamily="2" charset="0"/>
                <a:cs typeface="Times New Roman" panose="02020603050405020304" pitchFamily="18" charset="0"/>
              </a:rPr>
              <a:t> Kim*</a:t>
            </a:r>
            <a:endParaRPr lang="ko-KR" altLang="en-US" b="1" dirty="0"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ADA7415-3F62-A0B0-6F44-77BB9EDAB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295" y="323004"/>
            <a:ext cx="2878648" cy="54500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38D40CF-B43B-84FE-AD30-2DC25A85FE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279" y="419670"/>
            <a:ext cx="1746370" cy="545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021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D0FC69-2C96-4827-DCAB-E433AFE45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Outline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A45FAB-07CB-0C57-A0D0-DECC0A9007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Segoe UI Variable Small" pitchFamily="2" charset="0"/>
                <a:cs typeface="Times New Roman" panose="02020603050405020304" pitchFamily="18" charset="0"/>
              </a:rPr>
              <a:t>Data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Segoe UI Variable Small" pitchFamily="2" charset="0"/>
                <a:cs typeface="Times New Roman" panose="02020603050405020304" pitchFamily="18" charset="0"/>
              </a:rPr>
              <a:t>Method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Segoe UI Variable Small" pitchFamily="2" charset="0"/>
                <a:cs typeface="Times New Roman" panose="02020603050405020304" pitchFamily="18" charset="0"/>
              </a:rPr>
              <a:t>Results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Segoe UI Variable Small" pitchFamily="2" charset="0"/>
                <a:cs typeface="Times New Roman" panose="02020603050405020304" pitchFamily="18" charset="0"/>
              </a:rPr>
              <a:t>Predictive</a:t>
            </a:r>
            <a:r>
              <a:rPr lang="ko-KR" altLang="en-US" sz="2400" b="1" dirty="0">
                <a:latin typeface="Segoe UI Variable Small" pitchFamily="2" charset="0"/>
                <a:cs typeface="Times New Roman" panose="02020603050405020304" pitchFamily="18" charset="0"/>
              </a:rPr>
              <a:t> </a:t>
            </a:r>
            <a:r>
              <a:rPr lang="en-US" altLang="ko-KR" sz="2400" b="1" dirty="0">
                <a:latin typeface="Segoe UI Variable Small" pitchFamily="2" charset="0"/>
                <a:cs typeface="Times New Roman" panose="02020603050405020304" pitchFamily="18" charset="0"/>
              </a:rPr>
              <a:t>Model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093FA1-0C81-9A18-59C3-C2BCBFBA5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5251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654CC-C117-4AAE-168D-B82BE6B5F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E35C62-E568-CFA2-E77A-CE1E43A2A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Data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3D0CE0-FDE7-B072-63CA-CCF0B19D3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839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90297-010A-F986-B035-7185EA98B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2DAFE2-1F26-C4E8-5596-B17EFCAC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Data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31727-917D-F0CB-479F-E5D98AA71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4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E042E0B2-50D2-4721-46DE-C30EF107A157}"/>
              </a:ext>
            </a:extLst>
          </p:cNvPr>
          <p:cNvSpPr txBox="1">
            <a:spLocks/>
          </p:cNvSpPr>
          <p:nvPr/>
        </p:nvSpPr>
        <p:spPr>
          <a:xfrm>
            <a:off x="740336" y="1085849"/>
            <a:ext cx="10613463" cy="56356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</a:pPr>
            <a:r>
              <a:rPr lang="en-US" altLang="ko-KR" sz="2000" b="1" dirty="0">
                <a:latin typeface="Segoe UI Variable Small" pitchFamily="2" charset="0"/>
              </a:rPr>
              <a:t>Wastewater Data by Target Infectious Disease</a:t>
            </a:r>
          </a:p>
          <a:p>
            <a:r>
              <a:rPr lang="en-US" altLang="ko-KR" sz="1800" b="1" dirty="0">
                <a:latin typeface="Segoe UI Variable Small" pitchFamily="2" charset="0"/>
              </a:rPr>
              <a:t>SARS-CoV-2 </a:t>
            </a:r>
            <a:r>
              <a:rPr lang="en-US" altLang="ko-KR" sz="1400" b="1" dirty="0">
                <a:latin typeface="Segoe UI Variable Small" pitchFamily="2" charset="0"/>
              </a:rPr>
              <a:t>(2024-07-02~2026-08-24)</a:t>
            </a:r>
          </a:p>
          <a:p>
            <a:r>
              <a:rPr lang="en-US" altLang="ko-KR" sz="1800" b="1" dirty="0">
                <a:latin typeface="Segoe UI Variable Small" pitchFamily="2" charset="0"/>
              </a:rPr>
              <a:t>Influenza </a:t>
            </a:r>
            <a:r>
              <a:rPr lang="en-US" altLang="ko-KR" sz="1400" b="1" dirty="0">
                <a:latin typeface="Segoe UI Variable Small" pitchFamily="2" charset="0"/>
              </a:rPr>
              <a:t>(2024-09-02~2026-08-24)</a:t>
            </a:r>
          </a:p>
          <a:p>
            <a:r>
              <a:rPr lang="en-US" altLang="ko-KR" sz="1800" b="1" dirty="0">
                <a:latin typeface="Segoe UI Variable Small" pitchFamily="2" charset="0"/>
              </a:rPr>
              <a:t>Norovirus </a:t>
            </a:r>
            <a:r>
              <a:rPr lang="en-US" altLang="ko-KR" sz="1400" b="1" dirty="0">
                <a:latin typeface="Segoe UI Variable Small" pitchFamily="2" charset="0"/>
              </a:rPr>
              <a:t>(2024-09-02~2026-08-24)</a:t>
            </a:r>
          </a:p>
          <a:p>
            <a:pPr lvl="1"/>
            <a:endParaRPr lang="en-US" altLang="ko-KR" sz="1800" b="1" dirty="0">
              <a:latin typeface="Segoe UI Variable Small" pitchFamily="2" charset="0"/>
            </a:endParaRPr>
          </a:p>
          <a:p>
            <a:pPr marL="0" indent="0">
              <a:buNone/>
            </a:pPr>
            <a:r>
              <a:rPr lang="en-US" altLang="ko-KR" sz="2000" b="1" dirty="0">
                <a:latin typeface="Segoe UI Variable Small" pitchFamily="2" charset="0"/>
              </a:rPr>
              <a:t>Search Volume </a:t>
            </a:r>
            <a:r>
              <a:rPr lang="en-US" altLang="ko-KR" sz="1400" b="1" dirty="0">
                <a:latin typeface="Segoe UI Variable Small" pitchFamily="2" charset="0"/>
              </a:rPr>
              <a:t>(</a:t>
            </a:r>
            <a:r>
              <a:rPr lang="ko-KR" altLang="en-US" sz="1400" b="1" dirty="0">
                <a:latin typeface="Segoe UI Variable Small" pitchFamily="2" charset="0"/>
              </a:rPr>
              <a:t>기간 동일</a:t>
            </a:r>
            <a:r>
              <a:rPr lang="en-US" altLang="ko-KR" sz="1400" b="1" dirty="0">
                <a:latin typeface="Segoe UI Variable Small" pitchFamily="2" charset="0"/>
              </a:rPr>
              <a:t>)</a:t>
            </a:r>
          </a:p>
          <a:p>
            <a:r>
              <a:rPr lang="en-US" altLang="ko-KR" sz="1800" b="1" dirty="0">
                <a:latin typeface="Segoe UI Variable Small" pitchFamily="2" charset="0"/>
              </a:rPr>
              <a:t>Related Keywords by Infectious Disease (Wikipedia, KDCA</a:t>
            </a:r>
            <a:r>
              <a:rPr lang="ko-KR" altLang="en-US" sz="1800" b="1" dirty="0">
                <a:latin typeface="Segoe UI Variable Small" pitchFamily="2" charset="0"/>
              </a:rPr>
              <a:t>의 감염병정보</a:t>
            </a:r>
            <a:r>
              <a:rPr lang="en-US" altLang="ko-KR" sz="1800" b="1" dirty="0">
                <a:latin typeface="Segoe UI Variable Small" pitchFamily="2" charset="0"/>
              </a:rPr>
              <a:t>)</a:t>
            </a:r>
          </a:p>
          <a:p>
            <a:r>
              <a:rPr lang="en-US" altLang="ko-KR" sz="1800" b="1" dirty="0">
                <a:latin typeface="Segoe UI Variable Small" pitchFamily="2" charset="0"/>
              </a:rPr>
              <a:t>SARS-CoV-2: </a:t>
            </a:r>
            <a:r>
              <a:rPr lang="en-US" altLang="ko-KR" sz="1400" b="1" dirty="0">
                <a:latin typeface="Segoe UI Variable Small" pitchFamily="2" charset="0"/>
              </a:rPr>
              <a:t>COVID-19, SARS-CoV-2, </a:t>
            </a:r>
            <a:r>
              <a:rPr lang="ko-KR" altLang="en-US" sz="1400" b="1" dirty="0">
                <a:latin typeface="Segoe UI Variable Small" pitchFamily="2" charset="0"/>
              </a:rPr>
              <a:t>근육통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기침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두통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마른기침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발열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숨가쁨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열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오한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인후통</a:t>
            </a:r>
            <a:r>
              <a:rPr lang="en-US" altLang="ko-KR" sz="1400" b="1" dirty="0">
                <a:latin typeface="Segoe UI Variable Small" pitchFamily="2" charset="0"/>
              </a:rPr>
              <a:t>,</a:t>
            </a:r>
            <a:br>
              <a:rPr lang="en-US" altLang="ko-KR" sz="1400" b="1" dirty="0">
                <a:latin typeface="Segoe UI Variable Small" pitchFamily="2" charset="0"/>
              </a:rPr>
            </a:br>
            <a:r>
              <a:rPr lang="ko-KR" altLang="en-US" sz="1400" b="1" dirty="0">
                <a:latin typeface="Segoe UI Variable Small" pitchFamily="2" charset="0"/>
              </a:rPr>
              <a:t>코로나</a:t>
            </a:r>
            <a:r>
              <a:rPr lang="en-US" altLang="ko-KR" sz="1400" b="1" dirty="0">
                <a:latin typeface="Segoe UI Variable Small" pitchFamily="2" charset="0"/>
              </a:rPr>
              <a:t>19, </a:t>
            </a:r>
            <a:r>
              <a:rPr lang="ko-KR" altLang="en-US" sz="1400" b="1" dirty="0">
                <a:latin typeface="Segoe UI Variable Small" pitchFamily="2" charset="0"/>
              </a:rPr>
              <a:t>코로나바이러스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호흡곤란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후각</a:t>
            </a:r>
            <a:endParaRPr lang="en-US" altLang="ko-KR" sz="1400" b="1" dirty="0">
              <a:latin typeface="Segoe UI Variable Small" pitchFamily="2" charset="0"/>
            </a:endParaRPr>
          </a:p>
          <a:p>
            <a:r>
              <a:rPr lang="en-US" altLang="ko-KR" sz="1800" b="1" dirty="0">
                <a:latin typeface="Segoe UI Variable Small" pitchFamily="2" charset="0"/>
              </a:rPr>
              <a:t>Influenza: </a:t>
            </a:r>
            <a:r>
              <a:rPr lang="ko-KR" altLang="en-US" sz="1400" b="1" dirty="0">
                <a:latin typeface="Segoe UI Variable Small" pitchFamily="2" charset="0"/>
              </a:rPr>
              <a:t>고열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구토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근육통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기침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독감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두통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마른기침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무력감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발열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복통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불쾌감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식욕부진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 err="1">
                <a:latin typeface="Segoe UI Variable Small" pitchFamily="2" charset="0"/>
              </a:rPr>
              <a:t>안구통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오한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유행성감기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인플루엔자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인후염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인후통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 err="1">
                <a:latin typeface="Segoe UI Variable Small" pitchFamily="2" charset="0"/>
              </a:rPr>
              <a:t>코막힘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콧물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피로감</a:t>
            </a:r>
            <a:endParaRPr lang="en-US" altLang="ko-KR" sz="1400" b="1" dirty="0">
              <a:latin typeface="Segoe UI Variable Small" pitchFamily="2" charset="0"/>
            </a:endParaRPr>
          </a:p>
          <a:p>
            <a:r>
              <a:rPr lang="en-US" altLang="ko-KR" sz="1800" b="1" dirty="0">
                <a:latin typeface="Segoe UI Variable Small" pitchFamily="2" charset="0"/>
              </a:rPr>
              <a:t>Norovirus: </a:t>
            </a:r>
            <a:r>
              <a:rPr lang="ko-KR" altLang="en-US" sz="1400" b="1" dirty="0">
                <a:latin typeface="Segoe UI Variable Small" pitchFamily="2" charset="0"/>
              </a:rPr>
              <a:t>구역질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구토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 err="1">
                <a:latin typeface="Segoe UI Variable Small" pitchFamily="2" charset="0"/>
              </a:rPr>
              <a:t>노로바이러스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발열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복통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설사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오한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탈수</a:t>
            </a:r>
            <a:r>
              <a:rPr lang="en-US" altLang="ko-KR" sz="1400" b="1" dirty="0">
                <a:latin typeface="Segoe UI Variable Small" pitchFamily="2" charset="0"/>
              </a:rPr>
              <a:t>, </a:t>
            </a:r>
            <a:r>
              <a:rPr lang="ko-KR" altLang="en-US" sz="1400" b="1" dirty="0">
                <a:latin typeface="Segoe UI Variable Small" pitchFamily="2" charset="0"/>
              </a:rPr>
              <a:t>팽만감</a:t>
            </a:r>
            <a:endParaRPr lang="en-US" altLang="ko-KR" sz="1400" b="1" dirty="0">
              <a:latin typeface="Segoe UI Variable Smal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5931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52571-581B-9F20-3E7D-B3A4A20F5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36AE1E-6D2D-9CF8-DD6B-40BCAEE9F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Data Source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D4DB46-AB82-CD18-1BD8-AEFBC24FB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5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2870BB81-294B-83C5-D3C1-86C0BAC23A17}"/>
              </a:ext>
            </a:extLst>
          </p:cNvPr>
          <p:cNvSpPr txBox="1">
            <a:spLocks/>
          </p:cNvSpPr>
          <p:nvPr/>
        </p:nvSpPr>
        <p:spPr>
          <a:xfrm>
            <a:off x="740336" y="1085850"/>
            <a:ext cx="10613463" cy="45529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</a:pPr>
            <a:r>
              <a:rPr lang="en-US" altLang="ko-KR" sz="2000" b="1" dirty="0">
                <a:latin typeface="Segoe UI Variable Small" pitchFamily="2" charset="0"/>
              </a:rPr>
              <a:t>Naver </a:t>
            </a:r>
            <a:r>
              <a:rPr lang="en-US" altLang="ko-KR" sz="2000" b="1" dirty="0" err="1">
                <a:latin typeface="Segoe UI Variable Small" pitchFamily="2" charset="0"/>
              </a:rPr>
              <a:t>Datalab</a:t>
            </a:r>
            <a:endParaRPr lang="en-US" altLang="ko-KR" sz="2000" b="1" dirty="0">
              <a:latin typeface="Segoe UI Variable Small" pitchFamily="2" charset="0"/>
            </a:endParaRPr>
          </a:p>
          <a:p>
            <a:r>
              <a:rPr lang="en-US" altLang="ko-KR" sz="1800" b="1" dirty="0">
                <a:latin typeface="Segoe UI Variable Small" pitchFamily="2" charset="0"/>
              </a:rPr>
              <a:t>Search Volume</a:t>
            </a:r>
          </a:p>
          <a:p>
            <a:pPr lvl="1"/>
            <a:endParaRPr lang="en-US" altLang="ko-KR" sz="2000" b="1" dirty="0">
              <a:latin typeface="Segoe UI Variable Small" pitchFamily="2" charset="0"/>
            </a:endParaRPr>
          </a:p>
          <a:p>
            <a:pPr marL="0" lvl="0" indent="0">
              <a:buNone/>
            </a:pPr>
            <a:r>
              <a:rPr lang="en-US" altLang="ko-KR" sz="2000" b="1" dirty="0">
                <a:latin typeface="Segoe UI Variable Small" pitchFamily="2" charset="0"/>
              </a:rPr>
              <a:t>KDCA Infectious Disease Portal</a:t>
            </a:r>
          </a:p>
          <a:p>
            <a:r>
              <a:rPr lang="en-US" altLang="ko-KR" sz="1800" b="1" dirty="0">
                <a:latin typeface="Segoe UI Variable Small" pitchFamily="2" charset="0"/>
              </a:rPr>
              <a:t>Wastewater Pathogen Concentration</a:t>
            </a:r>
          </a:p>
          <a:p>
            <a:pPr lvl="1"/>
            <a:endParaRPr lang="en-US" altLang="ko-KR" sz="1800" b="1" dirty="0">
              <a:latin typeface="Segoe UI Variable Small" pitchFamily="2" charset="0"/>
            </a:endParaRPr>
          </a:p>
          <a:p>
            <a:pPr marL="0" indent="0">
              <a:buNone/>
            </a:pPr>
            <a:r>
              <a:rPr lang="ko-KR" altLang="en-US" sz="2000" b="1" dirty="0">
                <a:latin typeface="Segoe UI Variable Small" pitchFamily="2" charset="0"/>
              </a:rPr>
              <a:t>절대 </a:t>
            </a:r>
            <a:r>
              <a:rPr lang="ko-KR" altLang="en-US" sz="2000" b="1" dirty="0" err="1">
                <a:latin typeface="Segoe UI Variable Small" pitchFamily="2" charset="0"/>
              </a:rPr>
              <a:t>검색량</a:t>
            </a:r>
            <a:r>
              <a:rPr lang="ko-KR" altLang="en-US" sz="2000" b="1" dirty="0">
                <a:latin typeface="Segoe UI Variable Small" pitchFamily="2" charset="0"/>
              </a:rPr>
              <a:t> 데이터를 사용하지 않을 이유</a:t>
            </a:r>
            <a:endParaRPr lang="en-US" altLang="ko-KR" sz="2000" b="1" dirty="0">
              <a:latin typeface="Segoe UI Variable Small" pitchFamily="2" charset="0"/>
            </a:endParaRPr>
          </a:p>
          <a:p>
            <a:pPr lvl="1"/>
            <a:endParaRPr lang="ko-KR" altLang="ko-KR" sz="1800" b="1" dirty="0">
              <a:latin typeface="Segoe UI Variable Small" pitchFamily="2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4916866-B913-7369-EA79-64DE0CFB2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336" y="3992760"/>
            <a:ext cx="4298203" cy="209044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B57AFB0-C710-64F0-1180-6F51609113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542" y="4431822"/>
            <a:ext cx="1089115" cy="404198"/>
          </a:xfrm>
          <a:prstGeom prst="rect">
            <a:avLst/>
          </a:prstGeom>
          <a:solidFill>
            <a:srgbClr val="FFFFFF">
              <a:shade val="85000"/>
            </a:srgbClr>
          </a:solidFill>
          <a:ln w="127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E4B923-5157-2EE2-9D0B-9B6DAF6C32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7068" y="4008199"/>
            <a:ext cx="4298204" cy="207684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A6E6621-B844-EC41-7CFD-83F0510842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6618" y="4092930"/>
            <a:ext cx="1090756" cy="375507"/>
          </a:xfrm>
          <a:prstGeom prst="rect">
            <a:avLst/>
          </a:prstGeom>
          <a:solidFill>
            <a:srgbClr val="FFFFFF">
              <a:shade val="85000"/>
            </a:srgbClr>
          </a:solidFill>
          <a:ln w="127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593E978-35C0-BF78-1AC5-DA0E8B730271}"/>
              </a:ext>
            </a:extLst>
          </p:cNvPr>
          <p:cNvSpPr txBox="1"/>
          <p:nvPr/>
        </p:nvSpPr>
        <p:spPr>
          <a:xfrm>
            <a:off x="4396761" y="4154823"/>
            <a:ext cx="8558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코로나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212295-7357-3AB6-E2FF-6A67908C5069}"/>
              </a:ext>
            </a:extLst>
          </p:cNvPr>
          <p:cNvSpPr txBox="1"/>
          <p:nvPr/>
        </p:nvSpPr>
        <p:spPr>
          <a:xfrm>
            <a:off x="9756125" y="4154823"/>
            <a:ext cx="8558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기침</a:t>
            </a:r>
            <a:endParaRPr lang="ko-KR" altLang="en-US" sz="11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15819E1-8310-B2DC-0790-5CDB2B0C80FC}"/>
              </a:ext>
            </a:extLst>
          </p:cNvPr>
          <p:cNvCxnSpPr>
            <a:cxnSpLocks/>
          </p:cNvCxnSpPr>
          <p:nvPr/>
        </p:nvCxnSpPr>
        <p:spPr>
          <a:xfrm>
            <a:off x="3565793" y="4786274"/>
            <a:ext cx="46986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615E4591-420B-2EF6-8E2F-CE3F868ACAB9}"/>
              </a:ext>
            </a:extLst>
          </p:cNvPr>
          <p:cNvCxnSpPr>
            <a:cxnSpLocks/>
          </p:cNvCxnSpPr>
          <p:nvPr/>
        </p:nvCxnSpPr>
        <p:spPr>
          <a:xfrm>
            <a:off x="8741996" y="4468437"/>
            <a:ext cx="46986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90A185E-743E-FECD-4341-01A3FF5323A7}"/>
              </a:ext>
            </a:extLst>
          </p:cNvPr>
          <p:cNvSpPr txBox="1"/>
          <p:nvPr/>
        </p:nvSpPr>
        <p:spPr>
          <a:xfrm>
            <a:off x="1933891" y="6176571"/>
            <a:ext cx="82187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b="1" dirty="0">
                <a:latin typeface="Segoe UI Variable Small" pitchFamily="2" charset="0"/>
              </a:rPr>
              <a:t>한 키워드의 </a:t>
            </a:r>
            <a:r>
              <a:rPr lang="ko-KR" altLang="en-US" sz="1600" b="1" dirty="0" err="1">
                <a:latin typeface="Segoe UI Variable Small" pitchFamily="2" charset="0"/>
              </a:rPr>
              <a:t>검색량이</a:t>
            </a:r>
            <a:r>
              <a:rPr lang="ko-KR" altLang="en-US" sz="1600" b="1" dirty="0">
                <a:latin typeface="Segoe UI Variable Small" pitchFamily="2" charset="0"/>
              </a:rPr>
              <a:t> 압도적으로 클 경우</a:t>
            </a:r>
            <a:r>
              <a:rPr lang="en-US" altLang="ko-KR" sz="1600" b="1" dirty="0">
                <a:latin typeface="Segoe UI Variable Small" pitchFamily="2" charset="0"/>
              </a:rPr>
              <a:t>, </a:t>
            </a:r>
            <a:r>
              <a:rPr lang="ko-KR" altLang="en-US" sz="1600" b="1" dirty="0">
                <a:latin typeface="Segoe UI Variable Small" pitchFamily="2" charset="0"/>
              </a:rPr>
              <a:t>다른 키워드의 영향은 미미할 것이기 때문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200489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0C1EE-7BAB-88E8-AE87-66B10A6AE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DE1136-8DD8-C16A-5100-29D199F4A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Trends of Sewage &amp; Search Volume: SARS-CoV-2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AAAAB9-1868-A30A-B83C-D64255498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6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1EA1A5B-8A7A-2C68-D8B5-16BD6519BB48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5659A-1AD9-0519-2D6F-C2AE97B03E04}"/>
              </a:ext>
            </a:extLst>
          </p:cNvPr>
          <p:cNvSpPr txBox="1"/>
          <p:nvPr/>
        </p:nvSpPr>
        <p:spPr>
          <a:xfrm>
            <a:off x="1937682" y="6026117"/>
            <a:ext cx="9241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본 그림은 </a:t>
            </a:r>
            <a:r>
              <a:rPr lang="en-US" altLang="ko-KR" b="1" dirty="0">
                <a:latin typeface="Segoe UI Variable Small" pitchFamily="2" charset="0"/>
              </a:rPr>
              <a:t>SARS-CoV-2 </a:t>
            </a:r>
            <a:r>
              <a:rPr lang="ko-KR" altLang="en-US" b="1" dirty="0">
                <a:latin typeface="Segoe UI Variable Small" pitchFamily="2" charset="0"/>
              </a:rPr>
              <a:t>하수농도와</a:t>
            </a:r>
            <a:r>
              <a:rPr lang="en-US" altLang="ko-KR" b="1" dirty="0">
                <a:latin typeface="Segoe UI Variable Small" pitchFamily="2" charset="0"/>
              </a:rPr>
              <a:t> </a:t>
            </a:r>
            <a:r>
              <a:rPr lang="ko-KR" altLang="en-US" b="1" dirty="0">
                <a:latin typeface="Segoe UI Variable Small" pitchFamily="2" charset="0"/>
              </a:rPr>
              <a:t>연관 검색 키워드에 대한 </a:t>
            </a:r>
            <a:r>
              <a:rPr lang="ko-KR" altLang="en-US" b="1" dirty="0" err="1">
                <a:latin typeface="Segoe UI Variable Small" pitchFamily="2" charset="0"/>
              </a:rPr>
              <a:t>스케일된</a:t>
            </a:r>
            <a:r>
              <a:rPr lang="ko-KR" altLang="en-US" b="1" dirty="0">
                <a:latin typeface="Segoe UI Variable Small" pitchFamily="2" charset="0"/>
              </a:rPr>
              <a:t> </a:t>
            </a:r>
            <a:r>
              <a:rPr lang="ko-KR" altLang="en-US" b="1" dirty="0" err="1">
                <a:latin typeface="Segoe UI Variable Small" pitchFamily="2" charset="0"/>
              </a:rPr>
              <a:t>검색량</a:t>
            </a:r>
            <a:r>
              <a:rPr lang="ko-KR" altLang="en-US" b="1" dirty="0">
                <a:latin typeface="Segoe UI Variable Small" pitchFamily="2" charset="0"/>
              </a:rPr>
              <a:t> 추이이다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  <a:endParaRPr lang="ko-KR" altLang="en-US" sz="16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8AEA4A4-F824-F65C-2829-71FCF5DE3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331" y="1187191"/>
            <a:ext cx="9037338" cy="4483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690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72A9-0D4B-FD20-63D9-F11410109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481457-A2E8-5801-FACD-54E6DE901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Trends of Sewage &amp; Search Volume: Influenza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A11185-500D-5AFD-B1E3-6B81CF27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7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79DBACCA-06FD-BA1B-8591-F85F96565A51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FF256A-E1CA-B410-B4A3-109B53CDC3EE}"/>
              </a:ext>
            </a:extLst>
          </p:cNvPr>
          <p:cNvSpPr txBox="1"/>
          <p:nvPr/>
        </p:nvSpPr>
        <p:spPr>
          <a:xfrm>
            <a:off x="1937682" y="6026117"/>
            <a:ext cx="89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본 그림은 </a:t>
            </a:r>
            <a:r>
              <a:rPr lang="en-US" altLang="ko-KR" b="1" dirty="0">
                <a:latin typeface="Segoe UI Variable Small" pitchFamily="2" charset="0"/>
              </a:rPr>
              <a:t>Influenza </a:t>
            </a:r>
            <a:r>
              <a:rPr lang="ko-KR" altLang="en-US" b="1" dirty="0">
                <a:latin typeface="Segoe UI Variable Small" pitchFamily="2" charset="0"/>
              </a:rPr>
              <a:t>하수농도와</a:t>
            </a:r>
            <a:r>
              <a:rPr lang="en-US" altLang="ko-KR" b="1" dirty="0">
                <a:latin typeface="Segoe UI Variable Small" pitchFamily="2" charset="0"/>
              </a:rPr>
              <a:t> </a:t>
            </a:r>
            <a:r>
              <a:rPr lang="ko-KR" altLang="en-US" b="1" dirty="0">
                <a:latin typeface="Segoe UI Variable Small" pitchFamily="2" charset="0"/>
              </a:rPr>
              <a:t>연관 검색 키워드에 대한 </a:t>
            </a:r>
            <a:r>
              <a:rPr lang="ko-KR" altLang="en-US" b="1" dirty="0" err="1">
                <a:latin typeface="Segoe UI Variable Small" pitchFamily="2" charset="0"/>
              </a:rPr>
              <a:t>스케일된</a:t>
            </a:r>
            <a:r>
              <a:rPr lang="ko-KR" altLang="en-US" b="1" dirty="0">
                <a:latin typeface="Segoe UI Variable Small" pitchFamily="2" charset="0"/>
              </a:rPr>
              <a:t> </a:t>
            </a:r>
            <a:r>
              <a:rPr lang="ko-KR" altLang="en-US" b="1" dirty="0" err="1">
                <a:latin typeface="Segoe UI Variable Small" pitchFamily="2" charset="0"/>
              </a:rPr>
              <a:t>검색량</a:t>
            </a:r>
            <a:r>
              <a:rPr lang="ko-KR" altLang="en-US" b="1" dirty="0">
                <a:latin typeface="Segoe UI Variable Small" pitchFamily="2" charset="0"/>
              </a:rPr>
              <a:t> 추이이다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  <a:endParaRPr lang="ko-KR" altLang="en-US" sz="16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A0E19EA-0188-5E50-5FEE-9FDDB37219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8855" y="1187191"/>
            <a:ext cx="9034290" cy="4483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785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16B3F-80C9-567D-5033-1125FB33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E04F97-3FD7-36D7-C3B8-D93085E8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Trends of Sewage &amp; Search Volume: Norovirus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094A08-9A32-E456-DD6B-CC017EB96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8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9F12353-D11D-076B-27C8-621A5F5A5E36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CF8882-DD85-C7C5-6C05-960301F89C27}"/>
              </a:ext>
            </a:extLst>
          </p:cNvPr>
          <p:cNvSpPr txBox="1"/>
          <p:nvPr/>
        </p:nvSpPr>
        <p:spPr>
          <a:xfrm>
            <a:off x="1937682" y="6026117"/>
            <a:ext cx="8855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본 그림은 </a:t>
            </a:r>
            <a:r>
              <a:rPr lang="en-US" altLang="ko-KR" b="1" dirty="0">
                <a:latin typeface="Segoe UI Variable Small" pitchFamily="2" charset="0"/>
              </a:rPr>
              <a:t>Norovirus </a:t>
            </a:r>
            <a:r>
              <a:rPr lang="ko-KR" altLang="en-US" b="1" dirty="0">
                <a:latin typeface="Segoe UI Variable Small" pitchFamily="2" charset="0"/>
              </a:rPr>
              <a:t>하수농도와</a:t>
            </a:r>
            <a:r>
              <a:rPr lang="en-US" altLang="ko-KR" b="1" dirty="0">
                <a:latin typeface="Segoe UI Variable Small" pitchFamily="2" charset="0"/>
              </a:rPr>
              <a:t> </a:t>
            </a:r>
            <a:r>
              <a:rPr lang="ko-KR" altLang="en-US" b="1" dirty="0">
                <a:latin typeface="Segoe UI Variable Small" pitchFamily="2" charset="0"/>
              </a:rPr>
              <a:t>연관 검색 키워드에 대한 </a:t>
            </a:r>
            <a:r>
              <a:rPr lang="ko-KR" altLang="en-US" b="1" dirty="0" err="1">
                <a:latin typeface="Segoe UI Variable Small" pitchFamily="2" charset="0"/>
              </a:rPr>
              <a:t>스케일된</a:t>
            </a:r>
            <a:r>
              <a:rPr lang="ko-KR" altLang="en-US" b="1" dirty="0">
                <a:latin typeface="Segoe UI Variable Small" pitchFamily="2" charset="0"/>
              </a:rPr>
              <a:t> </a:t>
            </a:r>
            <a:r>
              <a:rPr lang="ko-KR" altLang="en-US" b="1" dirty="0" err="1">
                <a:latin typeface="Segoe UI Variable Small" pitchFamily="2" charset="0"/>
              </a:rPr>
              <a:t>검색량</a:t>
            </a:r>
            <a:r>
              <a:rPr lang="ko-KR" altLang="en-US" b="1" dirty="0">
                <a:latin typeface="Segoe UI Variable Small" pitchFamily="2" charset="0"/>
              </a:rPr>
              <a:t> 추이이다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  <a:endParaRPr lang="ko-KR" altLang="en-US" sz="16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D80BE28-50D0-661B-A2EA-0E9B17CF0C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759" y="1187191"/>
            <a:ext cx="9046482" cy="4483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786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922F-8770-2821-895F-6B1A602B7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1C412B-5BD5-D39B-3203-34FF51865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Trends of Sewage Volume by Infectious Disease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C3BE9E-08AE-3184-1516-D5A30F815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9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EFE18622-33D9-E223-EFD6-C74EF1EF7E8C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48478F7-1103-90A4-108E-D6B6D0B488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334" y="1148770"/>
            <a:ext cx="9555714" cy="47375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88D498-307E-CEB2-D714-862060E93E12}"/>
              </a:ext>
            </a:extLst>
          </p:cNvPr>
          <p:cNvSpPr txBox="1"/>
          <p:nvPr/>
        </p:nvSpPr>
        <p:spPr>
          <a:xfrm>
            <a:off x="1937682" y="6026117"/>
            <a:ext cx="8218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본 그림은 세 감염병에 대한 </a:t>
            </a:r>
            <a:r>
              <a:rPr lang="ko-KR" altLang="en-US" b="1" dirty="0" err="1">
                <a:latin typeface="Segoe UI Variable Small" pitchFamily="2" charset="0"/>
              </a:rPr>
              <a:t>스케일된</a:t>
            </a:r>
            <a:r>
              <a:rPr lang="ko-KR" altLang="en-US" b="1" dirty="0">
                <a:latin typeface="Segoe UI Variable Small" pitchFamily="2" charset="0"/>
              </a:rPr>
              <a:t> 하수 농도 추이이다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38941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FB249-CEB6-5F8B-9D4E-7CBAED44D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EABB0C-2F2B-67B2-5231-2D20BBE38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Method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55AF999-390E-61DF-8EB2-492F2A25A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3105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DAE05-CED5-F729-941B-6A90FC7C3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69D91-5FA2-22F5-1D73-1DC7214D9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Framework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573F64-6D60-6C43-0EF9-7C9170C0B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11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932D3E79-74FC-BAB4-5F87-BE70ECE98B99}"/>
              </a:ext>
            </a:extLst>
          </p:cNvPr>
          <p:cNvSpPr txBox="1">
            <a:spLocks/>
          </p:cNvSpPr>
          <p:nvPr/>
        </p:nvSpPr>
        <p:spPr>
          <a:xfrm>
            <a:off x="740336" y="1085850"/>
            <a:ext cx="10613463" cy="5486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ko-KR" sz="2400" b="1" dirty="0">
              <a:latin typeface="Segoe UI Variable Small" pitchFamily="2" charset="0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BA53EDDA-6E63-12DF-3ED0-E93249477A23}"/>
              </a:ext>
            </a:extLst>
          </p:cNvPr>
          <p:cNvSpPr/>
          <p:nvPr/>
        </p:nvSpPr>
        <p:spPr>
          <a:xfrm>
            <a:off x="4708064" y="2406083"/>
            <a:ext cx="2000250" cy="43815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ln w="0"/>
                <a:solidFill>
                  <a:schemeClr val="tx1"/>
                </a:solidFill>
              </a:rPr>
              <a:t>전체 기간 </a:t>
            </a:r>
            <a:r>
              <a:rPr lang="en-US" altLang="ko-KR" sz="1400" b="1" dirty="0">
                <a:ln w="0"/>
                <a:solidFill>
                  <a:schemeClr val="tx1"/>
                </a:solidFill>
              </a:rPr>
              <a:t>(Global)</a:t>
            </a:r>
            <a:endParaRPr lang="ko-KR" altLang="en-US" sz="1400" b="1" dirty="0">
              <a:ln w="0"/>
              <a:solidFill>
                <a:schemeClr val="tx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CB5990A-62B2-03BE-E19C-FFAFE493BEC7}"/>
              </a:ext>
            </a:extLst>
          </p:cNvPr>
          <p:cNvSpPr/>
          <p:nvPr/>
        </p:nvSpPr>
        <p:spPr>
          <a:xfrm>
            <a:off x="4708064" y="3283389"/>
            <a:ext cx="2000250" cy="43815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ln w="0"/>
                <a:solidFill>
                  <a:schemeClr val="tx1"/>
                </a:solidFill>
              </a:rPr>
              <a:t>계절 </a:t>
            </a:r>
            <a:r>
              <a:rPr lang="en-US" altLang="ko-KR" sz="1400" b="1" dirty="0">
                <a:ln w="0"/>
                <a:solidFill>
                  <a:schemeClr val="tx1"/>
                </a:solidFill>
              </a:rPr>
              <a:t>(Seasonal)</a:t>
            </a:r>
            <a:endParaRPr lang="ko-KR" altLang="en-US" sz="1400" b="1" dirty="0">
              <a:ln w="0"/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AF068F-234A-3D2D-2C59-3BBEC71C9F48}"/>
              </a:ext>
            </a:extLst>
          </p:cNvPr>
          <p:cNvSpPr txBox="1"/>
          <p:nvPr/>
        </p:nvSpPr>
        <p:spPr>
          <a:xfrm>
            <a:off x="4195809" y="1611068"/>
            <a:ext cx="304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>
                <a:latin typeface="Segoe UI Variable Small" pitchFamily="2" charset="0"/>
                <a:cs typeface="Times New Roman" panose="02020603050405020304" pitchFamily="18" charset="0"/>
              </a:rPr>
              <a:t>감염병별 대표 지연 키워드 선정</a:t>
            </a:r>
            <a:endParaRPr lang="en-US" altLang="ko-KR" sz="1200" b="1" dirty="0">
              <a:latin typeface="Segoe UI Variable Small" pitchFamily="2" charset="0"/>
              <a:cs typeface="Times New Roman" panose="02020603050405020304" pitchFamily="18" charset="0"/>
            </a:endParaRPr>
          </a:p>
          <a:p>
            <a:pPr algn="ctr"/>
            <a:r>
              <a:rPr lang="ko-KR" altLang="en-US" sz="1200" b="1" dirty="0">
                <a:latin typeface="Segoe UI Variable Small" pitchFamily="2" charset="0"/>
                <a:cs typeface="Times New Roman" panose="02020603050405020304" pitchFamily="18" charset="0"/>
              </a:rPr>
              <a:t>예측모델 변수로 사용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68C48B-73E9-8E2F-6EBE-99DD1D39767C}"/>
              </a:ext>
            </a:extLst>
          </p:cNvPr>
          <p:cNvSpPr txBox="1"/>
          <p:nvPr/>
        </p:nvSpPr>
        <p:spPr>
          <a:xfrm>
            <a:off x="7353301" y="2904145"/>
            <a:ext cx="447320" cy="24622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ko-KR" altLang="en-US" sz="1000" b="1" dirty="0">
                <a:latin typeface="Segoe UI Variable Small" pitchFamily="2" charset="0"/>
                <a:cs typeface="Times New Roman" panose="02020603050405020304" pitchFamily="18" charset="0"/>
              </a:rPr>
              <a:t>봄</a:t>
            </a:r>
            <a:endParaRPr lang="en-US" altLang="ko-KR" sz="1000" b="1" dirty="0"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5DBDD26-5A50-29D5-F811-509D61BA1C86}"/>
                  </a:ext>
                </a:extLst>
              </p:cNvPr>
              <p:cNvSpPr txBox="1"/>
              <p:nvPr/>
            </p:nvSpPr>
            <p:spPr>
              <a:xfrm>
                <a:off x="2733322" y="2310713"/>
                <a:ext cx="1727246" cy="62324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200" b="1" dirty="0">
                    <a:effectLst/>
                    <a:latin typeface="Segoe UI Variable Small" pitchFamily="2" charset="0"/>
                    <a:cs typeface="Times New Roman" panose="02020603050405020304" pitchFamily="18" charset="0"/>
                  </a:rPr>
                  <a:t>Sewage Conc.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ko-KR" sz="1050" b="1" i="1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altLang="ko-KR" sz="1050" b="1" dirty="0">
                  <a:effectLst/>
                  <a:latin typeface="Segoe UI Variable Small" pitchFamily="2" charset="0"/>
                </a:endParaRPr>
              </a:p>
              <a:p>
                <a:pPr algn="ctr"/>
                <a:r>
                  <a:rPr lang="en-US" altLang="ko-KR" sz="1200" b="1" dirty="0">
                    <a:effectLst/>
                    <a:latin typeface="Segoe UI Variable Small" pitchFamily="2" charset="0"/>
                  </a:rPr>
                  <a:t>Search Volume</a:t>
                </a:r>
                <a:endParaRPr lang="ko-KR" altLang="en-US" sz="1200" b="1" dirty="0">
                  <a:effectLst/>
                  <a:latin typeface="Segoe UI Variable Small" pitchFamily="2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5DBDD26-5A50-29D5-F811-509D61BA1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3322" y="2310713"/>
                <a:ext cx="1727246" cy="623248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1A23974-D830-B47A-B88C-DCDC1BD0DA81}"/>
                  </a:ext>
                </a:extLst>
              </p:cNvPr>
              <p:cNvSpPr txBox="1"/>
              <p:nvPr/>
            </p:nvSpPr>
            <p:spPr>
              <a:xfrm>
                <a:off x="3763515" y="3379952"/>
                <a:ext cx="653489" cy="26161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ko-KR" sz="105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altLang="ko-KR" sz="1050" b="1" dirty="0">
                  <a:latin typeface="Segoe UI Variable Small" pitchFamily="2" charset="0"/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1A23974-D830-B47A-B88C-DCDC1BD0D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3515" y="3379952"/>
                <a:ext cx="653489" cy="261610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B585539-2850-B7BF-6D50-A913511393DC}"/>
              </a:ext>
            </a:extLst>
          </p:cNvPr>
          <p:cNvCxnSpPr>
            <a:cxnSpLocks/>
          </p:cNvCxnSpPr>
          <p:nvPr/>
        </p:nvCxnSpPr>
        <p:spPr>
          <a:xfrm flipV="1">
            <a:off x="4410817" y="3487278"/>
            <a:ext cx="297246" cy="345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C9090BD9-C773-02F9-9308-A9AE55A716B6}"/>
              </a:ext>
            </a:extLst>
          </p:cNvPr>
          <p:cNvCxnSpPr>
            <a:cxnSpLocks/>
            <a:stCxn id="22" idx="3"/>
            <a:endCxn id="3" idx="1"/>
          </p:cNvCxnSpPr>
          <p:nvPr/>
        </p:nvCxnSpPr>
        <p:spPr>
          <a:xfrm>
            <a:off x="4460568" y="2622337"/>
            <a:ext cx="247496" cy="28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B5933C0-1299-2170-1FDB-38AF66EF412F}"/>
              </a:ext>
            </a:extLst>
          </p:cNvPr>
          <p:cNvSpPr txBox="1"/>
          <p:nvPr/>
        </p:nvSpPr>
        <p:spPr>
          <a:xfrm>
            <a:off x="4106253" y="3784349"/>
            <a:ext cx="14460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b="1" dirty="0">
                <a:latin typeface="Segoe UI Variable Small" pitchFamily="2" charset="0"/>
                <a:cs typeface="Times New Roman" panose="02020603050405020304" pitchFamily="18" charset="0"/>
              </a:rPr>
              <a:t>+ 3week ahead</a:t>
            </a:r>
            <a:endParaRPr lang="ko-KR" altLang="en-US" sz="9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EC7453-AF36-4EF1-CA7D-65ED692BA9E8}"/>
              </a:ext>
            </a:extLst>
          </p:cNvPr>
          <p:cNvSpPr txBox="1"/>
          <p:nvPr/>
        </p:nvSpPr>
        <p:spPr>
          <a:xfrm>
            <a:off x="2582253" y="2010811"/>
            <a:ext cx="304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b="1" dirty="0">
                <a:latin typeface="Segoe UI Variable Small" pitchFamily="2" charset="0"/>
                <a:cs typeface="Times New Roman" panose="02020603050405020304" pitchFamily="18" charset="0"/>
              </a:rPr>
              <a:t>Pearson Corr.</a:t>
            </a:r>
            <a:endParaRPr lang="ko-KR" altLang="en-US" sz="9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707416A-70A7-95D1-515E-F8F71F2693F7}"/>
              </a:ext>
            </a:extLst>
          </p:cNvPr>
          <p:cNvSpPr txBox="1"/>
          <p:nvPr/>
        </p:nvSpPr>
        <p:spPr>
          <a:xfrm>
            <a:off x="2671809" y="3049268"/>
            <a:ext cx="304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b="1" dirty="0">
                <a:latin typeface="Segoe UI Variable Small" pitchFamily="2" charset="0"/>
                <a:cs typeface="Times New Roman" panose="02020603050405020304" pitchFamily="18" charset="0"/>
              </a:rPr>
              <a:t>Spearman Corr.</a:t>
            </a:r>
            <a:endParaRPr lang="ko-KR" altLang="en-US" sz="900" dirty="0"/>
          </a:p>
        </p:txBody>
      </p: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59C38A93-8844-1CD1-D1F1-E7987C58222D}"/>
              </a:ext>
            </a:extLst>
          </p:cNvPr>
          <p:cNvCxnSpPr>
            <a:cxnSpLocks/>
            <a:stCxn id="6" idx="3"/>
            <a:endCxn id="89" idx="1"/>
          </p:cNvCxnSpPr>
          <p:nvPr/>
        </p:nvCxnSpPr>
        <p:spPr>
          <a:xfrm>
            <a:off x="6708314" y="3502464"/>
            <a:ext cx="644987" cy="19154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F34FF846-0AA3-58BB-117B-7672D9E8CBF0}"/>
              </a:ext>
            </a:extLst>
          </p:cNvPr>
          <p:cNvCxnSpPr>
            <a:cxnSpLocks/>
            <a:stCxn id="6" idx="3"/>
            <a:endCxn id="87" idx="1"/>
          </p:cNvCxnSpPr>
          <p:nvPr/>
        </p:nvCxnSpPr>
        <p:spPr>
          <a:xfrm flipV="1">
            <a:off x="6708314" y="3360632"/>
            <a:ext cx="644987" cy="141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463D76E9-9186-C611-73C1-66F60E211279}"/>
              </a:ext>
            </a:extLst>
          </p:cNvPr>
          <p:cNvCxnSpPr>
            <a:cxnSpLocks/>
            <a:stCxn id="6" idx="3"/>
            <a:endCxn id="91" idx="1"/>
          </p:cNvCxnSpPr>
          <p:nvPr/>
        </p:nvCxnSpPr>
        <p:spPr>
          <a:xfrm>
            <a:off x="6708314" y="3502464"/>
            <a:ext cx="644986" cy="51796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052CDB54-9EF7-B8C4-9E8C-A1766A811AE5}"/>
              </a:ext>
            </a:extLst>
          </p:cNvPr>
          <p:cNvSpPr txBox="1"/>
          <p:nvPr/>
        </p:nvSpPr>
        <p:spPr>
          <a:xfrm>
            <a:off x="7353301" y="3237521"/>
            <a:ext cx="447320" cy="24622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ko-KR" altLang="en-US" sz="1000" b="1" dirty="0">
                <a:latin typeface="Segoe UI Variable Small" pitchFamily="2" charset="0"/>
                <a:cs typeface="Times New Roman" panose="02020603050405020304" pitchFamily="18" charset="0"/>
              </a:rPr>
              <a:t>여름</a:t>
            </a:r>
            <a:endParaRPr lang="en-US" altLang="ko-KR" sz="1000" b="1" dirty="0"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D577FA4-4ADB-75B7-284E-E434EFD083C8}"/>
              </a:ext>
            </a:extLst>
          </p:cNvPr>
          <p:cNvSpPr txBox="1"/>
          <p:nvPr/>
        </p:nvSpPr>
        <p:spPr>
          <a:xfrm>
            <a:off x="7353301" y="3570897"/>
            <a:ext cx="447320" cy="24622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ko-KR" altLang="en-US" sz="1000" b="1">
                <a:latin typeface="Segoe UI Variable Small" pitchFamily="2" charset="0"/>
                <a:cs typeface="Times New Roman" panose="02020603050405020304" pitchFamily="18" charset="0"/>
              </a:rPr>
              <a:t>가을</a:t>
            </a:r>
            <a:endParaRPr lang="en-US" altLang="ko-KR" sz="1000" b="1" dirty="0"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9F5B9-9953-82BC-DE64-DC4BA2CFE579}"/>
              </a:ext>
            </a:extLst>
          </p:cNvPr>
          <p:cNvSpPr txBox="1"/>
          <p:nvPr/>
        </p:nvSpPr>
        <p:spPr>
          <a:xfrm>
            <a:off x="7353300" y="3897318"/>
            <a:ext cx="447320" cy="24622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ko-KR" altLang="en-US" sz="1000" b="1">
                <a:latin typeface="Segoe UI Variable Small" pitchFamily="2" charset="0"/>
                <a:cs typeface="Times New Roman" panose="02020603050405020304" pitchFamily="18" charset="0"/>
              </a:rPr>
              <a:t>겨울</a:t>
            </a:r>
            <a:endParaRPr lang="en-US" altLang="ko-KR" sz="1000" b="1" dirty="0"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4B0668B-8D2C-9BE3-C26F-4BE8226C65C8}"/>
              </a:ext>
            </a:extLst>
          </p:cNvPr>
          <p:cNvSpPr txBox="1"/>
          <p:nvPr/>
        </p:nvSpPr>
        <p:spPr>
          <a:xfrm>
            <a:off x="981121" y="2423000"/>
            <a:ext cx="15047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b="1" dirty="0">
                <a:latin typeface="Segoe UI Variable Small" pitchFamily="2" charset="0"/>
                <a:cs typeface="Times New Roman" panose="02020603050405020304" pitchFamily="18" charset="0"/>
              </a:rPr>
              <a:t>{SARS-CoV-2,</a:t>
            </a:r>
          </a:p>
          <a:p>
            <a:pPr algn="ctr"/>
            <a:r>
              <a:rPr lang="en-US" altLang="ko-KR" sz="1200" b="1" dirty="0">
                <a:latin typeface="Segoe UI Variable Small" pitchFamily="2" charset="0"/>
                <a:cs typeface="Times New Roman" panose="02020603050405020304" pitchFamily="18" charset="0"/>
              </a:rPr>
              <a:t>Norovirus,</a:t>
            </a:r>
          </a:p>
          <a:p>
            <a:pPr algn="ctr"/>
            <a:r>
              <a:rPr lang="en-US" altLang="ko-KR" sz="1200" b="1" dirty="0">
                <a:latin typeface="Segoe UI Variable Small" pitchFamily="2" charset="0"/>
                <a:cs typeface="Times New Roman" panose="02020603050405020304" pitchFamily="18" charset="0"/>
              </a:rPr>
              <a:t>Influenza}</a:t>
            </a:r>
          </a:p>
        </p:txBody>
      </p:sp>
      <p:cxnSp>
        <p:nvCxnSpPr>
          <p:cNvPr id="107" name="직선 연결선 106">
            <a:extLst>
              <a:ext uri="{FF2B5EF4-FFF2-40B4-BE49-F238E27FC236}">
                <a16:creationId xmlns:a16="http://schemas.microsoft.com/office/drawing/2014/main" id="{496EB190-17BA-C672-D74B-71A83994AC8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 flipV="1">
            <a:off x="6708314" y="3027256"/>
            <a:ext cx="644987" cy="4752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8072A314-7297-58A9-B11C-B257290B9869}"/>
                  </a:ext>
                </a:extLst>
              </p:cNvPr>
              <p:cNvSpPr txBox="1"/>
              <p:nvPr/>
            </p:nvSpPr>
            <p:spPr>
              <a:xfrm>
                <a:off x="2333857" y="2415948"/>
                <a:ext cx="2757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8072A314-7297-58A9-B11C-B257290B9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3857" y="2415948"/>
                <a:ext cx="275717" cy="276999"/>
              </a:xfrm>
              <a:prstGeom prst="rect">
                <a:avLst/>
              </a:prstGeom>
              <a:blipFill>
                <a:blip r:embed="rId5"/>
                <a:stretch>
                  <a:fillRect l="-6667" r="-6667" b="-2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A63F3D2E-931D-17B3-88A8-7D44C83292AF}"/>
                  </a:ext>
                </a:extLst>
              </p:cNvPr>
              <p:cNvSpPr txBox="1"/>
              <p:nvPr/>
            </p:nvSpPr>
            <p:spPr>
              <a:xfrm>
                <a:off x="3349939" y="3321237"/>
                <a:ext cx="2757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A63F3D2E-931D-17B3-88A8-7D44C8329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9939" y="3321237"/>
                <a:ext cx="275717" cy="276999"/>
              </a:xfrm>
              <a:prstGeom prst="rect">
                <a:avLst/>
              </a:prstGeom>
              <a:blipFill>
                <a:blip r:embed="rId6"/>
                <a:stretch>
                  <a:fillRect l="-6667" r="-6667" b="-2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48BB812-FBBB-8825-2F19-86C1F03524E9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6708314" y="2625158"/>
            <a:ext cx="1633492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A6A86B-BDE1-E326-E220-28EC94D46F04}"/>
              </a:ext>
            </a:extLst>
          </p:cNvPr>
          <p:cNvCxnSpPr>
            <a:cxnSpLocks/>
          </p:cNvCxnSpPr>
          <p:nvPr/>
        </p:nvCxnSpPr>
        <p:spPr>
          <a:xfrm>
            <a:off x="7800620" y="3024671"/>
            <a:ext cx="541186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4A19C8E-4FCE-EB80-B816-94B677E2064C}"/>
              </a:ext>
            </a:extLst>
          </p:cNvPr>
          <p:cNvCxnSpPr>
            <a:cxnSpLocks/>
          </p:cNvCxnSpPr>
          <p:nvPr/>
        </p:nvCxnSpPr>
        <p:spPr>
          <a:xfrm>
            <a:off x="7800620" y="3341723"/>
            <a:ext cx="541186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012E638-0D9A-9129-62FB-7DBA79C9ED3C}"/>
              </a:ext>
            </a:extLst>
          </p:cNvPr>
          <p:cNvCxnSpPr>
            <a:cxnSpLocks/>
          </p:cNvCxnSpPr>
          <p:nvPr/>
        </p:nvCxnSpPr>
        <p:spPr>
          <a:xfrm>
            <a:off x="7800620" y="3673445"/>
            <a:ext cx="541186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9C0A66A-266D-A688-448E-DB91830A5E74}"/>
              </a:ext>
            </a:extLst>
          </p:cNvPr>
          <p:cNvCxnSpPr>
            <a:cxnSpLocks/>
          </p:cNvCxnSpPr>
          <p:nvPr/>
        </p:nvCxnSpPr>
        <p:spPr>
          <a:xfrm>
            <a:off x="7800620" y="4020428"/>
            <a:ext cx="541186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C4E3137-B341-09DD-8961-A32BEF6EDA07}"/>
              </a:ext>
            </a:extLst>
          </p:cNvPr>
          <p:cNvSpPr/>
          <p:nvPr/>
        </p:nvSpPr>
        <p:spPr>
          <a:xfrm>
            <a:off x="8353425" y="2260126"/>
            <a:ext cx="2000250" cy="212222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ln w="0"/>
                <a:solidFill>
                  <a:schemeClr val="tx1"/>
                </a:solidFill>
              </a:rPr>
              <a:t>Predictive</a:t>
            </a:r>
            <a:r>
              <a:rPr lang="ko-KR" altLang="en-US" b="1" dirty="0">
                <a:ln w="0"/>
                <a:solidFill>
                  <a:schemeClr val="tx1"/>
                </a:solidFill>
              </a:rPr>
              <a:t> </a:t>
            </a:r>
            <a:r>
              <a:rPr lang="en-US" altLang="ko-KR" b="1" dirty="0">
                <a:ln w="0"/>
                <a:solidFill>
                  <a:schemeClr val="tx1"/>
                </a:solidFill>
              </a:rPr>
              <a:t>Model</a:t>
            </a:r>
          </a:p>
          <a:p>
            <a:pPr algn="ctr"/>
            <a:endParaRPr lang="en-US" altLang="ko-KR" b="1" dirty="0">
              <a:ln w="0"/>
              <a:solidFill>
                <a:schemeClr val="tx1"/>
              </a:solidFill>
            </a:endParaRPr>
          </a:p>
          <a:p>
            <a:pPr algn="ctr"/>
            <a:endParaRPr lang="ko-KR" altLang="en-US" b="1" dirty="0">
              <a:ln w="0"/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8F8362-E4FB-78A8-109D-B360FC6888FA}"/>
              </a:ext>
            </a:extLst>
          </p:cNvPr>
          <p:cNvSpPr txBox="1"/>
          <p:nvPr/>
        </p:nvSpPr>
        <p:spPr>
          <a:xfrm>
            <a:off x="8546010" y="3570897"/>
            <a:ext cx="1823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b="1" dirty="0">
                <a:latin typeface="Segoe UI Variable Small" pitchFamily="2" charset="0"/>
                <a:cs typeface="Times New Roman" panose="02020603050405020304" pitchFamily="18" charset="0"/>
              </a:rPr>
              <a:t>전체 기간 반영 모델</a:t>
            </a:r>
            <a:endParaRPr lang="en-US" altLang="ko-KR" sz="1200" b="1" dirty="0">
              <a:latin typeface="Segoe UI Variable Small" pitchFamily="2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b="1" dirty="0">
                <a:latin typeface="Segoe UI Variable Small" pitchFamily="2" charset="0"/>
                <a:cs typeface="Times New Roman" panose="02020603050405020304" pitchFamily="18" charset="0"/>
              </a:rPr>
              <a:t>계절 반영 모델</a:t>
            </a:r>
            <a:endParaRPr lang="en-US" altLang="ko-KR" sz="1200" b="1" dirty="0">
              <a:latin typeface="Segoe UI Variable Small" pitchFamily="2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b="1" dirty="0">
                <a:latin typeface="Segoe UI Variable Small" pitchFamily="2" charset="0"/>
                <a:cs typeface="Times New Roman" panose="02020603050405020304" pitchFamily="18" charset="0"/>
              </a:rPr>
              <a:t>혼합 모델</a:t>
            </a:r>
            <a:endParaRPr lang="ko-KR" altLang="en-US" sz="900" dirty="0"/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7DD12E6-4F60-9A9F-A4A0-34EFAF6442D2}"/>
              </a:ext>
            </a:extLst>
          </p:cNvPr>
          <p:cNvCxnSpPr>
            <a:cxnSpLocks/>
          </p:cNvCxnSpPr>
          <p:nvPr/>
        </p:nvCxnSpPr>
        <p:spPr>
          <a:xfrm flipV="1">
            <a:off x="7353300" y="4382348"/>
            <a:ext cx="1316458" cy="84687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8F5EC0E-322E-1156-F02F-9C07B71A83D9}"/>
              </a:ext>
            </a:extLst>
          </p:cNvPr>
          <p:cNvCxnSpPr>
            <a:cxnSpLocks/>
          </p:cNvCxnSpPr>
          <p:nvPr/>
        </p:nvCxnSpPr>
        <p:spPr>
          <a:xfrm flipH="1" flipV="1">
            <a:off x="10068580" y="4382348"/>
            <a:ext cx="1285219" cy="8359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4BFF08DC-3378-5C9E-F3EA-62D63676FC92}"/>
              </a:ext>
            </a:extLst>
          </p:cNvPr>
          <p:cNvSpPr txBox="1"/>
          <p:nvPr/>
        </p:nvSpPr>
        <p:spPr>
          <a:xfrm>
            <a:off x="7800619" y="4906059"/>
            <a:ext cx="20694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b="1" dirty="0">
                <a:latin typeface="Segoe UI Variable Small" pitchFamily="2" charset="0"/>
                <a:cs typeface="Times New Roman" panose="02020603050405020304" pitchFamily="18" charset="0"/>
              </a:rPr>
              <a:t>2024 ~ 2025: Train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b="1" dirty="0">
                <a:latin typeface="Segoe UI Variable Small" pitchFamily="2" charset="0"/>
                <a:cs typeface="Times New Roman" panose="02020603050405020304" pitchFamily="18" charset="0"/>
              </a:rPr>
              <a:t>2026: Prediction</a:t>
            </a:r>
            <a:endParaRPr lang="ko-KR" altLang="en-US" sz="9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D84AE8-A8FB-B754-69F2-D119263A7DBB}"/>
              </a:ext>
            </a:extLst>
          </p:cNvPr>
          <p:cNvSpPr txBox="1"/>
          <p:nvPr/>
        </p:nvSpPr>
        <p:spPr>
          <a:xfrm>
            <a:off x="9561195" y="5106398"/>
            <a:ext cx="14460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>
                <a:latin typeface="Segoe UI Variable Small" pitchFamily="2" charset="0"/>
                <a:cs typeface="Times New Roman" panose="02020603050405020304" pitchFamily="18" charset="0"/>
              </a:rPr>
              <a:t>실제 </a:t>
            </a:r>
            <a:r>
              <a:rPr lang="ko-KR" altLang="en-US" sz="1200" b="1">
                <a:latin typeface="Segoe UI Variable Small" pitchFamily="2" charset="0"/>
                <a:cs typeface="Times New Roman" panose="02020603050405020304" pitchFamily="18" charset="0"/>
              </a:rPr>
              <a:t>하수와 비교</a:t>
            </a:r>
            <a:endParaRPr lang="ko-KR" altLang="en-US" sz="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C010CFE-5321-7198-45F8-5B97B6C6FF88}"/>
                  </a:ext>
                </a:extLst>
              </p:cNvPr>
              <p:cNvSpPr txBox="1"/>
              <p:nvPr/>
            </p:nvSpPr>
            <p:spPr>
              <a:xfrm>
                <a:off x="9347144" y="5079777"/>
                <a:ext cx="2757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C010CFE-5321-7198-45F8-5B97B6C6F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7144" y="5079777"/>
                <a:ext cx="275717" cy="276999"/>
              </a:xfrm>
              <a:prstGeom prst="rect">
                <a:avLst/>
              </a:prstGeom>
              <a:blipFill>
                <a:blip r:embed="rId7"/>
                <a:stretch>
                  <a:fillRect l="-4348" r="-6522" b="-2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CB2401DC-71C4-AE28-9518-A2A190CF86DF}"/>
              </a:ext>
            </a:extLst>
          </p:cNvPr>
          <p:cNvSpPr txBox="1"/>
          <p:nvPr/>
        </p:nvSpPr>
        <p:spPr>
          <a:xfrm>
            <a:off x="7639703" y="5367724"/>
            <a:ext cx="14460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>
                <a:latin typeface="Segoe UI Variable Small" pitchFamily="2" charset="0"/>
                <a:cs typeface="Times New Roman" panose="02020603050405020304" pitchFamily="18" charset="0"/>
              </a:rPr>
              <a:t>약 </a:t>
            </a:r>
            <a:r>
              <a:rPr lang="en-US" altLang="ko-KR" sz="1200" b="1" dirty="0">
                <a:latin typeface="Segoe UI Variable Small" pitchFamily="2" charset="0"/>
                <a:cs typeface="Times New Roman" panose="02020603050405020304" pitchFamily="18" charset="0"/>
              </a:rPr>
              <a:t>7 : 3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F1A9AC-53FA-FBB9-53AA-0CCCDECFE454}"/>
              </a:ext>
            </a:extLst>
          </p:cNvPr>
          <p:cNvSpPr txBox="1"/>
          <p:nvPr/>
        </p:nvSpPr>
        <p:spPr>
          <a:xfrm>
            <a:off x="7556568" y="2705358"/>
            <a:ext cx="5935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latin typeface="Segoe UI Variable Small" pitchFamily="2" charset="0"/>
                <a:cs typeface="Times New Roman" panose="02020603050405020304" pitchFamily="18" charset="0"/>
              </a:rPr>
              <a:t>12, 1, 2</a:t>
            </a:r>
            <a:endParaRPr lang="ko-KR" altLang="en-US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758FD-5A88-0BCA-C7B8-CBD9F19BB184}"/>
              </a:ext>
            </a:extLst>
          </p:cNvPr>
          <p:cNvSpPr txBox="1"/>
          <p:nvPr/>
        </p:nvSpPr>
        <p:spPr>
          <a:xfrm>
            <a:off x="7576960" y="3090078"/>
            <a:ext cx="5935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latin typeface="Segoe UI Variable Small" pitchFamily="2" charset="0"/>
                <a:cs typeface="Times New Roman" panose="02020603050405020304" pitchFamily="18" charset="0"/>
              </a:rPr>
              <a:t>3, 4, 5</a:t>
            </a:r>
            <a:endParaRPr lang="ko-KR" altLang="en-US" sz="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45D71D-C128-E659-2E6D-57702F3406C3}"/>
              </a:ext>
            </a:extLst>
          </p:cNvPr>
          <p:cNvSpPr txBox="1"/>
          <p:nvPr/>
        </p:nvSpPr>
        <p:spPr>
          <a:xfrm>
            <a:off x="7639703" y="3413244"/>
            <a:ext cx="5935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latin typeface="Segoe UI Variable Small" pitchFamily="2" charset="0"/>
                <a:cs typeface="Times New Roman" panose="02020603050405020304" pitchFamily="18" charset="0"/>
              </a:rPr>
              <a:t>6, 7, 8</a:t>
            </a:r>
            <a:endParaRPr lang="ko-KR" altLang="en-US" sz="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7D8110-8C08-95B7-13C6-B09F18CF04A9}"/>
              </a:ext>
            </a:extLst>
          </p:cNvPr>
          <p:cNvSpPr txBox="1"/>
          <p:nvPr/>
        </p:nvSpPr>
        <p:spPr>
          <a:xfrm>
            <a:off x="7587165" y="3770414"/>
            <a:ext cx="6883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latin typeface="Segoe UI Variable Small" pitchFamily="2" charset="0"/>
                <a:cs typeface="Times New Roman" panose="02020603050405020304" pitchFamily="18" charset="0"/>
              </a:rPr>
              <a:t>9, 10 ,11</a:t>
            </a:r>
            <a:endParaRPr lang="ko-KR" altLang="en-US" sz="600" dirty="0"/>
          </a:p>
        </p:txBody>
      </p:sp>
    </p:spTree>
    <p:extLst>
      <p:ext uri="{BB962C8B-B14F-4D97-AF65-F5344CB8AC3E}">
        <p14:creationId xmlns:p14="http://schemas.microsoft.com/office/powerpoint/2010/main" val="584250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8A1D9-D103-19D1-ADE7-49B1FA762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2ACF41-38DD-05CF-8B31-82E020CED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Results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0AB3B88-C800-27A5-9293-B46A4B2AD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902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1E66E-7713-3758-F566-42B450C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4A84D8-EBEC-0269-FF03-559A946AD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전체 기간 상관분석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4910F0-454F-68BA-5B59-D251B0EA0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13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D6ABF5AD-8575-CDA3-80A4-E9B42D5744AB}"/>
              </a:ext>
            </a:extLst>
          </p:cNvPr>
          <p:cNvSpPr txBox="1">
            <a:spLocks/>
          </p:cNvSpPr>
          <p:nvPr/>
        </p:nvSpPr>
        <p:spPr>
          <a:xfrm>
            <a:off x="740336" y="1085850"/>
            <a:ext cx="10613463" cy="5486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ko-KR" sz="2400" b="1" dirty="0">
              <a:latin typeface="Segoe UI Variable Small" pitchFamily="2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72DB11A-FC1F-D2C5-2DB1-FEECEDA0C1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162201"/>
              </p:ext>
            </p:extLst>
          </p:nvPr>
        </p:nvGraphicFramePr>
        <p:xfrm>
          <a:off x="1677440" y="2103120"/>
          <a:ext cx="8837120" cy="26517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04640">
                  <a:extLst>
                    <a:ext uri="{9D8B030D-6E8A-4147-A177-3AD203B41FA5}">
                      <a16:colId xmlns:a16="http://schemas.microsoft.com/office/drawing/2014/main" val="3957905093"/>
                    </a:ext>
                  </a:extLst>
                </a:gridCol>
                <a:gridCol w="1104640">
                  <a:extLst>
                    <a:ext uri="{9D8B030D-6E8A-4147-A177-3AD203B41FA5}">
                      <a16:colId xmlns:a16="http://schemas.microsoft.com/office/drawing/2014/main" val="2324672624"/>
                    </a:ext>
                  </a:extLst>
                </a:gridCol>
                <a:gridCol w="1104640">
                  <a:extLst>
                    <a:ext uri="{9D8B030D-6E8A-4147-A177-3AD203B41FA5}">
                      <a16:colId xmlns:a16="http://schemas.microsoft.com/office/drawing/2014/main" val="1590786432"/>
                    </a:ext>
                  </a:extLst>
                </a:gridCol>
                <a:gridCol w="1104640">
                  <a:extLst>
                    <a:ext uri="{9D8B030D-6E8A-4147-A177-3AD203B41FA5}">
                      <a16:colId xmlns:a16="http://schemas.microsoft.com/office/drawing/2014/main" val="87386454"/>
                    </a:ext>
                  </a:extLst>
                </a:gridCol>
                <a:gridCol w="1104640">
                  <a:extLst>
                    <a:ext uri="{9D8B030D-6E8A-4147-A177-3AD203B41FA5}">
                      <a16:colId xmlns:a16="http://schemas.microsoft.com/office/drawing/2014/main" val="3858145193"/>
                    </a:ext>
                  </a:extLst>
                </a:gridCol>
                <a:gridCol w="1104640">
                  <a:extLst>
                    <a:ext uri="{9D8B030D-6E8A-4147-A177-3AD203B41FA5}">
                      <a16:colId xmlns:a16="http://schemas.microsoft.com/office/drawing/2014/main" val="1912608313"/>
                    </a:ext>
                  </a:extLst>
                </a:gridCol>
                <a:gridCol w="1104640">
                  <a:extLst>
                    <a:ext uri="{9D8B030D-6E8A-4147-A177-3AD203B41FA5}">
                      <a16:colId xmlns:a16="http://schemas.microsoft.com/office/drawing/2014/main" val="932232036"/>
                    </a:ext>
                  </a:extLst>
                </a:gridCol>
                <a:gridCol w="1104640">
                  <a:extLst>
                    <a:ext uri="{9D8B030D-6E8A-4147-A177-3AD203B41FA5}">
                      <a16:colId xmlns:a16="http://schemas.microsoft.com/office/drawing/2014/main" val="543557553"/>
                    </a:ext>
                  </a:extLst>
                </a:gridCol>
              </a:tblGrid>
              <a:tr h="616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Infectious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Disease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400" dirty="0" err="1">
                          <a:solidFill>
                            <a:schemeClr val="tx1"/>
                          </a:solidFill>
                        </a:rPr>
                        <a:t>Nolag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Search 1week ahead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Sewage 1week ahead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Search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2week ahead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Sewage</a:t>
                      </a:r>
                    </a:p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2week ahead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Search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3week ahead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Sewage</a:t>
                      </a:r>
                    </a:p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3week ahead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2235594"/>
                  </a:ext>
                </a:extLst>
              </a:tr>
              <a:tr h="616903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SARS-CoV2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코로나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19</a:t>
                      </a:r>
                    </a:p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코로나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19</a:t>
                      </a:r>
                    </a:p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0.84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&lt; 0.001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COVID-19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0.74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코로나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19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0.77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COVID-19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0.67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코로나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19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0.65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COVID-19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0.58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7581586"/>
                  </a:ext>
                </a:extLst>
              </a:tr>
              <a:tr h="616903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Influenza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오한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0.8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오한</a:t>
                      </a:r>
                      <a:endParaRPr lang="en-US" altLang="ko-KR" sz="12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0.88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&lt; 0.001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오한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0.7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오한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구토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오한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0.75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구토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901046"/>
                  </a:ext>
                </a:extLst>
              </a:tr>
              <a:tr h="616903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Norovirus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>
                          <a:solidFill>
                            <a:schemeClr val="tx1"/>
                          </a:solidFill>
                        </a:rPr>
                        <a:t>노로바이러스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>
                          <a:solidFill>
                            <a:schemeClr val="tx1"/>
                          </a:solidFill>
                        </a:rPr>
                        <a:t>노로바이러스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0.72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노로바이러스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0.57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노로바이러스</a:t>
                      </a:r>
                      <a:endParaRPr kumimoji="0" lang="en-US" altLang="ko-KR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0.74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&lt; 0.001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노로바이러스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0.46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노로바이러스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0.74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노로바이러스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0.35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982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9722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275E9-5D16-F080-1C65-EFCA135D7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F5351C-C431-FAF6-EC52-2B0E7D72C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계절 상관분석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5765EF-E8B9-99DF-6E2A-7E865484C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14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90F90533-C8D3-37FD-8A91-5B5682390190}"/>
              </a:ext>
            </a:extLst>
          </p:cNvPr>
          <p:cNvSpPr txBox="1">
            <a:spLocks/>
          </p:cNvSpPr>
          <p:nvPr/>
        </p:nvSpPr>
        <p:spPr>
          <a:xfrm>
            <a:off x="740336" y="1085850"/>
            <a:ext cx="10613463" cy="5486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ko-KR" sz="2400" b="1" dirty="0">
              <a:latin typeface="Segoe UI Variable Small" pitchFamily="2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74CC508-2D2C-C704-20F0-90CF2FB4BC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9886463"/>
              </p:ext>
            </p:extLst>
          </p:nvPr>
        </p:nvGraphicFramePr>
        <p:xfrm>
          <a:off x="2418323" y="2038243"/>
          <a:ext cx="7721600" cy="358161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544320">
                  <a:extLst>
                    <a:ext uri="{9D8B030D-6E8A-4147-A177-3AD203B41FA5}">
                      <a16:colId xmlns:a16="http://schemas.microsoft.com/office/drawing/2014/main" val="3957905093"/>
                    </a:ext>
                  </a:extLst>
                </a:gridCol>
                <a:gridCol w="1544320">
                  <a:extLst>
                    <a:ext uri="{9D8B030D-6E8A-4147-A177-3AD203B41FA5}">
                      <a16:colId xmlns:a16="http://schemas.microsoft.com/office/drawing/2014/main" val="2324672624"/>
                    </a:ext>
                  </a:extLst>
                </a:gridCol>
                <a:gridCol w="1544320">
                  <a:extLst>
                    <a:ext uri="{9D8B030D-6E8A-4147-A177-3AD203B41FA5}">
                      <a16:colId xmlns:a16="http://schemas.microsoft.com/office/drawing/2014/main" val="1590786432"/>
                    </a:ext>
                  </a:extLst>
                </a:gridCol>
                <a:gridCol w="1544320">
                  <a:extLst>
                    <a:ext uri="{9D8B030D-6E8A-4147-A177-3AD203B41FA5}">
                      <a16:colId xmlns:a16="http://schemas.microsoft.com/office/drawing/2014/main" val="87386454"/>
                    </a:ext>
                  </a:extLst>
                </a:gridCol>
                <a:gridCol w="1544320">
                  <a:extLst>
                    <a:ext uri="{9D8B030D-6E8A-4147-A177-3AD203B41FA5}">
                      <a16:colId xmlns:a16="http://schemas.microsoft.com/office/drawing/2014/main" val="3858145193"/>
                    </a:ext>
                  </a:extLst>
                </a:gridCol>
              </a:tblGrid>
              <a:tr h="5640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Infectious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Disease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Spring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Summer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Fall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Winter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2235594"/>
                  </a:ext>
                </a:extLst>
              </a:tr>
              <a:tr h="592932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SARS-CoV2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</a:rPr>
                        <a:t>Nolag</a:t>
                      </a:r>
                      <a:endParaRPr lang="en-US" altLang="ko-KR" sz="12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인후통</a:t>
                      </a:r>
                      <a:endParaRPr lang="en-US" altLang="ko-KR" sz="12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0.97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&lt; 0.001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Sewage</a:t>
                      </a:r>
                    </a:p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우세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Search 3week ahead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SARS-CoV-2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0.43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= 0.0293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Search 1week ahead</a:t>
                      </a:r>
                    </a:p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숨가쁨</a:t>
                      </a:r>
                      <a:endParaRPr lang="en-US" altLang="ko-KR" sz="12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0.81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&lt; 0.001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7581586"/>
                  </a:ext>
                </a:extLst>
              </a:tr>
              <a:tr h="592932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Influenza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</a:rPr>
                        <a:t>Nolag</a:t>
                      </a:r>
                      <a:endParaRPr lang="en-US" altLang="ko-KR" sz="12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인플루엔자</a:t>
                      </a:r>
                      <a:endParaRPr lang="en-US" altLang="ko-KR" sz="12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0.85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&lt; 0.001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Sewage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우세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Search 1week ahead</a:t>
                      </a:r>
                    </a:p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인플루엔자</a:t>
                      </a:r>
                      <a:endParaRPr lang="en-US" altLang="ko-KR" sz="12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0.72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&lt; 0.001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901046"/>
                  </a:ext>
                </a:extLst>
              </a:tr>
              <a:tr h="592932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Norovirus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Search 3week ahead</a:t>
                      </a:r>
                    </a:p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</a:rPr>
                        <a:t>노로바이러스</a:t>
                      </a:r>
                      <a:endParaRPr lang="en-US" altLang="ko-KR" sz="12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0.53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= 0.0058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Search 1week ahead</a:t>
                      </a:r>
                    </a:p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</a:rPr>
                        <a:t>노로바이러스</a:t>
                      </a:r>
                      <a:endParaRPr lang="en-US" altLang="ko-KR" sz="12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0.9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&lt; 0.001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Search 3week ahead</a:t>
                      </a:r>
                    </a:p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</a:rPr>
                        <a:t>노로바이러스</a:t>
                      </a:r>
                      <a:endParaRPr lang="en-US" altLang="ko-KR" sz="12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0.6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p = 0.0011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982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6967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2FE4E-4B13-7D02-C93F-61DD99C61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4BA4DA-0BAC-AE46-FD49-865736E58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Predictive Model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99BC78F-1C0B-1CF2-5FFF-4C85CE4AA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030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6CD67-9F33-DAA6-22A3-077E36650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95C47A-EA2E-F6F8-C56A-4E6D59AFB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SARS-CoV-2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전체기간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(Global)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D44BE-7C91-983D-E12A-E6E2CF91A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16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E7220B88-37F8-9E81-A47F-9C64BFB3A542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069BBD-4887-6FAA-62F4-F2D4AD19B4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359" y="1457447"/>
            <a:ext cx="9549279" cy="40575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DA78980-602C-EA36-CB9B-DA646950CD1C}"/>
              </a:ext>
            </a:extLst>
          </p:cNvPr>
          <p:cNvSpPr txBox="1"/>
          <p:nvPr/>
        </p:nvSpPr>
        <p:spPr>
          <a:xfrm>
            <a:off x="1937682" y="5821240"/>
            <a:ext cx="8218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Segoe UI Variable Small" pitchFamily="2" charset="0"/>
              </a:rPr>
              <a:t>2026</a:t>
            </a:r>
            <a:r>
              <a:rPr lang="ko-KR" altLang="en-US" b="1" dirty="0">
                <a:latin typeface="Segoe UI Variable Small" pitchFamily="2" charset="0"/>
              </a:rPr>
              <a:t>년도 안정기를 잘 예측함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</a:p>
          <a:p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4D8F04-8D02-953F-4ADB-472B800182C0}"/>
              </a:ext>
            </a:extLst>
          </p:cNvPr>
          <p:cNvSpPr txBox="1"/>
          <p:nvPr/>
        </p:nvSpPr>
        <p:spPr>
          <a:xfrm>
            <a:off x="9752476" y="501649"/>
            <a:ext cx="160132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선형회귀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Search1, </a:t>
            </a:r>
            <a:r>
              <a:rPr lang="ko-KR" altLang="en-US" sz="1200" b="1" dirty="0">
                <a:latin typeface="Segoe UI Variable Small" pitchFamily="2" charset="0"/>
              </a:rPr>
              <a:t>코로나</a:t>
            </a:r>
            <a:r>
              <a:rPr lang="en-US" altLang="ko-KR" sz="1200" b="1" dirty="0">
                <a:latin typeface="Segoe UI Variable Small" pitchFamily="2" charset="0"/>
              </a:rPr>
              <a:t>19</a:t>
            </a: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-1.0495</a:t>
            </a:r>
          </a:p>
          <a:p>
            <a:r>
              <a:rPr lang="en-US" altLang="ko-KR" sz="1200" b="1" dirty="0"/>
              <a:t>RMSE: 1.6752</a:t>
            </a:r>
            <a:endParaRPr lang="ko-KR" altLang="en-US" sz="1200" b="1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1339693A-CA14-2C42-0066-D525109C7735}"/>
              </a:ext>
            </a:extLst>
          </p:cNvPr>
          <p:cNvCxnSpPr>
            <a:cxnSpLocks/>
          </p:cNvCxnSpPr>
          <p:nvPr/>
        </p:nvCxnSpPr>
        <p:spPr>
          <a:xfrm flipV="1">
            <a:off x="1783976" y="5567336"/>
            <a:ext cx="6248774" cy="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DB5BB3-3405-36D1-9D31-35E522F9CA5A}"/>
              </a:ext>
            </a:extLst>
          </p:cNvPr>
          <p:cNvCxnSpPr>
            <a:cxnSpLocks/>
          </p:cNvCxnSpPr>
          <p:nvPr/>
        </p:nvCxnSpPr>
        <p:spPr>
          <a:xfrm>
            <a:off x="1783976" y="5440289"/>
            <a:ext cx="0" cy="2556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3109474D-126E-A1E9-9E2A-7242C8D5F14A}"/>
              </a:ext>
            </a:extLst>
          </p:cNvPr>
          <p:cNvCxnSpPr>
            <a:cxnSpLocks/>
          </p:cNvCxnSpPr>
          <p:nvPr/>
        </p:nvCxnSpPr>
        <p:spPr>
          <a:xfrm>
            <a:off x="8041715" y="5440289"/>
            <a:ext cx="0" cy="2556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0D3ADC2-E808-E82A-D6CA-05A2104AD6BF}"/>
              </a:ext>
            </a:extLst>
          </p:cNvPr>
          <p:cNvSpPr txBox="1"/>
          <p:nvPr/>
        </p:nvSpPr>
        <p:spPr>
          <a:xfrm>
            <a:off x="4396740" y="5483441"/>
            <a:ext cx="594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Segoe UI Variable Small" pitchFamily="2" charset="0"/>
              </a:rPr>
              <a:t>Train</a:t>
            </a:r>
            <a:r>
              <a:rPr lang="ko-KR" altLang="en-US" sz="1800" b="1" dirty="0">
                <a:latin typeface="Segoe UI Variable Small" pitchFamily="2" charset="0"/>
              </a:rPr>
              <a:t> </a:t>
            </a:r>
            <a:endParaRPr lang="ko-KR" altLang="en-US" dirty="0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CDF54E54-789D-4B6B-5488-61A1A6305581}"/>
              </a:ext>
            </a:extLst>
          </p:cNvPr>
          <p:cNvCxnSpPr>
            <a:cxnSpLocks/>
          </p:cNvCxnSpPr>
          <p:nvPr/>
        </p:nvCxnSpPr>
        <p:spPr>
          <a:xfrm>
            <a:off x="8041715" y="5567336"/>
            <a:ext cx="27686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824C99B-4DEE-E1F3-4ED3-D2ED07CF0FA2}"/>
              </a:ext>
            </a:extLst>
          </p:cNvPr>
          <p:cNvCxnSpPr>
            <a:cxnSpLocks/>
          </p:cNvCxnSpPr>
          <p:nvPr/>
        </p:nvCxnSpPr>
        <p:spPr>
          <a:xfrm>
            <a:off x="10810315" y="5451375"/>
            <a:ext cx="0" cy="2556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126AF4B-5078-64EB-3E61-56B28200E7F8}"/>
              </a:ext>
            </a:extLst>
          </p:cNvPr>
          <p:cNvSpPr txBox="1"/>
          <p:nvPr/>
        </p:nvSpPr>
        <p:spPr>
          <a:xfrm>
            <a:off x="9256395" y="5546638"/>
            <a:ext cx="5943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Segoe UI Variable Small" pitchFamily="2" charset="0"/>
              </a:rPr>
              <a:t>Test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01242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6E76F-A83F-7B6E-A507-4E2DD554B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170D72-70A8-9534-DC2B-0B3FE7B38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Influenza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전체기간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(Global)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81A6C5-D45E-B850-C3BF-016E487FA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17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D807175F-5715-ECF7-3B23-4EDA9BBF6BFC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416B71C-96E5-BB20-BFFF-A2501B60E3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359" y="1457448"/>
            <a:ext cx="9549279" cy="40575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FCDC249-8830-1105-EE2D-E1107B6E05F6}"/>
              </a:ext>
            </a:extLst>
          </p:cNvPr>
          <p:cNvSpPr txBox="1"/>
          <p:nvPr/>
        </p:nvSpPr>
        <p:spPr>
          <a:xfrm>
            <a:off x="1937682" y="6026117"/>
            <a:ext cx="8218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Segoe UI Variable Small" pitchFamily="2" charset="0"/>
              </a:rPr>
              <a:t>2026</a:t>
            </a:r>
            <a:r>
              <a:rPr lang="ko-KR" altLang="en-US" b="1" dirty="0">
                <a:latin typeface="Segoe UI Variable Small" pitchFamily="2" charset="0"/>
              </a:rPr>
              <a:t>년도 상승곡선과 안정기를 잘 예측함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A28A0E-C42C-573B-2B60-AF61436EE51D}"/>
              </a:ext>
            </a:extLst>
          </p:cNvPr>
          <p:cNvSpPr txBox="1"/>
          <p:nvPr/>
        </p:nvSpPr>
        <p:spPr>
          <a:xfrm>
            <a:off x="9752476" y="438474"/>
            <a:ext cx="160132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선형회귀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Search1, </a:t>
            </a:r>
            <a:r>
              <a:rPr lang="ko-KR" altLang="en-US" sz="1200" b="1" dirty="0">
                <a:latin typeface="Segoe UI Variable Small" pitchFamily="2" charset="0"/>
              </a:rPr>
              <a:t>오한</a:t>
            </a:r>
            <a:endParaRPr lang="en-US" altLang="ko-KR" sz="1200" b="1" dirty="0">
              <a:latin typeface="Segoe UI Variable Small" pitchFamily="2" charset="0"/>
            </a:endParaRP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0.6695</a:t>
            </a:r>
          </a:p>
          <a:p>
            <a:r>
              <a:rPr lang="en-US" altLang="ko-KR" sz="1200" b="1" dirty="0"/>
              <a:t>RMSE: 5.8529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7684768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79DAA-7902-200D-B6D0-D5D7F2518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0C71B8-22CF-A465-B9A3-80AD1EE42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Norovirus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전체기간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(Global)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879ABA-AE4F-AFA3-4B15-725D2A0D6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18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76D3B13D-7079-F191-E545-6C20F4C2CEE7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058535F-64CD-9A08-6709-CA70B62714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360" y="1457448"/>
            <a:ext cx="9549279" cy="40575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8ED6C00-5228-352D-B333-D270AD9F7656}"/>
              </a:ext>
            </a:extLst>
          </p:cNvPr>
          <p:cNvSpPr txBox="1"/>
          <p:nvPr/>
        </p:nvSpPr>
        <p:spPr>
          <a:xfrm>
            <a:off x="9755930" y="414506"/>
            <a:ext cx="183944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선형회귀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Search2,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endParaRPr lang="en-US" altLang="ko-KR" sz="1200" b="1" dirty="0">
              <a:latin typeface="Segoe UI Variable Small" pitchFamily="2" charset="0"/>
            </a:endParaRP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-0.0083</a:t>
            </a:r>
          </a:p>
          <a:p>
            <a:r>
              <a:rPr lang="en-US" altLang="ko-KR" sz="1200" b="1" dirty="0"/>
              <a:t>RMSE: 29.4741</a:t>
            </a:r>
            <a:endParaRPr lang="ko-KR" altLang="en-US" sz="12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817146-82F6-9528-16E3-3F2A490D4C6D}"/>
              </a:ext>
            </a:extLst>
          </p:cNvPr>
          <p:cNvSpPr txBox="1"/>
          <p:nvPr/>
        </p:nvSpPr>
        <p:spPr>
          <a:xfrm>
            <a:off x="1937682" y="5821240"/>
            <a:ext cx="8218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추세는 어느정도 반영하였으나 실제 하수 농도 값과는 거리가 멀다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</a:p>
          <a:p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893543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DAA55-BFD7-48DF-028E-F58347A9B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5E3DF-E960-CCAE-D470-D6EE552BB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SARS-CoV-2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계절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(Seasonal)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472F80-EA53-B838-6FF1-4284399F9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19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24BF710D-FFDE-8AF9-3FDF-6088EBD24E53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8DE4B2-C89C-CBC3-BC84-51857F1ECB6F}"/>
              </a:ext>
            </a:extLst>
          </p:cNvPr>
          <p:cNvSpPr txBox="1"/>
          <p:nvPr/>
        </p:nvSpPr>
        <p:spPr>
          <a:xfrm>
            <a:off x="1937682" y="5821240"/>
            <a:ext cx="8218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추세는 어느정도 반영하였으나 실제 하수 농도 값과는 거리가 멀다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</a:p>
          <a:p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A2CA33-291F-6E1D-BBE5-C47857F51032}"/>
              </a:ext>
            </a:extLst>
          </p:cNvPr>
          <p:cNvSpPr txBox="1"/>
          <p:nvPr/>
        </p:nvSpPr>
        <p:spPr>
          <a:xfrm>
            <a:off x="9413311" y="136525"/>
            <a:ext cx="291465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선형회귀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Spring: </a:t>
            </a:r>
            <a:r>
              <a:rPr lang="ko-KR" altLang="en-US" sz="1200" b="1" dirty="0">
                <a:latin typeface="Segoe UI Variable Small" pitchFamily="2" charset="0"/>
              </a:rPr>
              <a:t>인후통 </a:t>
            </a:r>
            <a:r>
              <a:rPr lang="en-US" altLang="ko-KR" sz="1200" b="1" dirty="0" err="1">
                <a:latin typeface="Segoe UI Variable Small" pitchFamily="2" charset="0"/>
              </a:rPr>
              <a:t>nolag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Fall: SARS-CoV-2 search3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Winter: </a:t>
            </a:r>
            <a:r>
              <a:rPr lang="ko-KR" altLang="en-US" sz="1200" b="1" dirty="0">
                <a:latin typeface="Segoe UI Variable Small" pitchFamily="2" charset="0"/>
              </a:rPr>
              <a:t>숨가쁨 </a:t>
            </a:r>
            <a:r>
              <a:rPr lang="en-US" altLang="ko-KR" sz="1200" b="1" dirty="0">
                <a:latin typeface="Segoe UI Variable Small" pitchFamily="2" charset="0"/>
              </a:rPr>
              <a:t>search1</a:t>
            </a: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-179.3331</a:t>
            </a:r>
          </a:p>
          <a:p>
            <a:r>
              <a:rPr lang="en-US" altLang="ko-KR" sz="1200" b="1" dirty="0"/>
              <a:t>RMSE: 15.7482</a:t>
            </a:r>
            <a:endParaRPr lang="ko-KR" altLang="en-US" sz="1200" b="1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16E048A-893F-6937-C47B-E1250D7273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357" y="1457447"/>
            <a:ext cx="9549281" cy="4057528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553C1E29-1760-BDF2-516B-CA8F3F0F741A}"/>
              </a:ext>
            </a:extLst>
          </p:cNvPr>
          <p:cNvSpPr/>
          <p:nvPr/>
        </p:nvSpPr>
        <p:spPr>
          <a:xfrm>
            <a:off x="5478741" y="1776413"/>
            <a:ext cx="1098550" cy="3282950"/>
          </a:xfrm>
          <a:prstGeom prst="rect">
            <a:avLst/>
          </a:prstGeom>
          <a:solidFill>
            <a:srgbClr val="FF0909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A28BD05-D818-B284-62AD-BA31903F367B}"/>
              </a:ext>
            </a:extLst>
          </p:cNvPr>
          <p:cNvSpPr/>
          <p:nvPr/>
        </p:nvSpPr>
        <p:spPr>
          <a:xfrm>
            <a:off x="1752224" y="1787525"/>
            <a:ext cx="495676" cy="3282950"/>
          </a:xfrm>
          <a:prstGeom prst="rect">
            <a:avLst/>
          </a:prstGeom>
          <a:solidFill>
            <a:srgbClr val="FF0909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68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9FE02-F0F4-9A4A-22FB-9942A3FC6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DD0724-55C8-2FE1-0307-2B7675D5A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Influenza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계절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(Seasonal)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284039-C477-12C2-415D-1C9D2AC91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20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701EC9F-57C0-9BB6-0EB2-66BAB8AA20C7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C5F972-14E9-3F1F-708E-FCA9E714A89E}"/>
              </a:ext>
            </a:extLst>
          </p:cNvPr>
          <p:cNvSpPr txBox="1"/>
          <p:nvPr/>
        </p:nvSpPr>
        <p:spPr>
          <a:xfrm>
            <a:off x="9413311" y="136525"/>
            <a:ext cx="29146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선형회귀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Spring: </a:t>
            </a:r>
            <a:r>
              <a:rPr lang="ko-KR" altLang="en-US" sz="1200" b="1" dirty="0">
                <a:latin typeface="Segoe UI Variable Small" pitchFamily="2" charset="0"/>
              </a:rPr>
              <a:t>인플루엔자 </a:t>
            </a:r>
            <a:r>
              <a:rPr lang="en-US" altLang="ko-KR" sz="1200" b="1" dirty="0" err="1">
                <a:latin typeface="Segoe UI Variable Small" pitchFamily="2" charset="0"/>
              </a:rPr>
              <a:t>nolag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Winter: </a:t>
            </a:r>
            <a:r>
              <a:rPr lang="ko-KR" altLang="en-US" sz="1200" b="1" dirty="0">
                <a:latin typeface="Segoe UI Variable Small" pitchFamily="2" charset="0"/>
              </a:rPr>
              <a:t>인플루엔자 </a:t>
            </a:r>
            <a:r>
              <a:rPr lang="en-US" altLang="ko-KR" sz="1200" b="1" dirty="0">
                <a:latin typeface="Segoe UI Variable Small" pitchFamily="2" charset="0"/>
              </a:rPr>
              <a:t>search1</a:t>
            </a: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0.8272</a:t>
            </a:r>
          </a:p>
          <a:p>
            <a:r>
              <a:rPr lang="en-US" altLang="ko-KR" sz="1200" b="1" dirty="0"/>
              <a:t>RMSE: 4.2319</a:t>
            </a:r>
            <a:endParaRPr lang="ko-KR" altLang="en-US" sz="12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D59C892-0462-147F-31AB-2060D8F880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357" y="1457447"/>
            <a:ext cx="9549281" cy="40565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8CD6D0-3DD7-A6EA-7144-DEC8D2E42F28}"/>
              </a:ext>
            </a:extLst>
          </p:cNvPr>
          <p:cNvSpPr txBox="1"/>
          <p:nvPr/>
        </p:nvSpPr>
        <p:spPr>
          <a:xfrm>
            <a:off x="1937682" y="6026117"/>
            <a:ext cx="8218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Segoe UI Variable Small" pitchFamily="2" charset="0"/>
              </a:rPr>
              <a:t>2026</a:t>
            </a:r>
            <a:r>
              <a:rPr lang="ko-KR" altLang="en-US" b="1" dirty="0">
                <a:latin typeface="Segoe UI Variable Small" pitchFamily="2" charset="0"/>
              </a:rPr>
              <a:t>년도 상승곡선과 안정기를 잘 예측함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sp>
        <p:nvSpPr>
          <p:cNvPr id="12" name="별: 꼭짓점 5개 11">
            <a:extLst>
              <a:ext uri="{FF2B5EF4-FFF2-40B4-BE49-F238E27FC236}">
                <a16:creationId xmlns:a16="http://schemas.microsoft.com/office/drawing/2014/main" id="{57B822DB-9889-9096-2B39-5AB1AFB114A9}"/>
              </a:ext>
            </a:extLst>
          </p:cNvPr>
          <p:cNvSpPr/>
          <p:nvPr/>
        </p:nvSpPr>
        <p:spPr>
          <a:xfrm>
            <a:off x="1246094" y="1343025"/>
            <a:ext cx="277906" cy="279587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9520730-43DE-2485-103A-69580E8259F0}"/>
              </a:ext>
            </a:extLst>
          </p:cNvPr>
          <p:cNvSpPr/>
          <p:nvPr/>
        </p:nvSpPr>
        <p:spPr>
          <a:xfrm>
            <a:off x="5069165" y="1776413"/>
            <a:ext cx="1169709" cy="3282950"/>
          </a:xfrm>
          <a:prstGeom prst="rect">
            <a:avLst/>
          </a:prstGeom>
          <a:solidFill>
            <a:srgbClr val="FF0909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31A056-6D9F-96ED-1B2B-F7137CD503EE}"/>
              </a:ext>
            </a:extLst>
          </p:cNvPr>
          <p:cNvSpPr/>
          <p:nvPr/>
        </p:nvSpPr>
        <p:spPr>
          <a:xfrm>
            <a:off x="6238874" y="1776413"/>
            <a:ext cx="1169709" cy="3282950"/>
          </a:xfrm>
          <a:prstGeom prst="rect">
            <a:avLst/>
          </a:prstGeom>
          <a:solidFill>
            <a:srgbClr val="FF0909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A594FCE-C22B-D3DF-8295-89BC589A1C38}"/>
              </a:ext>
            </a:extLst>
          </p:cNvPr>
          <p:cNvSpPr/>
          <p:nvPr/>
        </p:nvSpPr>
        <p:spPr>
          <a:xfrm>
            <a:off x="1783041" y="1776413"/>
            <a:ext cx="579160" cy="3282950"/>
          </a:xfrm>
          <a:prstGeom prst="rect">
            <a:avLst/>
          </a:prstGeom>
          <a:solidFill>
            <a:srgbClr val="FF0909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4443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B52A3-A511-9C84-FC88-309E8A476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40D99E-A326-668A-5F71-F64A44B55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Norovirus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계절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(Seasonal)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04B7D-4017-420A-7E90-73C2C33A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21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4091840-0E3B-E6F4-2CDE-AB9F59916AD9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925DE2-23B5-27F3-137A-B0ABFB704AA5}"/>
              </a:ext>
            </a:extLst>
          </p:cNvPr>
          <p:cNvSpPr txBox="1"/>
          <p:nvPr/>
        </p:nvSpPr>
        <p:spPr>
          <a:xfrm>
            <a:off x="1937682" y="5821240"/>
            <a:ext cx="8218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추세는 어느정도 반영하였으나 실제 하수 농도 값과는 거리가 멀다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</a:p>
          <a:p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1E4062-BC44-9DDC-1FFC-EA2E388622A7}"/>
              </a:ext>
            </a:extLst>
          </p:cNvPr>
          <p:cNvSpPr txBox="1"/>
          <p:nvPr/>
        </p:nvSpPr>
        <p:spPr>
          <a:xfrm>
            <a:off x="9413311" y="136525"/>
            <a:ext cx="291465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선형회귀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Spring: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search3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Fall: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search1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Winter: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search3</a:t>
            </a: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0.1328</a:t>
            </a:r>
          </a:p>
          <a:p>
            <a:r>
              <a:rPr lang="en-US" altLang="ko-KR" sz="1200" b="1" dirty="0"/>
              <a:t>RMSE: 27.3352</a:t>
            </a:r>
            <a:endParaRPr lang="ko-KR" altLang="en-US" sz="1200" b="1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166C281A-35C7-98D4-783E-A938FCFFCF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356" y="1457447"/>
            <a:ext cx="9549281" cy="4058502"/>
          </a:xfrm>
          <a:prstGeom prst="rect">
            <a:avLst/>
          </a:prstGeom>
        </p:spPr>
      </p:pic>
      <p:sp>
        <p:nvSpPr>
          <p:cNvPr id="10" name="별: 꼭짓점 5개 9">
            <a:extLst>
              <a:ext uri="{FF2B5EF4-FFF2-40B4-BE49-F238E27FC236}">
                <a16:creationId xmlns:a16="http://schemas.microsoft.com/office/drawing/2014/main" id="{07BF89BE-9643-A196-ECF7-F3DF26ECB796}"/>
              </a:ext>
            </a:extLst>
          </p:cNvPr>
          <p:cNvSpPr/>
          <p:nvPr/>
        </p:nvSpPr>
        <p:spPr>
          <a:xfrm>
            <a:off x="1246094" y="1343025"/>
            <a:ext cx="277906" cy="279587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5BAB6A2-3C65-DC95-9DB8-A43E3155651A}"/>
              </a:ext>
            </a:extLst>
          </p:cNvPr>
          <p:cNvSpPr/>
          <p:nvPr/>
        </p:nvSpPr>
        <p:spPr>
          <a:xfrm>
            <a:off x="5387975" y="1787525"/>
            <a:ext cx="1198563" cy="3282950"/>
          </a:xfrm>
          <a:prstGeom prst="rect">
            <a:avLst/>
          </a:prstGeom>
          <a:solidFill>
            <a:srgbClr val="FF0909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725D2D9-6827-DE70-91DD-C46DF26CF96F}"/>
              </a:ext>
            </a:extLst>
          </p:cNvPr>
          <p:cNvSpPr/>
          <p:nvPr/>
        </p:nvSpPr>
        <p:spPr>
          <a:xfrm>
            <a:off x="1768475" y="1776413"/>
            <a:ext cx="98425" cy="3282950"/>
          </a:xfrm>
          <a:prstGeom prst="rect">
            <a:avLst/>
          </a:prstGeom>
          <a:solidFill>
            <a:srgbClr val="FF0909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120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6C9EA-EB7B-413E-33B3-5E7C16DD2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979B343-F6AF-B923-3024-185543088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2425" y="1457447"/>
            <a:ext cx="9549282" cy="405752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7198F2D-74BD-4CF8-165D-FC25E9459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SARS-CoV-2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전체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+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계절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(Mixed) Linear Regression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2877C-D22C-61E4-0436-45715E1E4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22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6B0014B-255A-91A6-54F9-BDB128588B47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A9F84C-86C0-5228-371B-0963C1D11895}"/>
              </a:ext>
            </a:extLst>
          </p:cNvPr>
          <p:cNvSpPr txBox="1"/>
          <p:nvPr/>
        </p:nvSpPr>
        <p:spPr>
          <a:xfrm>
            <a:off x="1937682" y="5821240"/>
            <a:ext cx="8218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추세는 어느정도 반영하였으나 실제 하수 농도 값과는 거리가 멀다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</a:p>
          <a:p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488AB2-5260-5C9A-3F2E-69EC092CC21A}"/>
              </a:ext>
            </a:extLst>
          </p:cNvPr>
          <p:cNvSpPr txBox="1"/>
          <p:nvPr/>
        </p:nvSpPr>
        <p:spPr>
          <a:xfrm>
            <a:off x="10156451" y="136525"/>
            <a:ext cx="29146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선형회귀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Global: </a:t>
            </a:r>
            <a:r>
              <a:rPr lang="ko-KR" altLang="en-US" sz="1200" b="1" dirty="0">
                <a:latin typeface="Segoe UI Variable Small" pitchFamily="2" charset="0"/>
              </a:rPr>
              <a:t>코로나</a:t>
            </a:r>
            <a:r>
              <a:rPr lang="en-US" altLang="ko-KR" sz="1200" b="1" dirty="0">
                <a:latin typeface="Segoe UI Variable Small" pitchFamily="2" charset="0"/>
              </a:rPr>
              <a:t>19 search1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Spring: </a:t>
            </a:r>
            <a:r>
              <a:rPr lang="ko-KR" altLang="en-US" sz="1200" b="1" dirty="0">
                <a:latin typeface="Segoe UI Variable Small" pitchFamily="2" charset="0"/>
              </a:rPr>
              <a:t>인후통 </a:t>
            </a:r>
            <a:r>
              <a:rPr lang="en-US" altLang="ko-KR" sz="1200" b="1" dirty="0" err="1">
                <a:latin typeface="Segoe UI Variable Small" pitchFamily="2" charset="0"/>
              </a:rPr>
              <a:t>nolag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Fall: SARS-CoV-2 search3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Winter: </a:t>
            </a:r>
            <a:r>
              <a:rPr lang="ko-KR" altLang="en-US" sz="1200" b="1" dirty="0">
                <a:latin typeface="Segoe UI Variable Small" pitchFamily="2" charset="0"/>
              </a:rPr>
              <a:t>숨가쁨 </a:t>
            </a:r>
            <a:r>
              <a:rPr lang="en-US" altLang="ko-KR" sz="1200" b="1" dirty="0">
                <a:latin typeface="Segoe UI Variable Small" pitchFamily="2" charset="0"/>
              </a:rPr>
              <a:t>search1</a:t>
            </a: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-0.9526</a:t>
            </a:r>
          </a:p>
          <a:p>
            <a:r>
              <a:rPr lang="en-US" altLang="ko-KR" sz="1200" b="1" dirty="0"/>
              <a:t>RMSE: 1.6387</a:t>
            </a:r>
            <a:endParaRPr lang="ko-KR" altLang="en-US" sz="1200" b="1" dirty="0"/>
          </a:p>
        </p:txBody>
      </p:sp>
      <p:sp>
        <p:nvSpPr>
          <p:cNvPr id="11" name="별: 꼭짓점 5개 10">
            <a:extLst>
              <a:ext uri="{FF2B5EF4-FFF2-40B4-BE49-F238E27FC236}">
                <a16:creationId xmlns:a16="http://schemas.microsoft.com/office/drawing/2014/main" id="{2339D971-9821-AB30-29CA-B30D3F605344}"/>
              </a:ext>
            </a:extLst>
          </p:cNvPr>
          <p:cNvSpPr/>
          <p:nvPr/>
        </p:nvSpPr>
        <p:spPr>
          <a:xfrm>
            <a:off x="1246094" y="1343025"/>
            <a:ext cx="277906" cy="279587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87488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CAB8-43C4-FF6F-A6CF-6E1271BDA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9A27BF-C5EB-99BC-1B7F-4CC6BEE7C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Influenza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전체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+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계절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(Mixed) Linear Regression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D232BA-F791-9A85-3378-470D3977F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23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F33BA44-33FF-D9ED-C3B6-0FCD209CB9FF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747539-2642-595E-F57C-BD64E7B8C346}"/>
              </a:ext>
            </a:extLst>
          </p:cNvPr>
          <p:cNvSpPr txBox="1"/>
          <p:nvPr/>
        </p:nvSpPr>
        <p:spPr>
          <a:xfrm>
            <a:off x="9584764" y="136525"/>
            <a:ext cx="2743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선형회귀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Global: </a:t>
            </a:r>
            <a:r>
              <a:rPr lang="ko-KR" altLang="en-US" sz="1200" b="1" dirty="0">
                <a:latin typeface="Segoe UI Variable Small" pitchFamily="2" charset="0"/>
              </a:rPr>
              <a:t>오한 </a:t>
            </a:r>
            <a:r>
              <a:rPr lang="en-US" altLang="ko-KR" sz="1200" b="1" dirty="0">
                <a:latin typeface="Segoe UI Variable Small" pitchFamily="2" charset="0"/>
              </a:rPr>
              <a:t>search2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Spring: </a:t>
            </a:r>
            <a:r>
              <a:rPr lang="ko-KR" altLang="en-US" sz="1200" b="1" dirty="0">
                <a:latin typeface="Segoe UI Variable Small" pitchFamily="2" charset="0"/>
              </a:rPr>
              <a:t>인플루엔자 </a:t>
            </a:r>
            <a:r>
              <a:rPr lang="en-US" altLang="ko-KR" sz="1200" b="1" dirty="0" err="1">
                <a:latin typeface="Segoe UI Variable Small" pitchFamily="2" charset="0"/>
              </a:rPr>
              <a:t>nolag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Winter: </a:t>
            </a:r>
            <a:r>
              <a:rPr lang="ko-KR" altLang="en-US" sz="1200" b="1" dirty="0">
                <a:latin typeface="Segoe UI Variable Small" pitchFamily="2" charset="0"/>
              </a:rPr>
              <a:t>인플루엔자 </a:t>
            </a:r>
            <a:r>
              <a:rPr lang="en-US" altLang="ko-KR" sz="1200" b="1" dirty="0">
                <a:latin typeface="Segoe UI Variable Small" pitchFamily="2" charset="0"/>
              </a:rPr>
              <a:t>search1</a:t>
            </a: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0.7723</a:t>
            </a:r>
          </a:p>
          <a:p>
            <a:r>
              <a:rPr lang="en-US" altLang="ko-KR" sz="1200" b="1" dirty="0"/>
              <a:t>RMSE: 4.8579</a:t>
            </a:r>
            <a:endParaRPr lang="ko-KR" altLang="en-US" sz="1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C341A1-1974-0260-7D3A-BA0E75B6B0CF}"/>
              </a:ext>
            </a:extLst>
          </p:cNvPr>
          <p:cNvSpPr txBox="1"/>
          <p:nvPr/>
        </p:nvSpPr>
        <p:spPr>
          <a:xfrm>
            <a:off x="1937682" y="6026117"/>
            <a:ext cx="8218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Segoe UI Variable Small" pitchFamily="2" charset="0"/>
              </a:rPr>
              <a:t>2026</a:t>
            </a:r>
            <a:r>
              <a:rPr lang="ko-KR" altLang="en-US" b="1" dirty="0">
                <a:latin typeface="Segoe UI Variable Small" pitchFamily="2" charset="0"/>
              </a:rPr>
              <a:t>년도 상승곡선과 안정기를 잘 예측함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83348C0-C723-E6A8-CEA8-DFD9FFEBC7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047" y="1521520"/>
            <a:ext cx="9549283" cy="4056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01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A264D-4AF3-26A6-A628-B895BAEE9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CA0A6280-DECD-A098-EE67-75CBB824F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357" y="1466907"/>
            <a:ext cx="9549283" cy="405850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8D1CF36-6C6A-D9E3-E080-C80EC326D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Norovirus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전체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+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계절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(Mixed) Linear Regression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D58A2-ED55-23B2-C039-7BBD464E2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24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E4E7E981-38E6-A293-CFF2-75528099C3F9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492D50-4827-6E23-80B4-31B34158F117}"/>
              </a:ext>
            </a:extLst>
          </p:cNvPr>
          <p:cNvSpPr txBox="1"/>
          <p:nvPr/>
        </p:nvSpPr>
        <p:spPr>
          <a:xfrm>
            <a:off x="1937682" y="5821240"/>
            <a:ext cx="8218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추세는 어느정도 반영하였으나 실제 하수 농도 값과는 거리가 멀다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</a:p>
          <a:p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6A9A73-3CAB-0B4D-C3AB-E1D88EC9DFA6}"/>
              </a:ext>
            </a:extLst>
          </p:cNvPr>
          <p:cNvSpPr txBox="1"/>
          <p:nvPr/>
        </p:nvSpPr>
        <p:spPr>
          <a:xfrm>
            <a:off x="9842090" y="136525"/>
            <a:ext cx="248587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latin typeface="Segoe UI Variable Small" pitchFamily="2" charset="0"/>
              </a:rPr>
              <a:t>선형회귀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Global: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search2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Spring: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search3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Fall: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search1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Winter: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search3</a:t>
            </a: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0.1122</a:t>
            </a:r>
          </a:p>
          <a:p>
            <a:r>
              <a:rPr lang="en-US" altLang="ko-KR" sz="1200" b="1" dirty="0"/>
              <a:t>RMSE: 27.6572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8729655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2FF2A-0BA1-839A-7707-F3B2C2018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4893F6-2081-B945-16FB-7C4B4A3E6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SARS-CoV-2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전체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+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계절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(Mixed) Lasso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B48E6C-6CF3-0097-2263-B4F7166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25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C2C34DDB-96AA-9907-684A-CCD80C88D134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361A43-D351-6A20-20B9-59F87B92A357}"/>
              </a:ext>
            </a:extLst>
          </p:cNvPr>
          <p:cNvSpPr txBox="1"/>
          <p:nvPr/>
        </p:nvSpPr>
        <p:spPr>
          <a:xfrm>
            <a:off x="1937682" y="5821240"/>
            <a:ext cx="8218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추세는 어느정도 반영하였으나 실제 하수 농도 값과는 거리가 멀다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</a:p>
          <a:p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7FD616B-8A70-66FD-361F-DFE37E418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355" y="1457447"/>
            <a:ext cx="9549282" cy="405752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9ED02D2-23BB-BB4E-2E0C-1D7626DFB73C}"/>
              </a:ext>
            </a:extLst>
          </p:cNvPr>
          <p:cNvSpPr txBox="1"/>
          <p:nvPr/>
        </p:nvSpPr>
        <p:spPr>
          <a:xfrm>
            <a:off x="9277347" y="136525"/>
            <a:ext cx="29146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Segoe UI Variable Small" pitchFamily="2" charset="0"/>
              </a:rPr>
              <a:t>Lasso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Global: </a:t>
            </a:r>
            <a:r>
              <a:rPr lang="ko-KR" altLang="en-US" sz="1200" b="1" dirty="0">
                <a:latin typeface="Segoe UI Variable Small" pitchFamily="2" charset="0"/>
              </a:rPr>
              <a:t>코로나</a:t>
            </a:r>
            <a:r>
              <a:rPr lang="en-US" altLang="ko-KR" sz="1200" b="1" dirty="0">
                <a:latin typeface="Segoe UI Variable Small" pitchFamily="2" charset="0"/>
              </a:rPr>
              <a:t>19 search1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Spring: </a:t>
            </a:r>
            <a:r>
              <a:rPr lang="ko-KR" altLang="en-US" sz="1200" b="1" dirty="0">
                <a:latin typeface="Segoe UI Variable Small" pitchFamily="2" charset="0"/>
              </a:rPr>
              <a:t>인후통 </a:t>
            </a:r>
            <a:r>
              <a:rPr lang="en-US" altLang="ko-KR" sz="1200" b="1" dirty="0" err="1">
                <a:latin typeface="Segoe UI Variable Small" pitchFamily="2" charset="0"/>
              </a:rPr>
              <a:t>nolag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Fall: SARS-CoV-2 search3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Winter: </a:t>
            </a:r>
            <a:r>
              <a:rPr lang="ko-KR" altLang="en-US" sz="1200" b="1" dirty="0">
                <a:latin typeface="Segoe UI Variable Small" pitchFamily="2" charset="0"/>
              </a:rPr>
              <a:t>숨가쁨 </a:t>
            </a:r>
            <a:r>
              <a:rPr lang="en-US" altLang="ko-KR" sz="1200" b="1" dirty="0">
                <a:latin typeface="Segoe UI Variable Small" pitchFamily="2" charset="0"/>
              </a:rPr>
              <a:t>search1</a:t>
            </a: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-64.6327</a:t>
            </a:r>
          </a:p>
          <a:p>
            <a:r>
              <a:rPr lang="en-US" altLang="ko-KR" sz="1200" b="1" dirty="0"/>
              <a:t>RMSE: 9.5007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5316126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1055A-0312-7D34-5961-0BA448EFA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91B6B7-9332-6A6A-14AC-7AF4EDA46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Influenza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전체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+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계절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(Mixed) Lasso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742B99-8BBE-5CED-E80B-994F452B8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26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46B58DB-0A16-7920-6FA6-5E5955D6BA82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1E43AA-00BF-AC91-59B1-80AE0820F8E6}"/>
              </a:ext>
            </a:extLst>
          </p:cNvPr>
          <p:cNvSpPr txBox="1"/>
          <p:nvPr/>
        </p:nvSpPr>
        <p:spPr>
          <a:xfrm>
            <a:off x="9413311" y="136525"/>
            <a:ext cx="291465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Segoe UI Variable Small" pitchFamily="2" charset="0"/>
              </a:rPr>
              <a:t>Lasso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Global: </a:t>
            </a:r>
            <a:r>
              <a:rPr lang="ko-KR" altLang="en-US" sz="1200" b="1" dirty="0">
                <a:latin typeface="Segoe UI Variable Small" pitchFamily="2" charset="0"/>
              </a:rPr>
              <a:t>오한 </a:t>
            </a:r>
            <a:r>
              <a:rPr lang="en-US" altLang="ko-KR" sz="1200" b="1" dirty="0">
                <a:latin typeface="Segoe UI Variable Small" pitchFamily="2" charset="0"/>
              </a:rPr>
              <a:t>search2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Spring: </a:t>
            </a:r>
            <a:r>
              <a:rPr lang="ko-KR" altLang="en-US" sz="1200" b="1" dirty="0">
                <a:latin typeface="Segoe UI Variable Small" pitchFamily="2" charset="0"/>
              </a:rPr>
              <a:t>인플루엔자 </a:t>
            </a:r>
            <a:r>
              <a:rPr lang="en-US" altLang="ko-KR" sz="1200" b="1" dirty="0" err="1">
                <a:latin typeface="Segoe UI Variable Small" pitchFamily="2" charset="0"/>
              </a:rPr>
              <a:t>nolag</a:t>
            </a:r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Winter: </a:t>
            </a:r>
            <a:r>
              <a:rPr lang="ko-KR" altLang="en-US" sz="1200" b="1" dirty="0">
                <a:latin typeface="Segoe UI Variable Small" pitchFamily="2" charset="0"/>
              </a:rPr>
              <a:t>인플루엔자 </a:t>
            </a:r>
            <a:r>
              <a:rPr lang="en-US" altLang="ko-KR" sz="1200" b="1" dirty="0">
                <a:latin typeface="Segoe UI Variable Small" pitchFamily="2" charset="0"/>
              </a:rPr>
              <a:t>search1</a:t>
            </a: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0.7939</a:t>
            </a:r>
          </a:p>
          <a:p>
            <a:r>
              <a:rPr lang="en-US" altLang="ko-KR" sz="1200" b="1" dirty="0"/>
              <a:t>RMSE: 4.6216</a:t>
            </a:r>
            <a:endParaRPr lang="ko-KR" altLang="en-US" sz="1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DDCDDD-1AB9-CF9E-E7F4-99A7B83CBE36}"/>
              </a:ext>
            </a:extLst>
          </p:cNvPr>
          <p:cNvSpPr txBox="1"/>
          <p:nvPr/>
        </p:nvSpPr>
        <p:spPr>
          <a:xfrm>
            <a:off x="1937682" y="6026117"/>
            <a:ext cx="8218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Segoe UI Variable Small" pitchFamily="2" charset="0"/>
              </a:rPr>
              <a:t>2026</a:t>
            </a:r>
            <a:r>
              <a:rPr lang="ko-KR" altLang="en-US" b="1" dirty="0">
                <a:latin typeface="Segoe UI Variable Small" pitchFamily="2" charset="0"/>
              </a:rPr>
              <a:t>년도 상승곡선과 안정기를 잘 예측함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8638C81-68B9-52E6-690B-182870C571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047" y="1457446"/>
            <a:ext cx="9549282" cy="4056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375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15A74-2F7C-26BE-49D3-596C64B2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3F76D4-87E2-F74C-460B-D7603A3C3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Norovirus 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전체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+</a:t>
            </a:r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계절 </a:t>
            </a:r>
            <a:r>
              <a:rPr lang="en-US" altLang="ko-K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(Mixed) Lasso</a:t>
            </a:r>
            <a:endParaRPr lang="ko-KR" altLang="en-U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 Variable Small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73407C-473E-C34E-1AA6-767E842E9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27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EE226DAD-BCB3-4ED1-9B30-C9EF96E7BFA5}"/>
              </a:ext>
            </a:extLst>
          </p:cNvPr>
          <p:cNvSpPr txBox="1">
            <a:spLocks/>
          </p:cNvSpPr>
          <p:nvPr/>
        </p:nvSpPr>
        <p:spPr>
          <a:xfrm>
            <a:off x="740336" y="1343025"/>
            <a:ext cx="10613463" cy="2419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ko-KR" altLang="ko-KR" dirty="0">
              <a:latin typeface="Segoe UI Variable Small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A29244-6897-B4F3-789B-8DE07910B24D}"/>
              </a:ext>
            </a:extLst>
          </p:cNvPr>
          <p:cNvSpPr txBox="1"/>
          <p:nvPr/>
        </p:nvSpPr>
        <p:spPr>
          <a:xfrm>
            <a:off x="1937682" y="5821240"/>
            <a:ext cx="8218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Segoe UI Variable Small" pitchFamily="2" charset="0"/>
              </a:rPr>
              <a:t>추세는 어느정도 반영하였으나 실제 하수 농도 값과는 거리가 멀다</a:t>
            </a:r>
            <a:r>
              <a:rPr lang="en-US" altLang="ko-KR" b="1" dirty="0">
                <a:latin typeface="Segoe UI Variable Small" pitchFamily="2" charset="0"/>
              </a:rPr>
              <a:t>.</a:t>
            </a:r>
          </a:p>
          <a:p>
            <a:r>
              <a:rPr lang="ko-KR" altLang="en-US" b="1" dirty="0">
                <a:latin typeface="Segoe UI Variable Small" pitchFamily="2" charset="0"/>
              </a:rPr>
              <a:t> </a:t>
            </a:r>
            <a:endParaRPr lang="ko-KR" altLang="en-US" sz="16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4CFD2A81-C3A6-57F6-35A2-AF41AF8D85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357" y="1457447"/>
            <a:ext cx="9549282" cy="40585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2CAC6ED-9D2D-2C9D-5DFB-E643C2B9867A}"/>
              </a:ext>
            </a:extLst>
          </p:cNvPr>
          <p:cNvSpPr txBox="1"/>
          <p:nvPr/>
        </p:nvSpPr>
        <p:spPr>
          <a:xfrm>
            <a:off x="9413311" y="136525"/>
            <a:ext cx="29146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Segoe UI Variable Small" pitchFamily="2" charset="0"/>
              </a:rPr>
              <a:t>Lasso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Global: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search2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Spring: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search3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Fall: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search1</a:t>
            </a:r>
          </a:p>
          <a:p>
            <a:r>
              <a:rPr lang="en-US" altLang="ko-KR" sz="1200" b="1" dirty="0">
                <a:latin typeface="Segoe UI Variable Small" pitchFamily="2" charset="0"/>
              </a:rPr>
              <a:t>Winter: </a:t>
            </a:r>
            <a:r>
              <a:rPr lang="ko-KR" altLang="en-US" sz="1200" b="1" dirty="0" err="1">
                <a:latin typeface="Segoe UI Variable Small" pitchFamily="2" charset="0"/>
              </a:rPr>
              <a:t>노로바이러스</a:t>
            </a:r>
            <a:r>
              <a:rPr lang="ko-KR" altLang="en-US" sz="1200" b="1" dirty="0">
                <a:latin typeface="Segoe UI Variable Small" pitchFamily="2" charset="0"/>
              </a:rPr>
              <a:t> </a:t>
            </a:r>
            <a:r>
              <a:rPr lang="en-US" altLang="ko-KR" sz="1200" b="1" dirty="0">
                <a:latin typeface="Segoe UI Variable Small" pitchFamily="2" charset="0"/>
              </a:rPr>
              <a:t>search3</a:t>
            </a:r>
          </a:p>
          <a:p>
            <a:endParaRPr lang="en-US" altLang="ko-KR" sz="1200" b="1" dirty="0">
              <a:latin typeface="Segoe UI Variable Small" pitchFamily="2" charset="0"/>
            </a:endParaRPr>
          </a:p>
          <a:p>
            <a:r>
              <a:rPr lang="en-US" altLang="ko-KR" sz="1200" b="1" dirty="0">
                <a:latin typeface="Segoe UI Variable Small" pitchFamily="2" charset="0"/>
              </a:rPr>
              <a:t>R</a:t>
            </a:r>
            <a:r>
              <a:rPr lang="en-US" altLang="ko-KR" sz="1200" b="1" baseline="30000" dirty="0">
                <a:latin typeface="Segoe UI Variable Small" pitchFamily="2" charset="0"/>
              </a:rPr>
              <a:t>2</a:t>
            </a:r>
            <a:r>
              <a:rPr lang="en-US" altLang="ko-KR" sz="1200" b="1" dirty="0">
                <a:latin typeface="Segoe UI Variable Small" pitchFamily="2" charset="0"/>
              </a:rPr>
              <a:t>: 0.0948</a:t>
            </a:r>
          </a:p>
          <a:p>
            <a:r>
              <a:rPr lang="en-US" altLang="ko-KR" sz="1200" b="1" dirty="0"/>
              <a:t>RMSE: 27.9266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7279020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06406-95CE-0964-CE12-C18E3C82F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3A3CCF-1551-98D8-B9AB-862133DB6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46" y="285752"/>
            <a:ext cx="11825754" cy="729668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Variable Small" pitchFamily="2" charset="0"/>
                <a:cs typeface="Times New Roman" panose="02020603050405020304" pitchFamily="18" charset="0"/>
              </a:rPr>
              <a:t>결과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AA90C4-8B5C-E306-4287-085E99441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C5530-42F1-47A2-8D67-542376C72877}" type="slidenum">
              <a:rPr lang="ko-KR" altLang="en-US" smtClean="0">
                <a:latin typeface="Segoe UI Variable Small" pitchFamily="2" charset="0"/>
              </a:rPr>
              <a:t>28</a:t>
            </a:fld>
            <a:endParaRPr lang="ko-KR" altLang="en-US" dirty="0">
              <a:latin typeface="Segoe UI Variable Small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C2A57748-BF25-3043-36D1-593B511D931E}"/>
              </a:ext>
            </a:extLst>
          </p:cNvPr>
          <p:cNvSpPr txBox="1">
            <a:spLocks/>
          </p:cNvSpPr>
          <p:nvPr/>
        </p:nvSpPr>
        <p:spPr>
          <a:xfrm>
            <a:off x="740336" y="1085850"/>
            <a:ext cx="10613463" cy="5486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ko-KR" sz="2400" b="1" dirty="0">
              <a:latin typeface="Segoe UI Variable Small" pitchFamily="2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D6C0F4C-0571-D90B-CEAC-9C9D0E7E9F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05961"/>
              </p:ext>
            </p:extLst>
          </p:nvPr>
        </p:nvGraphicFramePr>
        <p:xfrm>
          <a:off x="2958427" y="2257556"/>
          <a:ext cx="6177280" cy="2342887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544320">
                  <a:extLst>
                    <a:ext uri="{9D8B030D-6E8A-4147-A177-3AD203B41FA5}">
                      <a16:colId xmlns:a16="http://schemas.microsoft.com/office/drawing/2014/main" val="3957905093"/>
                    </a:ext>
                  </a:extLst>
                </a:gridCol>
                <a:gridCol w="1544320">
                  <a:extLst>
                    <a:ext uri="{9D8B030D-6E8A-4147-A177-3AD203B41FA5}">
                      <a16:colId xmlns:a16="http://schemas.microsoft.com/office/drawing/2014/main" val="2324672624"/>
                    </a:ext>
                  </a:extLst>
                </a:gridCol>
                <a:gridCol w="1544320">
                  <a:extLst>
                    <a:ext uri="{9D8B030D-6E8A-4147-A177-3AD203B41FA5}">
                      <a16:colId xmlns:a16="http://schemas.microsoft.com/office/drawing/2014/main" val="1590786432"/>
                    </a:ext>
                  </a:extLst>
                </a:gridCol>
                <a:gridCol w="1544320">
                  <a:extLst>
                    <a:ext uri="{9D8B030D-6E8A-4147-A177-3AD203B41FA5}">
                      <a16:colId xmlns:a16="http://schemas.microsoft.com/office/drawing/2014/main" val="87386454"/>
                    </a:ext>
                  </a:extLst>
                </a:gridCol>
              </a:tblGrid>
              <a:tr h="56409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Infectious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Disease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계절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전체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계절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2235594"/>
                  </a:ext>
                </a:extLst>
              </a:tr>
              <a:tr h="592932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SARS-CoV2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latin typeface="Segoe UI Variable Small" pitchFamily="2" charset="0"/>
                        </a:rPr>
                        <a:t>R</a:t>
                      </a:r>
                      <a:r>
                        <a:rPr lang="en-US" altLang="ko-KR" sz="1200" b="1" baseline="30000" dirty="0">
                          <a:latin typeface="Segoe UI Variable Small" pitchFamily="2" charset="0"/>
                        </a:rPr>
                        <a:t>2</a:t>
                      </a:r>
                      <a:r>
                        <a:rPr lang="en-US" altLang="ko-KR" sz="1200" b="1" dirty="0">
                          <a:latin typeface="Segoe UI Variable Small" pitchFamily="2" charset="0"/>
                        </a:rPr>
                        <a:t>: -1.0495</a:t>
                      </a:r>
                    </a:p>
                    <a:p>
                      <a:pPr algn="ctr"/>
                      <a:r>
                        <a:rPr lang="en-US" altLang="ko-KR" sz="1200" b="1" dirty="0"/>
                        <a:t>RMSE: 1.6752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latin typeface="Segoe UI Variable Small" pitchFamily="2" charset="0"/>
                        </a:rPr>
                        <a:t>R</a:t>
                      </a:r>
                      <a:r>
                        <a:rPr lang="en-US" altLang="ko-KR" sz="1200" b="0" baseline="30000" dirty="0">
                          <a:latin typeface="Segoe UI Variable Small" pitchFamily="2" charset="0"/>
                        </a:rPr>
                        <a:t>2</a:t>
                      </a:r>
                      <a:r>
                        <a:rPr lang="en-US" altLang="ko-KR" sz="1200" b="0" dirty="0">
                          <a:latin typeface="Segoe UI Variable Small" pitchFamily="2" charset="0"/>
                        </a:rPr>
                        <a:t>: -179.3331</a:t>
                      </a:r>
                    </a:p>
                    <a:p>
                      <a:pPr algn="ctr"/>
                      <a:r>
                        <a:rPr lang="en-US" altLang="ko-KR" sz="1200" b="0" dirty="0"/>
                        <a:t>RMSE: 15.7482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latin typeface="Segoe UI Variable Small" pitchFamily="2" charset="0"/>
                        </a:rPr>
                        <a:t>R</a:t>
                      </a:r>
                      <a:r>
                        <a:rPr lang="en-US" altLang="ko-KR" sz="1200" b="0" baseline="30000" dirty="0">
                          <a:latin typeface="Segoe UI Variable Small" pitchFamily="2" charset="0"/>
                        </a:rPr>
                        <a:t>2</a:t>
                      </a:r>
                      <a:r>
                        <a:rPr lang="en-US" altLang="ko-KR" sz="1200" b="0" dirty="0">
                          <a:latin typeface="Segoe UI Variable Small" pitchFamily="2" charset="0"/>
                        </a:rPr>
                        <a:t>: -64.6327</a:t>
                      </a:r>
                    </a:p>
                    <a:p>
                      <a:pPr algn="ctr"/>
                      <a:r>
                        <a:rPr lang="en-US" altLang="ko-KR" sz="1200" b="0" dirty="0"/>
                        <a:t>RMSE: 9.5007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7581586"/>
                  </a:ext>
                </a:extLst>
              </a:tr>
              <a:tr h="592932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Influenza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latin typeface="Segoe UI Variable Small" pitchFamily="2" charset="0"/>
                        </a:rPr>
                        <a:t>R</a:t>
                      </a:r>
                      <a:r>
                        <a:rPr lang="en-US" altLang="ko-KR" sz="1200" b="0" baseline="30000" dirty="0">
                          <a:latin typeface="Segoe UI Variable Small" pitchFamily="2" charset="0"/>
                        </a:rPr>
                        <a:t>2</a:t>
                      </a:r>
                      <a:r>
                        <a:rPr lang="en-US" altLang="ko-KR" sz="1200" b="0" dirty="0">
                          <a:latin typeface="Segoe UI Variable Small" pitchFamily="2" charset="0"/>
                        </a:rPr>
                        <a:t>: 0.6695</a:t>
                      </a:r>
                    </a:p>
                    <a:p>
                      <a:pPr algn="ctr"/>
                      <a:r>
                        <a:rPr lang="en-US" altLang="ko-KR" sz="1200" b="0" dirty="0"/>
                        <a:t>RMSE: 5.8529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latin typeface="Segoe UI Variable Small" pitchFamily="2" charset="0"/>
                        </a:rPr>
                        <a:t>R</a:t>
                      </a:r>
                      <a:r>
                        <a:rPr lang="en-US" altLang="ko-KR" sz="1200" b="1" baseline="30000" dirty="0">
                          <a:latin typeface="Segoe UI Variable Small" pitchFamily="2" charset="0"/>
                        </a:rPr>
                        <a:t>2</a:t>
                      </a:r>
                      <a:r>
                        <a:rPr lang="en-US" altLang="ko-KR" sz="1200" b="1" dirty="0">
                          <a:latin typeface="Segoe UI Variable Small" pitchFamily="2" charset="0"/>
                        </a:rPr>
                        <a:t>: 0.8272</a:t>
                      </a:r>
                    </a:p>
                    <a:p>
                      <a:pPr algn="ctr"/>
                      <a:r>
                        <a:rPr lang="en-US" altLang="ko-KR" sz="1200" b="1" dirty="0"/>
                        <a:t>RMSE: 4.2319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latin typeface="Segoe UI Variable Small" pitchFamily="2" charset="0"/>
                        </a:rPr>
                        <a:t>R</a:t>
                      </a:r>
                      <a:r>
                        <a:rPr lang="en-US" altLang="ko-KR" sz="1200" b="0" baseline="30000" dirty="0">
                          <a:latin typeface="Segoe UI Variable Small" pitchFamily="2" charset="0"/>
                        </a:rPr>
                        <a:t>2</a:t>
                      </a:r>
                      <a:r>
                        <a:rPr lang="en-US" altLang="ko-KR" sz="1200" b="0" dirty="0">
                          <a:latin typeface="Segoe UI Variable Small" pitchFamily="2" charset="0"/>
                        </a:rPr>
                        <a:t>: 0.7939</a:t>
                      </a:r>
                    </a:p>
                    <a:p>
                      <a:pPr algn="ctr"/>
                      <a:r>
                        <a:rPr lang="en-US" altLang="ko-KR" sz="1200" b="0" dirty="0"/>
                        <a:t>RMSE: 4.6216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901046"/>
                  </a:ext>
                </a:extLst>
              </a:tr>
              <a:tr h="592932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Norovirus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latin typeface="Segoe UI Variable Small" pitchFamily="2" charset="0"/>
                        </a:rPr>
                        <a:t>R</a:t>
                      </a:r>
                      <a:r>
                        <a:rPr lang="en-US" altLang="ko-KR" sz="1200" b="0" baseline="30000" dirty="0">
                          <a:latin typeface="Segoe UI Variable Small" pitchFamily="2" charset="0"/>
                        </a:rPr>
                        <a:t>2</a:t>
                      </a:r>
                      <a:r>
                        <a:rPr lang="en-US" altLang="ko-KR" sz="1200" b="0" dirty="0">
                          <a:latin typeface="Segoe UI Variable Small" pitchFamily="2" charset="0"/>
                        </a:rPr>
                        <a:t>: -0.0083</a:t>
                      </a:r>
                    </a:p>
                    <a:p>
                      <a:pPr algn="ctr"/>
                      <a:r>
                        <a:rPr lang="en-US" altLang="ko-KR" sz="1200" b="0" dirty="0"/>
                        <a:t>RMSE: 29.4741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latin typeface="Segoe UI Variable Small" pitchFamily="2" charset="0"/>
                        </a:rPr>
                        <a:t>R</a:t>
                      </a:r>
                      <a:r>
                        <a:rPr lang="en-US" altLang="ko-KR" sz="1200" b="1" baseline="30000" dirty="0">
                          <a:latin typeface="Segoe UI Variable Small" pitchFamily="2" charset="0"/>
                        </a:rPr>
                        <a:t>2</a:t>
                      </a:r>
                      <a:r>
                        <a:rPr lang="en-US" altLang="ko-KR" sz="1200" b="1" dirty="0">
                          <a:latin typeface="Segoe UI Variable Small" pitchFamily="2" charset="0"/>
                        </a:rPr>
                        <a:t>: 0.1328</a:t>
                      </a:r>
                    </a:p>
                    <a:p>
                      <a:pPr algn="ctr"/>
                      <a:r>
                        <a:rPr lang="en-US" altLang="ko-KR" sz="1200" b="1" dirty="0"/>
                        <a:t>RMSE: 27.3352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latin typeface="Segoe UI Variable Small" pitchFamily="2" charset="0"/>
                        </a:rPr>
                        <a:t>R</a:t>
                      </a:r>
                      <a:r>
                        <a:rPr lang="en-US" altLang="ko-KR" sz="1200" b="0" baseline="30000" dirty="0">
                          <a:latin typeface="Segoe UI Variable Small" pitchFamily="2" charset="0"/>
                        </a:rPr>
                        <a:t>2</a:t>
                      </a:r>
                      <a:r>
                        <a:rPr lang="en-US" altLang="ko-KR" sz="1200" b="0" dirty="0">
                          <a:latin typeface="Segoe UI Variable Small" pitchFamily="2" charset="0"/>
                        </a:rPr>
                        <a:t>: 0.0948</a:t>
                      </a:r>
                    </a:p>
                    <a:p>
                      <a:pPr algn="ctr"/>
                      <a:r>
                        <a:rPr lang="en-US" altLang="ko-KR" sz="1200" b="0" dirty="0"/>
                        <a:t>RMSE: 27.9266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982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4551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1646</TotalTime>
  <Words>1055</Words>
  <Application>Microsoft Office PowerPoint</Application>
  <PresentationFormat>와이드스크린</PresentationFormat>
  <Paragraphs>385</Paragraphs>
  <Slides>28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맑은 고딕</vt:lpstr>
      <vt:lpstr>Arial</vt:lpstr>
      <vt:lpstr>Cambria Math</vt:lpstr>
      <vt:lpstr>Segoe UI Variable Small</vt:lpstr>
      <vt:lpstr>Office 테마</vt:lpstr>
      <vt:lpstr>EpiSearch</vt:lpstr>
      <vt:lpstr>Outline</vt:lpstr>
      <vt:lpstr>Data</vt:lpstr>
      <vt:lpstr>Data</vt:lpstr>
      <vt:lpstr>Data Source</vt:lpstr>
      <vt:lpstr>Trends of Sewage &amp; Search Volume: SARS-CoV-2</vt:lpstr>
      <vt:lpstr>Trends of Sewage &amp; Search Volume: Influenza</vt:lpstr>
      <vt:lpstr>Trends of Sewage &amp; Search Volume: Norovirus</vt:lpstr>
      <vt:lpstr>Trends of Sewage Volume by Infectious Disease</vt:lpstr>
      <vt:lpstr>Method</vt:lpstr>
      <vt:lpstr>Framework</vt:lpstr>
      <vt:lpstr>Results</vt:lpstr>
      <vt:lpstr>전체 기간 상관분석</vt:lpstr>
      <vt:lpstr>계절 상관분석</vt:lpstr>
      <vt:lpstr>Predictive Model</vt:lpstr>
      <vt:lpstr>SARS-CoV-2 전체기간 (Global)</vt:lpstr>
      <vt:lpstr>Influenza 전체기간 (Global)</vt:lpstr>
      <vt:lpstr>Norovirus 전체기간 (Global)</vt:lpstr>
      <vt:lpstr>SARS-CoV-2 계절 (Seasonal)</vt:lpstr>
      <vt:lpstr>Influenza 계절 (Seasonal)</vt:lpstr>
      <vt:lpstr>Norovirus 계절 (Seasonal)</vt:lpstr>
      <vt:lpstr>SARS-CoV-2 전체+계절 (Mixed) Linear Regression</vt:lpstr>
      <vt:lpstr>Influenza 전체+계절 (Mixed) Linear Regression</vt:lpstr>
      <vt:lpstr>Norovirus 전체+계절 (Mixed) Linear Regression</vt:lpstr>
      <vt:lpstr>SARS-CoV-2 전체+계절 (Mixed) Lasso</vt:lpstr>
      <vt:lpstr>Influenza 전체+계절 (Mixed) Lasso</vt:lpstr>
      <vt:lpstr>Norovirus 전체+계절 (Mixed) Lasso</vt:lpstr>
      <vt:lpstr>결과 비교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SeoJin Kang</dc:creator>
  <cp:lastModifiedBy>SeoJin Kang</cp:lastModifiedBy>
  <cp:revision>19</cp:revision>
  <dcterms:created xsi:type="dcterms:W3CDTF">2026-09-13T10:01:59Z</dcterms:created>
  <dcterms:modified xsi:type="dcterms:W3CDTF">2026-09-20T08:21:12Z</dcterms:modified>
</cp:coreProperties>
</file>