
<file path=[Content_Types].xml><?xml version="1.0" encoding="utf-8"?>
<Types xmlns="http://schemas.openxmlformats.org/package/2006/content-types">
  <Default Extension="BnxXrGMCDSK_sM--AwtZ8E_yvVDqPAytSKHfrd9XhEabUsPHYFBCV21FKF3OOSVGs0qPmMSS1c_7eT4YFA4paQ&amp;response-cache-control=public" ContentType="image/png"/>
  <Default Extension="jpeg" ContentType="image/jpeg"/>
  <Default Extension="KFbSAOsr-tW90Kk8Ul9FiVaD0xofuBWHUTnO6q0OoOgdsc8pzKII_Ou0AumwNTbZDLTAkdaWFqrGSdkzQeLBPw&amp;response-cache-control=public" ContentType="image/png"/>
  <Default Extension="OgFy9vp2zAY5H2IIksj66I1aWGNR8EX8Y4kEye9Zo5Wucs4Vz8gBvpK3C9REq-OcOnvnOvfUczcyNhLg1y8BJQ&amp;response-cache-control=public" ContentType="image/png"/>
  <Default Extension="png" ContentType="image/png"/>
  <Default Extension="rels" ContentType="application/vnd.openxmlformats-package.relationships+xml"/>
  <Default Extension="wfja-cQ9yp8gUzDNtpamETzZwS1ekKkGDy-xAvEWsJptyRKfyfdlveHSBekFr6cNCg2taiwXxMv3KWZng3o7cw&amp;response-cache-control=public" ContentType="image/png"/>
  <Default Extension="xml" ContentType="application/xml"/>
  <Default Extension="Z-MToJo9PGwA9mhz_984R5yaOzqCDqyri4_byAEx7DOYaM4O7RGbixrdEC7RhLd_uF_fTelvptoEPeRRDpuPfg&amp;response-cache-control=public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77" r:id="rId4"/>
    <p:sldId id="280" r:id="rId5"/>
    <p:sldId id="283" r:id="rId6"/>
    <p:sldId id="290" r:id="rId7"/>
    <p:sldId id="291" r:id="rId8"/>
    <p:sldId id="292" r:id="rId9"/>
    <p:sldId id="293" r:id="rId10"/>
    <p:sldId id="261" r:id="rId11"/>
    <p:sldId id="289" r:id="rId12"/>
    <p:sldId id="281" r:id="rId13"/>
    <p:sldId id="284" r:id="rId14"/>
    <p:sldId id="287" r:id="rId15"/>
    <p:sldId id="288" r:id="rId16"/>
    <p:sldId id="295" r:id="rId17"/>
    <p:sldId id="265" r:id="rId18"/>
    <p:sldId id="276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184" autoAdjust="0"/>
  </p:normalViewPr>
  <p:slideViewPr>
    <p:cSldViewPr snapToGrid="0">
      <p:cViewPr varScale="1">
        <p:scale>
          <a:sx n="81" d="100"/>
          <a:sy n="81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5872F-D8E6-4376-85E7-8E0BE66BD76B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9DBCA-738F-45AD-B1D5-0651DCA924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983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9DBCA-738F-45AD-B1D5-0651DCA9246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174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FE024-5D48-C60C-D88B-53DA780D2E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E699F5-F2BC-7E86-DB9B-957F02F49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093381-4B81-FC2D-A9CF-45AF20937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11B6B-B3A5-4681-B069-0930B2E9C66D}" type="datetime1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4F8858-D393-9D6A-82F2-1AE4E1E00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3F02EA-5113-923D-FAD1-A40610AFC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735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0D5D5-4101-DA56-ED4B-BC203986F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3CA382-DE4C-3AF7-9815-2CC51DBE6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327E2F-827A-1D3F-0E16-D7052D530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9EF5-6D34-4524-AC8C-23C4BD746617}" type="datetime1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4739F8-A319-311E-2F0F-09A8C6E6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3C2162-EFFD-200A-F1C1-912FAFFE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60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AC1114-1FF5-E637-361F-772CC3B0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FBB6F5-E57C-ABEE-9A39-0B4544EA1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025442-8996-638A-1769-ACCAAA13D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55E96-8569-4028-A024-39AF353DC455}" type="datetime1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12C807-6F82-A15B-A00C-552E2565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41B9BC-2C7A-43B3-BFA4-45094D376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794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3AC28-4B39-3B0E-2D56-A5A299DF3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CD4F61-9914-6FE1-F564-988DFE83A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DE46CDF-4BA0-81B9-76F0-F62076A40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6AF448-1EBA-8A79-12BE-A4442DFBB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4EDC-7878-4CBA-A4CC-810471BFCE4E}" type="datetime1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BDF8FE-AB59-D53C-004D-854B43302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7CC34F-86F6-ADDD-A54A-8B8A423B0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60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166E92-C521-19E3-0C56-60438D81D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0EE006-008D-A109-F2DB-81E8DF56F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B5330E-BB4E-2039-2E80-94162918D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AC39A94-87EE-0B5C-5483-72B48A7E50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0430ED-962E-D416-32EB-CEDBB6F247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BAF16F2-4443-1FD2-F497-011309CFD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5E517-9A32-4B00-810C-24D0935D3CA4}" type="datetime1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9E34A60-7169-9094-5433-32D0BCCA9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79D0453-0517-8F75-58CA-00C55209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77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A7B4A-ED11-2942-6C3C-B7F823380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EB72845-1856-8B67-75BF-08804847D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1CADE-41C4-41D7-8A6C-C8521C341E19}" type="datetime1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7A5A44-338D-2E0B-D018-509F6DFA9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CA93D6-A7AD-D07D-3649-58593A8D5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871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0D2B586-25D8-7945-2DE2-6506D8847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C2F52-0B74-434F-825D-2594E8957160}" type="datetime1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524AC61-4C89-95DF-F019-7F4848283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556A90-B6F6-E6E9-C022-1346435AC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810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E901ED-6E81-111E-9DF6-17A29F9B3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19B601-D96F-7169-307F-726FEA7E5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D1B1AF-E00C-823E-AF03-D9C090593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AFBB6B-C925-ECED-0946-0DA29FB20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93B00-CAE1-4D6A-A760-9C0B5BD1D7E4}" type="datetime1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16F16A-3058-5EA7-E0A9-9AAB3A32C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B36AD1-6D43-4AA0-E15D-C3BE87EEB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861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319C9-BCC8-5D4A-2B27-8DBF32BD8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15259AB-C17E-1E5D-0AAC-3EF048DB3E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CB3C06-F9CD-43EC-0BD3-BD31FD076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9BE135-A847-9399-8ABD-D1902C5BB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885D3-B783-4B9B-8D89-64FEE799EDE4}" type="datetime1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FC813E-00FB-91F1-ACA4-1CD31DA54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EE87F2-5EAC-D696-885E-541CC9D3A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814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5AA1B-2BCA-FF97-07A8-220DF524E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E1D85A-70E4-A271-758C-2DE9F2221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9155D5-7544-1BA3-650A-9BC4C968A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9A01D-2631-421E-B45D-7172839BF98D}" type="datetime1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6C32AF-1DF0-ACB2-E6F8-A6DF58ED9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F6DB62-CEEA-9562-7C2D-F2AA5558F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40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A3DBE5-40CA-2631-DFAC-9E1071A92B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864FFE-7AE9-7310-26AD-DF1217884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9A6FB4-57C9-9EDE-C0A5-CC1AA42D7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C288-609C-4775-89D0-D87D2656BA3B}" type="datetime1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349B39-3E29-DCE8-771F-E9FD5D5E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DC9DE7-2C29-8E60-7F1E-54EF1260C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12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8AC1BBA-9F43-9881-65E3-10AE06513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0EC44E-013C-C495-82E1-C2AA56417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FF63C0-829E-217B-AEC3-EE9A66619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9D3BE-D6F2-4D9B-9032-30F3C513E17E}" type="datetime1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26AF4B-A809-3C54-2FA1-020C94EB8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70BD93-4D9C-A538-FEA9-348D7CA1D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015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fja-cQ9yp8gUzDNtpamETzZwS1ekKkGDy-xAvEWsJptyRKfyfdlveHSBekFr6cNCg2taiwXxMv3KWZng3o7cw&amp;response-cache-control=public"/><Relationship Id="rId2" Type="http://schemas.openxmlformats.org/officeDocument/2006/relationships/image" Target="../media/image3.OgFy9vp2zAY5H2IIksj66I1aWGNR8EX8Y4kEye9Zo5Wucs4Vz8gBvpK3C9REq-OcOnvnOvfUczcyNhLg1y8BJQ&amp;response-cache-control=public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Z-MToJo9PGwA9mhz_984R5yaOzqCDqyri4_byAEx7DOYaM4O7RGbixrdEC7RhLd_uF_fTelvptoEPeRRDpuPfg&amp;response-cache-control=public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KFbSAOsr-tW90Kk8Ul9FiVaD0xofuBWHUTnO6q0OoOgdsc8pzKII_Ou0AumwNTbZDLTAkdaWFqrGSdkzQeLBPw&amp;response-cache-control=public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BnxXrGMCDSK_sM--AwtZ8E_yvVDqPAytSKHfrd9XhEabUsPHYFBCV21FKF3OOSVGs0qPmMSS1c_7eT4YFA4paQ&amp;response-cache-control=public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6488AA-510F-DCB1-8BFB-176195E940A6}"/>
              </a:ext>
            </a:extLst>
          </p:cNvPr>
          <p:cNvSpPr txBox="1"/>
          <p:nvPr/>
        </p:nvSpPr>
        <p:spPr>
          <a:xfrm>
            <a:off x="604015" y="5967091"/>
            <a:ext cx="2876150" cy="416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학생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o-KR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강서진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4A4E972B-3437-24CA-81C5-3C9178A85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4015" y="1964362"/>
            <a:ext cx="10159235" cy="2124075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진행사항 보고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D00E97C-BAC9-2F9A-6244-0BF79AAA073C}"/>
              </a:ext>
            </a:extLst>
          </p:cNvPr>
          <p:cNvCxnSpPr/>
          <p:nvPr/>
        </p:nvCxnSpPr>
        <p:spPr>
          <a:xfrm>
            <a:off x="678378" y="4204508"/>
            <a:ext cx="9720000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74984EA7-0D6F-1540-BACD-13A41E344D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5695" y="204458"/>
            <a:ext cx="2603686" cy="5957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CF0A89-D5DF-88EA-78E8-F622DA7FA90F}"/>
              </a:ext>
            </a:extLst>
          </p:cNvPr>
          <p:cNvSpPr txBox="1"/>
          <p:nvPr/>
        </p:nvSpPr>
        <p:spPr>
          <a:xfrm>
            <a:off x="10158115" y="6014540"/>
            <a:ext cx="1429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2026. 7.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C67962-551A-ABD9-AF22-68E0C1FDAACB}"/>
              </a:ext>
            </a:extLst>
          </p:cNvPr>
          <p:cNvSpPr txBox="1"/>
          <p:nvPr/>
        </p:nvSpPr>
        <p:spPr>
          <a:xfrm>
            <a:off x="604015" y="5633561"/>
            <a:ext cx="2876150" cy="416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지도교수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김성찬 교수님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ADA7415-3F62-A0B0-6F44-77BB9EDAB9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401" y="152400"/>
            <a:ext cx="2878648" cy="54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02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0FC69-2C96-4827-DCAB-E433AFE45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A45FAB-07CB-0C57-A0D0-DECC0A900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지역별 </a:t>
            </a:r>
            <a:r>
              <a:rPr lang="ko-KR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검색량</a:t>
            </a:r>
            <a:r>
              <a:rPr lang="ko-KR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데이터 확보</a:t>
            </a:r>
            <a:endParaRPr lang="en-US" altLang="ko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상관계수</a:t>
            </a:r>
            <a:endParaRPr lang="en-US" altLang="ko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논문 정리</a:t>
            </a:r>
            <a:endParaRPr lang="en-US" altLang="ko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ko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093FA1-0C81-9A18-59C3-C2BCBFBA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</a:t>
            </a:fld>
            <a:r>
              <a:rPr lang="en-US" altLang="ko-KR" dirty="0"/>
              <a:t>/20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525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D857F-500D-4E41-FF81-04C6D8B65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BC8A0-7CF9-775D-0CC5-D02D3D5F0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지역별 </a:t>
            </a:r>
            <a:r>
              <a:rPr lang="ko-KR" alt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검색량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데이터 확보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F8CF7A1-606F-6D0C-FB60-30C4DF760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916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5E90F-30CF-289C-67B2-77617441F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68B570-37EF-44E3-B114-130F6A87B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연관 키워드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303DFD-F9FC-7E63-6FA5-833D0EEF5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 numCol="2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연관 키워드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코로나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코로나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19, COVID-19,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신종 코로나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인플루엔자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독감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플루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Flu</a:t>
            </a:r>
          </a:p>
          <a:p>
            <a:pPr>
              <a:lnSpc>
                <a:spcPct val="150000"/>
              </a:lnSpc>
            </a:pPr>
            <a:r>
              <a:rPr lang="ko-KR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노로바이러스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장염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겨울장염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식중독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최종 연관 키워드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코로나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인플루엔자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독감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플루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노로바이러스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장염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식중독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제외 키워드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코로나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19, COVID-19,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신종 코로나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</a:t>
            </a:r>
          </a:p>
          <a:p>
            <a:pPr>
              <a:lnSpc>
                <a:spcPct val="150000"/>
              </a:lnSpc>
            </a:pPr>
            <a:r>
              <a:rPr lang="ko-KR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겨울장염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D8A089-F226-E1D7-7DDC-7BB6E558C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748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B9F03-7556-6B01-EC16-98B184A49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8ED1DB-BA67-AD71-CCA8-DC7B6A836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지역별 </a:t>
            </a:r>
            <a:r>
              <a:rPr lang="ko-KR" alt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검색량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데이터 확보 완료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9A376B-0646-7A0B-B277-7D29D6B42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 numCol="2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8493B4-9560-AF7A-3C3D-7BB95E0BF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9499166-1185-6372-487E-A8733DEE7CBC}"/>
              </a:ext>
            </a:extLst>
          </p:cNvPr>
          <p:cNvSpPr/>
          <p:nvPr/>
        </p:nvSpPr>
        <p:spPr>
          <a:xfrm>
            <a:off x="1312068" y="3761697"/>
            <a:ext cx="680720" cy="67056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E38D77D5-A46C-DF8E-84D2-C2AFC4D6E161}"/>
              </a:ext>
            </a:extLst>
          </p:cNvPr>
          <p:cNvSpPr/>
          <p:nvPr/>
        </p:nvSpPr>
        <p:spPr>
          <a:xfrm>
            <a:off x="6784105" y="3761696"/>
            <a:ext cx="680720" cy="670560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82FAA66-DBA5-651A-CEA5-079C4C5711F1}"/>
              </a:ext>
            </a:extLst>
          </p:cNvPr>
          <p:cNvSpPr/>
          <p:nvPr/>
        </p:nvSpPr>
        <p:spPr>
          <a:xfrm>
            <a:off x="9039625" y="3761696"/>
            <a:ext cx="680720" cy="670560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E8F17B-3D47-2850-3A64-0BA4DE69509A}"/>
              </a:ext>
            </a:extLst>
          </p:cNvPr>
          <p:cNvSpPr txBox="1"/>
          <p:nvPr/>
        </p:nvSpPr>
        <p:spPr>
          <a:xfrm>
            <a:off x="357027" y="4592537"/>
            <a:ext cx="25784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월별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전국</a:t>
            </a:r>
            <a:endParaRPr lang="en-US" altLang="ko-KR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C0770E-3AC7-A645-7AB4-84F084D06788}"/>
              </a:ext>
            </a:extLst>
          </p:cNvPr>
          <p:cNvSpPr txBox="1"/>
          <p:nvPr/>
        </p:nvSpPr>
        <p:spPr>
          <a:xfrm>
            <a:off x="2801504" y="4588100"/>
            <a:ext cx="2212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주별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전국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97B0D7-2F2F-EB0E-EC54-822A8ACA9F61}"/>
              </a:ext>
            </a:extLst>
          </p:cNvPr>
          <p:cNvSpPr txBox="1"/>
          <p:nvPr/>
        </p:nvSpPr>
        <p:spPr>
          <a:xfrm>
            <a:off x="6337065" y="4588099"/>
            <a:ext cx="157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주별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지역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AE3572-226D-F6C7-ED3B-E2AC8200C16C}"/>
              </a:ext>
            </a:extLst>
          </p:cNvPr>
          <p:cNvSpPr txBox="1"/>
          <p:nvPr/>
        </p:nvSpPr>
        <p:spPr>
          <a:xfrm>
            <a:off x="8273541" y="4588099"/>
            <a:ext cx="2212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월별평균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지역</a:t>
            </a:r>
            <a:endParaRPr lang="en-US" altLang="ko-KR" sz="1600" b="1" dirty="0"/>
          </a:p>
          <a:p>
            <a:pPr algn="ctr"/>
            <a:r>
              <a:rPr lang="ko-KR" altLang="en-US" sz="1600" b="1" dirty="0"/>
              <a:t>가중치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B2E4ECA9-8AED-E29A-CC53-37ECC742C953}"/>
              </a:ext>
            </a:extLst>
          </p:cNvPr>
          <p:cNvSpPr/>
          <p:nvPr/>
        </p:nvSpPr>
        <p:spPr>
          <a:xfrm>
            <a:off x="3575208" y="3764237"/>
            <a:ext cx="680720" cy="67056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4EAD3D-8217-B856-B856-439DB7AEA392}"/>
              </a:ext>
            </a:extLst>
          </p:cNvPr>
          <p:cNvSpPr txBox="1"/>
          <p:nvPr/>
        </p:nvSpPr>
        <p:spPr>
          <a:xfrm>
            <a:off x="357027" y="3013540"/>
            <a:ext cx="2578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네이버 광고주센터</a:t>
            </a:r>
            <a:endParaRPr lang="en-US" altLang="ko-KR" sz="1600" b="1" dirty="0"/>
          </a:p>
          <a:p>
            <a:pPr algn="ctr"/>
            <a:r>
              <a:rPr lang="ko-KR" altLang="en-US" sz="1600" b="1" dirty="0"/>
              <a:t>절대값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170202-0B51-BCEB-53EE-BBB598B723BE}"/>
              </a:ext>
            </a:extLst>
          </p:cNvPr>
          <p:cNvSpPr txBox="1"/>
          <p:nvPr/>
        </p:nvSpPr>
        <p:spPr>
          <a:xfrm>
            <a:off x="2801504" y="3009103"/>
            <a:ext cx="2212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네이버 </a:t>
            </a:r>
            <a:r>
              <a:rPr lang="ko-KR" altLang="en-US" sz="1600" b="1" dirty="0" err="1"/>
              <a:t>데이터랩</a:t>
            </a:r>
            <a:endParaRPr lang="en-US" altLang="ko-KR" sz="1600" b="1" dirty="0"/>
          </a:p>
          <a:p>
            <a:pPr algn="ctr"/>
            <a:r>
              <a:rPr lang="ko-KR" altLang="en-US" sz="1600" b="1" dirty="0" err="1"/>
              <a:t>상대값</a:t>
            </a:r>
            <a:endParaRPr lang="ko-KR" altLang="en-US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0948C8-6709-5002-CC96-D544612FB2BD}"/>
              </a:ext>
            </a:extLst>
          </p:cNvPr>
          <p:cNvSpPr txBox="1"/>
          <p:nvPr/>
        </p:nvSpPr>
        <p:spPr>
          <a:xfrm>
            <a:off x="6337065" y="3009102"/>
            <a:ext cx="157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구글 트렌드</a:t>
            </a:r>
            <a:endParaRPr lang="en-US" altLang="ko-KR" sz="1600" b="1" dirty="0"/>
          </a:p>
          <a:p>
            <a:pPr algn="ctr"/>
            <a:r>
              <a:rPr lang="ko-KR" altLang="en-US" sz="1600" b="1" dirty="0" err="1"/>
              <a:t>상대값</a:t>
            </a:r>
            <a:endParaRPr lang="ko-KR" altLang="en-US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51B3D1-0008-8FCB-E6DF-4BB513BC6416}"/>
              </a:ext>
            </a:extLst>
          </p:cNvPr>
          <p:cNvSpPr txBox="1"/>
          <p:nvPr/>
        </p:nvSpPr>
        <p:spPr>
          <a:xfrm>
            <a:off x="8273541" y="3009102"/>
            <a:ext cx="2212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err="1"/>
              <a:t>국가통계포털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KOSIS</a:t>
            </a:r>
          </a:p>
          <a:p>
            <a:pPr algn="ctr"/>
            <a:r>
              <a:rPr lang="ko-KR" altLang="en-US" sz="1600" b="1" dirty="0"/>
              <a:t>행정구역별 인구 수</a:t>
            </a: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02DCD5B-C92A-CD07-9333-6A229ACD0416}"/>
              </a:ext>
            </a:extLst>
          </p:cNvPr>
          <p:cNvCxnSpPr>
            <a:cxnSpLocks/>
            <a:stCxn id="20" idx="6"/>
            <a:endCxn id="6" idx="2"/>
          </p:cNvCxnSpPr>
          <p:nvPr/>
        </p:nvCxnSpPr>
        <p:spPr>
          <a:xfrm flipV="1">
            <a:off x="4255928" y="4096976"/>
            <a:ext cx="2528177" cy="254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C9A9E8D-EF64-977A-4D95-959C827231D8}"/>
              </a:ext>
            </a:extLst>
          </p:cNvPr>
          <p:cNvSpPr txBox="1"/>
          <p:nvPr/>
        </p:nvSpPr>
        <p:spPr>
          <a:xfrm>
            <a:off x="4927522" y="3674219"/>
            <a:ext cx="12151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절대값</a:t>
            </a:r>
            <a:endParaRPr lang="en-US" altLang="ko-KR" sz="1600" b="1" dirty="0"/>
          </a:p>
          <a:p>
            <a:pPr algn="ctr"/>
            <a:endParaRPr lang="en-US" altLang="ko-KR" sz="1600" b="1" dirty="0"/>
          </a:p>
          <a:p>
            <a:pPr algn="ctr"/>
            <a:r>
              <a:rPr lang="ko-KR" altLang="en-US" sz="1600" b="1" dirty="0"/>
              <a:t>주별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전국</a:t>
            </a: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928B6855-FC3C-5575-EF57-04ECE394F444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1992788" y="4090989"/>
            <a:ext cx="1582420" cy="85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4C59BAC8-3C32-C4F8-407D-989FF457F3A9}"/>
              </a:ext>
            </a:extLst>
          </p:cNvPr>
          <p:cNvCxnSpPr>
            <a:cxnSpLocks/>
          </p:cNvCxnSpPr>
          <p:nvPr/>
        </p:nvCxnSpPr>
        <p:spPr>
          <a:xfrm>
            <a:off x="7448918" y="4089718"/>
            <a:ext cx="1582420" cy="85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44E989DB-4630-5BD3-02C7-928AC2C8CF5B}"/>
              </a:ext>
            </a:extLst>
          </p:cNvPr>
          <p:cNvCxnSpPr>
            <a:cxnSpLocks/>
          </p:cNvCxnSpPr>
          <p:nvPr/>
        </p:nvCxnSpPr>
        <p:spPr>
          <a:xfrm>
            <a:off x="9728632" y="4089718"/>
            <a:ext cx="757796" cy="85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0F1F707B-6789-7272-4957-D0EAFD6CA426}"/>
              </a:ext>
            </a:extLst>
          </p:cNvPr>
          <p:cNvSpPr txBox="1"/>
          <p:nvPr/>
        </p:nvSpPr>
        <p:spPr>
          <a:xfrm>
            <a:off x="10379883" y="3899980"/>
            <a:ext cx="14550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err="1"/>
              <a:t>연관키워드</a:t>
            </a:r>
            <a:r>
              <a:rPr lang="ko-KR" altLang="en-US" sz="1600" b="1" dirty="0"/>
              <a:t> 합산</a:t>
            </a:r>
            <a:endParaRPr lang="en-US" altLang="ko-KR" sz="1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97DBCB-A7BD-02A8-8921-808269501ED8}"/>
              </a:ext>
            </a:extLst>
          </p:cNvPr>
          <p:cNvSpPr txBox="1"/>
          <p:nvPr/>
        </p:nvSpPr>
        <p:spPr>
          <a:xfrm>
            <a:off x="838200" y="5415235"/>
            <a:ext cx="6439293" cy="970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2400" b="1" dirty="0">
                <a:effectLst/>
                <a:latin typeface="times" panose="02020603050405020304" pitchFamily="18" charset="0"/>
                <a:cs typeface="times" panose="02020603050405020304" pitchFamily="18" charset="0"/>
              </a:rPr>
              <a:t>Goal</a:t>
            </a:r>
          </a:p>
          <a:p>
            <a:pPr>
              <a:lnSpc>
                <a:spcPct val="150000"/>
              </a:lnSpc>
              <a:buNone/>
            </a:pPr>
            <a:r>
              <a:rPr lang="ko-KR" altLang="en-US" sz="1600" b="1" dirty="0">
                <a:effectLst/>
                <a:latin typeface="times" panose="02020603050405020304" pitchFamily="18" charset="0"/>
                <a:cs typeface="times" panose="02020603050405020304" pitchFamily="18" charset="0"/>
              </a:rPr>
              <a:t>주차별 지역별 </a:t>
            </a:r>
            <a:r>
              <a:rPr lang="ko-KR" altLang="en-US" sz="1600" b="1" dirty="0">
                <a:latin typeface="times" panose="02020603050405020304" pitchFamily="18" charset="0"/>
                <a:cs typeface="times" panose="02020603050405020304" pitchFamily="18" charset="0"/>
              </a:rPr>
              <a:t>감염병</a:t>
            </a:r>
            <a:r>
              <a:rPr lang="ko-KR" altLang="en-US" sz="1600" b="1" dirty="0">
                <a:effectLst/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ko-KR" altLang="en-US" sz="1600" b="1" dirty="0" err="1">
                <a:effectLst/>
                <a:latin typeface="times" panose="02020603050405020304" pitchFamily="18" charset="0"/>
                <a:cs typeface="times" panose="02020603050405020304" pitchFamily="18" charset="0"/>
              </a:rPr>
              <a:t>검색량</a:t>
            </a:r>
            <a:r>
              <a:rPr lang="ko-KR" altLang="en-US" sz="1600" b="1" dirty="0">
                <a:effectLst/>
                <a:latin typeface="times" panose="02020603050405020304" pitchFamily="18" charset="0"/>
                <a:cs typeface="times" panose="02020603050405020304" pitchFamily="18" charset="0"/>
              </a:rPr>
              <a:t> 절대값 구하기</a:t>
            </a:r>
            <a:r>
              <a:rPr lang="en-US" altLang="ko-KR" sz="1600" b="1" dirty="0">
                <a:effectLst/>
                <a:latin typeface="times" panose="02020603050405020304" pitchFamily="18" charset="0"/>
                <a:cs typeface="times" panose="02020603050405020304" pitchFamily="18" charset="0"/>
              </a:rPr>
              <a:t>!</a:t>
            </a:r>
            <a:r>
              <a:rPr lang="ko-KR" altLang="en-US" sz="1600" b="1" dirty="0">
                <a:effectLst/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endParaRPr lang="ko-KR" altLang="ko-KR" sz="1600" b="1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137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BCAE0-FABB-F656-3F73-CCCF3FD1B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C95A18-5629-14FE-DC78-7CFF15DAC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가중치에 도달하기까지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(1/3)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5DF1CB-EDD0-CE28-CFE1-870716582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7" name="그림 6" descr="image.png">
            <a:extLst>
              <a:ext uri="{FF2B5EF4-FFF2-40B4-BE49-F238E27FC236}">
                <a16:creationId xmlns:a16="http://schemas.microsoft.com/office/drawing/2014/main" id="{F76A6CAB-766A-A69D-FA8E-89DD5526CE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2611"/>
          <a:stretch>
            <a:fillRect/>
          </a:stretch>
        </p:blipFill>
        <p:spPr>
          <a:xfrm>
            <a:off x="296962" y="1808962"/>
            <a:ext cx="4451006" cy="43707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C5F2D0-71E8-E132-CD9C-4DB4FFF2CEB9}"/>
              </a:ext>
            </a:extLst>
          </p:cNvPr>
          <p:cNvSpPr txBox="1"/>
          <p:nvPr/>
        </p:nvSpPr>
        <p:spPr>
          <a:xfrm>
            <a:off x="1468226" y="6231135"/>
            <a:ext cx="21084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ko-KR" sz="1400" b="1" dirty="0">
                <a:effectLst/>
              </a:rPr>
              <a:t>주차별 </a:t>
            </a:r>
            <a:r>
              <a:rPr lang="ko-KR" altLang="ko-KR" sz="1400" b="1" dirty="0" err="1">
                <a:effectLst/>
              </a:rPr>
              <a:t>검색량</a:t>
            </a:r>
            <a:r>
              <a:rPr lang="en-US" altLang="ko-KR" sz="1400" b="1" dirty="0">
                <a:effectLst/>
              </a:rPr>
              <a:t> </a:t>
            </a:r>
            <a:r>
              <a:rPr lang="ko-KR" altLang="en-US" sz="1400" b="1" dirty="0"/>
              <a:t>절대값</a:t>
            </a:r>
            <a:endParaRPr lang="ko-KR" altLang="ko-KR" sz="1400" b="1" dirty="0">
              <a:effectLst/>
            </a:endParaRPr>
          </a:p>
        </p:txBody>
      </p:sp>
      <p:pic>
        <p:nvPicPr>
          <p:cNvPr id="10" name="그림 9" descr="image.png">
            <a:extLst>
              <a:ext uri="{FF2B5EF4-FFF2-40B4-BE49-F238E27FC236}">
                <a16:creationId xmlns:a16="http://schemas.microsoft.com/office/drawing/2014/main" id="{A1255E6C-8B5B-D626-06D1-C4FF3E6F5F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2884"/>
          <a:stretch>
            <a:fillRect/>
          </a:stretch>
        </p:blipFill>
        <p:spPr>
          <a:xfrm>
            <a:off x="5033911" y="1808962"/>
            <a:ext cx="6861127" cy="24896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C0E425D-ED70-101C-1587-EDC719408AB2}"/>
              </a:ext>
            </a:extLst>
          </p:cNvPr>
          <p:cNvSpPr txBox="1"/>
          <p:nvPr/>
        </p:nvSpPr>
        <p:spPr>
          <a:xfrm>
            <a:off x="7556361" y="4416896"/>
            <a:ext cx="21084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400" b="1" dirty="0">
                <a:effectLst/>
              </a:rPr>
              <a:t>코로나 </a:t>
            </a:r>
            <a:r>
              <a:rPr lang="ko-KR" altLang="en-US" sz="1400" b="1" dirty="0" err="1">
                <a:effectLst/>
              </a:rPr>
              <a:t>상대값</a:t>
            </a:r>
            <a:endParaRPr lang="ko-KR" altLang="ko-KR" sz="14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03017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E67A1-7CA8-9183-9584-FDD0A6A6E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844DFE-2DCE-8C5F-B2A3-FEAC2639D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가중치에 도달하기까지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(2/3)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3577D0-1489-89B4-0667-4B013928F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F8038F-0DAD-2FE6-3AA2-354B56D1864F}"/>
              </a:ext>
            </a:extLst>
          </p:cNvPr>
          <p:cNvSpPr txBox="1"/>
          <p:nvPr/>
        </p:nvSpPr>
        <p:spPr>
          <a:xfrm>
            <a:off x="2694049" y="4416895"/>
            <a:ext cx="21084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400" b="1" dirty="0">
                <a:effectLst/>
              </a:rPr>
              <a:t>월별 지역별 인구 수</a:t>
            </a:r>
            <a:endParaRPr lang="ko-KR" altLang="ko-KR" sz="1400" b="1" dirty="0"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3C1B99-906E-2449-E335-0C8870E87910}"/>
              </a:ext>
            </a:extLst>
          </p:cNvPr>
          <p:cNvSpPr txBox="1"/>
          <p:nvPr/>
        </p:nvSpPr>
        <p:spPr>
          <a:xfrm>
            <a:off x="8253944" y="5965490"/>
            <a:ext cx="21084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400" b="1" dirty="0">
                <a:effectLst/>
              </a:rPr>
              <a:t>가중치</a:t>
            </a:r>
            <a:endParaRPr lang="ko-KR" altLang="ko-KR" sz="1400" b="1" dirty="0">
              <a:effectLst/>
            </a:endParaRPr>
          </a:p>
        </p:txBody>
      </p:sp>
      <p:pic>
        <p:nvPicPr>
          <p:cNvPr id="3" name="그림 2" descr="image.png">
            <a:extLst>
              <a:ext uri="{FF2B5EF4-FFF2-40B4-BE49-F238E27FC236}">
                <a16:creationId xmlns:a16="http://schemas.microsoft.com/office/drawing/2014/main" id="{8731CB3F-9298-99DF-DB23-111DA61DA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25" y="1808962"/>
            <a:ext cx="6861127" cy="24962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8E3BC3-AF3A-407E-F795-27DD51682513}"/>
              </a:ext>
            </a:extLst>
          </p:cNvPr>
          <p:cNvSpPr txBox="1"/>
          <p:nvPr/>
        </p:nvSpPr>
        <p:spPr>
          <a:xfrm>
            <a:off x="8610600" y="1441175"/>
            <a:ext cx="388541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ko-KR" b="1" dirty="0">
                <a:effectLst/>
              </a:rPr>
              <a:t>경기: 27.08%</a:t>
            </a:r>
            <a:endParaRPr lang="en-US" altLang="ko-KR" b="1" dirty="0">
              <a:effectLst/>
            </a:endParaRPr>
          </a:p>
          <a:p>
            <a:pPr algn="l"/>
            <a:r>
              <a:rPr lang="ko-KR" altLang="ko-KR" b="1" dirty="0">
                <a:effectLst/>
              </a:rPr>
              <a:t>서울: 18.34%</a:t>
            </a:r>
            <a:endParaRPr lang="en-US" altLang="ko-KR" b="1" dirty="0">
              <a:effectLst/>
            </a:endParaRPr>
          </a:p>
          <a:p>
            <a:pPr algn="l"/>
            <a:r>
              <a:rPr lang="ko-KR" altLang="ko-KR" b="1" dirty="0">
                <a:effectLst/>
              </a:rPr>
              <a:t>부산: 6.39%</a:t>
            </a:r>
            <a:endParaRPr lang="en-US" altLang="ko-KR" b="1" dirty="0"/>
          </a:p>
          <a:p>
            <a:pPr algn="l"/>
            <a:r>
              <a:rPr lang="ko-KR" altLang="ko-KR" b="1" dirty="0">
                <a:effectLst/>
              </a:rPr>
              <a:t>경남: 6.32%</a:t>
            </a:r>
            <a:endParaRPr lang="en-US" altLang="ko-KR" b="1" dirty="0"/>
          </a:p>
          <a:p>
            <a:pPr algn="l"/>
            <a:r>
              <a:rPr lang="ko-KR" altLang="ko-KR" b="1" dirty="0">
                <a:effectLst/>
              </a:rPr>
              <a:t>인천: 6.02%</a:t>
            </a:r>
            <a:endParaRPr lang="en-US" altLang="ko-KR" b="1" dirty="0">
              <a:effectLst/>
            </a:endParaRPr>
          </a:p>
          <a:p>
            <a:pPr algn="l"/>
            <a:r>
              <a:rPr lang="ko-KR" altLang="ko-KR" b="1" dirty="0">
                <a:effectLst/>
              </a:rPr>
              <a:t>경북: 4.94%</a:t>
            </a:r>
            <a:endParaRPr lang="en-US" altLang="ko-KR" b="1" dirty="0">
              <a:effectLst/>
            </a:endParaRPr>
          </a:p>
          <a:p>
            <a:pPr algn="l"/>
            <a:r>
              <a:rPr lang="ko-KR" altLang="ko-KR" b="1" dirty="0">
                <a:effectLst/>
              </a:rPr>
              <a:t>대구: 4.64%</a:t>
            </a:r>
            <a:endParaRPr lang="en-US" altLang="ko-KR" b="1" dirty="0">
              <a:effectLst/>
            </a:endParaRPr>
          </a:p>
          <a:p>
            <a:pPr algn="l"/>
            <a:r>
              <a:rPr lang="ko-KR" altLang="ko-KR" b="1" dirty="0">
                <a:effectLst/>
              </a:rPr>
              <a:t>충남: 4.21%</a:t>
            </a:r>
            <a:endParaRPr lang="en-US" altLang="ko-KR" b="1" dirty="0">
              <a:effectLst/>
            </a:endParaRPr>
          </a:p>
          <a:p>
            <a:pPr algn="l"/>
            <a:r>
              <a:rPr lang="ko-KR" altLang="ko-KR" b="1" dirty="0">
                <a:effectLst/>
              </a:rPr>
              <a:t>전남: 3.50%</a:t>
            </a:r>
            <a:endParaRPr lang="en-US" altLang="ko-KR" b="1" dirty="0">
              <a:effectLst/>
            </a:endParaRPr>
          </a:p>
          <a:p>
            <a:pPr algn="l"/>
            <a:r>
              <a:rPr lang="ko-KR" altLang="ko-KR" b="1" dirty="0">
                <a:effectLst/>
              </a:rPr>
              <a:t>전북: 3.40%</a:t>
            </a:r>
            <a:endParaRPr lang="en-US" altLang="ko-KR" b="1" dirty="0">
              <a:effectLst/>
            </a:endParaRPr>
          </a:p>
          <a:p>
            <a:pPr algn="l"/>
            <a:r>
              <a:rPr lang="ko-KR" altLang="ko-KR" b="1" dirty="0">
                <a:effectLst/>
              </a:rPr>
              <a:t>충북: 3.15%</a:t>
            </a:r>
            <a:endParaRPr lang="en-US" altLang="ko-KR" b="1" dirty="0">
              <a:effectLst/>
            </a:endParaRPr>
          </a:p>
          <a:p>
            <a:pPr algn="l"/>
            <a:r>
              <a:rPr lang="ko-KR" altLang="ko-KR" b="1" dirty="0">
                <a:effectLst/>
              </a:rPr>
              <a:t>강원: 2.97%</a:t>
            </a:r>
            <a:endParaRPr lang="en-US" altLang="ko-KR" b="1" dirty="0">
              <a:effectLst/>
            </a:endParaRPr>
          </a:p>
          <a:p>
            <a:pPr algn="l"/>
            <a:r>
              <a:rPr lang="ko-KR" altLang="ko-KR" b="1" dirty="0">
                <a:effectLst/>
              </a:rPr>
              <a:t>대전: 2.84%</a:t>
            </a:r>
            <a:endParaRPr lang="en-US" altLang="ko-KR" b="1" dirty="0">
              <a:effectLst/>
            </a:endParaRPr>
          </a:p>
          <a:p>
            <a:pPr algn="l"/>
            <a:r>
              <a:rPr lang="ko-KR" altLang="ko-KR" b="1" dirty="0">
                <a:effectLst/>
              </a:rPr>
              <a:t>광주: 2.74%</a:t>
            </a:r>
            <a:endParaRPr lang="en-US" altLang="ko-KR" b="1" dirty="0">
              <a:effectLst/>
            </a:endParaRPr>
          </a:p>
          <a:p>
            <a:pPr algn="l"/>
            <a:r>
              <a:rPr lang="ko-KR" altLang="ko-KR" b="1" dirty="0">
                <a:effectLst/>
              </a:rPr>
              <a:t>울산: 2.15%</a:t>
            </a:r>
            <a:endParaRPr lang="en-US" altLang="ko-KR" b="1" dirty="0">
              <a:effectLst/>
            </a:endParaRPr>
          </a:p>
          <a:p>
            <a:pPr algn="l"/>
            <a:r>
              <a:rPr lang="ko-KR" altLang="ko-KR" b="1" dirty="0">
                <a:effectLst/>
              </a:rPr>
              <a:t>제주: 1.31%</a:t>
            </a:r>
            <a:endParaRPr lang="en-US" altLang="ko-KR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60177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EB5D7-34F0-ABA0-4ECC-9621DD706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87458E-A5FF-A2D4-C449-7E171FD6A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가중치에 도달하기까지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(3/3)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D70130-A7B7-757E-B4F7-5E04536F4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553E60-8211-0048-09DA-05EFC1467D9A}"/>
              </a:ext>
            </a:extLst>
          </p:cNvPr>
          <p:cNvSpPr txBox="1"/>
          <p:nvPr/>
        </p:nvSpPr>
        <p:spPr>
          <a:xfrm>
            <a:off x="4882696" y="6185098"/>
            <a:ext cx="24266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400" b="1" dirty="0">
                <a:effectLst/>
              </a:rPr>
              <a:t>최종 코로나 </a:t>
            </a:r>
            <a:r>
              <a:rPr lang="ko-KR" altLang="en-US" sz="1400" b="1" dirty="0" err="1">
                <a:effectLst/>
              </a:rPr>
              <a:t>검색량</a:t>
            </a:r>
            <a:r>
              <a:rPr lang="ko-KR" altLang="en-US" sz="1400" b="1" dirty="0">
                <a:effectLst/>
              </a:rPr>
              <a:t> 절대값</a:t>
            </a:r>
            <a:endParaRPr lang="ko-KR" altLang="ko-KR" sz="1400" b="1" dirty="0">
              <a:effectLst/>
            </a:endParaRPr>
          </a:p>
        </p:txBody>
      </p:sp>
      <p:pic>
        <p:nvPicPr>
          <p:cNvPr id="3" name="그림 2" descr="image.png">
            <a:extLst>
              <a:ext uri="{FF2B5EF4-FFF2-40B4-BE49-F238E27FC236}">
                <a16:creationId xmlns:a16="http://schemas.microsoft.com/office/drawing/2014/main" id="{B575B2B5-432F-45F0-1188-AB10FF7869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049"/>
          <a:stretch>
            <a:fillRect/>
          </a:stretch>
        </p:blipFill>
        <p:spPr>
          <a:xfrm>
            <a:off x="838200" y="1690688"/>
            <a:ext cx="10515600" cy="435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727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4A1CB-134F-BAEB-E60C-1006B3FBF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4B9908-9384-8842-77E8-AEF93FFF1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약간의 문제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CB1AC9-FA47-7969-E155-1DE3CF70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A0630B-ABCA-2F8D-D62D-C9C07B73B36A}"/>
              </a:ext>
            </a:extLst>
          </p:cNvPr>
          <p:cNvSpPr txBox="1"/>
          <p:nvPr/>
        </p:nvSpPr>
        <p:spPr>
          <a:xfrm>
            <a:off x="6022746" y="6048573"/>
            <a:ext cx="34993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400" b="1" dirty="0" err="1">
                <a:effectLst/>
              </a:rPr>
              <a:t>구글트렌드</a:t>
            </a:r>
            <a:r>
              <a:rPr lang="ko-KR" altLang="en-US" sz="1400" b="1" dirty="0">
                <a:effectLst/>
              </a:rPr>
              <a:t> 인플루엔자 지역별 </a:t>
            </a:r>
            <a:r>
              <a:rPr lang="ko-KR" altLang="en-US" sz="1400" b="1" dirty="0" err="1">
                <a:effectLst/>
              </a:rPr>
              <a:t>상대값</a:t>
            </a:r>
            <a:endParaRPr lang="ko-KR" altLang="ko-KR" sz="1400" b="1" dirty="0">
              <a:effectLst/>
            </a:endParaRPr>
          </a:p>
        </p:txBody>
      </p:sp>
      <p:pic>
        <p:nvPicPr>
          <p:cNvPr id="5" name="그림 4" descr="image.png">
            <a:extLst>
              <a:ext uri="{FF2B5EF4-FFF2-40B4-BE49-F238E27FC236}">
                <a16:creationId xmlns:a16="http://schemas.microsoft.com/office/drawing/2014/main" id="{CB2B67C4-A713-B99E-192C-4081FCEC5D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183"/>
          <a:stretch>
            <a:fillRect/>
          </a:stretch>
        </p:blipFill>
        <p:spPr>
          <a:xfrm>
            <a:off x="4413878" y="860196"/>
            <a:ext cx="6717043" cy="51376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1FAFD1-A6B3-EC53-1C22-C0167FC1AC80}"/>
              </a:ext>
            </a:extLst>
          </p:cNvPr>
          <p:cNvSpPr txBox="1"/>
          <p:nvPr/>
        </p:nvSpPr>
        <p:spPr>
          <a:xfrm>
            <a:off x="838200" y="1924019"/>
            <a:ext cx="34993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2000" b="1" dirty="0" err="1">
                <a:effectLst/>
              </a:rPr>
              <a:t>결측치</a:t>
            </a:r>
            <a:r>
              <a:rPr lang="ko-KR" altLang="en-US" sz="2000" b="1" dirty="0">
                <a:effectLst/>
              </a:rPr>
              <a:t> 다수</a:t>
            </a:r>
            <a:endParaRPr lang="ko-KR" altLang="ko-KR" sz="2000" b="1" dirty="0"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BDC524-17FF-E462-55A2-936EC76F96A1}"/>
              </a:ext>
            </a:extLst>
          </p:cNvPr>
          <p:cNvSpPr txBox="1"/>
          <p:nvPr/>
        </p:nvSpPr>
        <p:spPr>
          <a:xfrm>
            <a:off x="838200" y="4533872"/>
            <a:ext cx="60944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0 </a:t>
            </a:r>
            <a:r>
              <a:rPr lang="ko-KR" altLang="en-US" sz="1600" dirty="0" err="1"/>
              <a:t>suggests</a:t>
            </a:r>
            <a:r>
              <a:rPr lang="ko-KR" altLang="en-US" sz="1600" dirty="0"/>
              <a:t> </a:t>
            </a:r>
            <a:r>
              <a:rPr lang="ko-KR" altLang="en-US" sz="1600" dirty="0" err="1"/>
              <a:t>insufficient</a:t>
            </a:r>
            <a:r>
              <a:rPr lang="ko-KR" altLang="en-US" sz="1600" dirty="0"/>
              <a:t> </a:t>
            </a:r>
            <a:r>
              <a:rPr lang="ko-KR" altLang="en-US" sz="1600" dirty="0" err="1"/>
              <a:t>data</a:t>
            </a:r>
            <a:r>
              <a:rPr lang="ko-KR" alt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5111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01AF1-4C7A-5CA9-6980-CA088A4E6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7492CB-E318-FD04-5C29-1F3545FFB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상관계수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0B15F88-DACB-E179-BE7C-66F434CFB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6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1D042-BA7B-A5A4-30CA-07D08AEB9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F1A519-8CE1-67B6-6AD3-D16C96A51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상관계수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708A81-C415-DE50-8767-41C418847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00209" cy="4667250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2000" b="1" dirty="0">
                <a:latin typeface="times new"/>
                <a:cs typeface="Times New Roman" panose="02020603050405020304" pitchFamily="18" charset="0"/>
              </a:rPr>
              <a:t>Data</a:t>
            </a:r>
          </a:p>
          <a:p>
            <a:pPr>
              <a:lnSpc>
                <a:spcPct val="10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하수 감염병 농도</a:t>
            </a:r>
            <a:endParaRPr lang="en-US" altLang="ko-KR" sz="1600" dirty="0">
              <a:latin typeface="times new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감염병 </a:t>
            </a:r>
            <a:r>
              <a:rPr lang="ko-KR" altLang="en-US" sz="1600" dirty="0" err="1">
                <a:latin typeface="times new"/>
                <a:cs typeface="Times New Roman" panose="02020603050405020304" pitchFamily="18" charset="0"/>
              </a:rPr>
              <a:t>검색량</a:t>
            </a:r>
            <a:endParaRPr lang="en-US" altLang="ko-KR" sz="1600" dirty="0">
              <a:latin typeface="times new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000" b="1" dirty="0">
                <a:latin typeface="times new"/>
                <a:cs typeface="Times New Roman" panose="02020603050405020304" pitchFamily="18" charset="0"/>
              </a:rPr>
              <a:t>Pearson Correlation</a:t>
            </a:r>
          </a:p>
          <a:p>
            <a:pPr>
              <a:lnSpc>
                <a:spcPct val="100000"/>
              </a:lnSpc>
            </a:pP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Heatmaps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000" b="1" dirty="0">
                <a:latin typeface="times new"/>
                <a:cs typeface="Times New Roman" panose="02020603050405020304" pitchFamily="18" charset="0"/>
              </a:rPr>
              <a:t>Moran’s I</a:t>
            </a:r>
          </a:p>
          <a:p>
            <a:pPr>
              <a:lnSpc>
                <a:spcPct val="100000"/>
              </a:lnSpc>
            </a:pP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P-Value</a:t>
            </a:r>
          </a:p>
          <a:p>
            <a:pPr lvl="1">
              <a:lnSpc>
                <a:spcPct val="100000"/>
              </a:lnSpc>
            </a:pP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0.05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를 기준</a:t>
            </a:r>
            <a:endParaRPr lang="en-US" altLang="ko-KR" sz="1600" dirty="0">
              <a:latin typeface="times new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000" b="1" dirty="0">
                <a:latin typeface="times new"/>
                <a:cs typeface="Times New Roman" panose="02020603050405020304" pitchFamily="18" charset="0"/>
              </a:rPr>
              <a:t>Local Indicators of Spatial Association (LISA)</a:t>
            </a:r>
          </a:p>
          <a:p>
            <a:pPr>
              <a:lnSpc>
                <a:spcPct val="10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모든 주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 or Peak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치는 주</a:t>
            </a:r>
            <a:endParaRPr lang="en-US" altLang="ko-KR" sz="1600" dirty="0">
              <a:latin typeface="times new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E3CFE1-8F9C-B147-214E-0D54634C7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113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57621-B855-DD51-7F3C-33B6F83D6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B6849D-EDA1-84EF-26C8-CF2AB6476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논문 정리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29FBAC6-A4AA-4ACC-E66C-B88A8BB14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293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EE038-C77E-D932-94C0-2BC258D58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A86C0C-7493-D01E-B9EC-042BA7725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연구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ED99193-4A4A-93FE-BFCF-B4EEBD67D3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00209" cy="4667250"/>
              </a:xfrm>
            </p:spPr>
            <p:txBody>
              <a:bodyPr numCol="1"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sz="2000" b="1" dirty="0">
                    <a:latin typeface="times new"/>
                    <a:cs typeface="Times New Roman" panose="02020603050405020304" pitchFamily="18" charset="0"/>
                  </a:rPr>
                  <a:t>Title?</a:t>
                </a:r>
              </a:p>
              <a:p>
                <a:pPr>
                  <a:lnSpc>
                    <a:spcPct val="100000"/>
                  </a:lnSpc>
                </a:pPr>
                <a:r>
                  <a:rPr lang="ko-KR" altLang="ko-KR" sz="1800" dirty="0">
                    <a:latin typeface="times new"/>
                  </a:rPr>
                  <a:t>Google </a:t>
                </a:r>
                <a:r>
                  <a:rPr lang="ko-KR" altLang="ko-KR" sz="1800" dirty="0" err="1">
                    <a:latin typeface="times new"/>
                  </a:rPr>
                  <a:t>search</a:t>
                </a:r>
                <a:r>
                  <a:rPr lang="ko-KR" altLang="ko-KR" sz="1800" dirty="0">
                    <a:latin typeface="times new"/>
                  </a:rPr>
                  <a:t> </a:t>
                </a:r>
                <a:r>
                  <a:rPr lang="ko-KR" altLang="ko-KR" sz="1800" dirty="0" err="1">
                    <a:latin typeface="times new"/>
                  </a:rPr>
                  <a:t>volume</a:t>
                </a:r>
                <a:r>
                  <a:rPr lang="ko-KR" altLang="ko-KR" sz="1800" dirty="0">
                    <a:latin typeface="times new"/>
                  </a:rPr>
                  <a:t> </a:t>
                </a:r>
                <a:r>
                  <a:rPr lang="ko-KR" altLang="ko-KR" sz="1800" dirty="0" err="1">
                    <a:latin typeface="times new"/>
                  </a:rPr>
                  <a:t>predicts</a:t>
                </a:r>
                <a:r>
                  <a:rPr lang="ko-KR" altLang="ko-KR" sz="1800" dirty="0">
                    <a:latin typeface="times new"/>
                  </a:rPr>
                  <a:t> </a:t>
                </a:r>
                <a:r>
                  <a:rPr lang="ko-KR" altLang="ko-KR" sz="1800" dirty="0" err="1">
                    <a:latin typeface="times new"/>
                  </a:rPr>
                  <a:t>the</a:t>
                </a:r>
                <a:r>
                  <a:rPr lang="ko-KR" altLang="ko-KR" sz="1800" dirty="0">
                    <a:latin typeface="times new"/>
                  </a:rPr>
                  <a:t> </a:t>
                </a:r>
                <a:r>
                  <a:rPr lang="ko-KR" altLang="ko-KR" sz="1800" dirty="0" err="1">
                    <a:latin typeface="times new"/>
                  </a:rPr>
                  <a:t>emergence</a:t>
                </a:r>
                <a:r>
                  <a:rPr lang="ko-KR" altLang="ko-KR" sz="1800" dirty="0">
                    <a:latin typeface="times new"/>
                  </a:rPr>
                  <a:t> of COVID-19 </a:t>
                </a:r>
                <a:r>
                  <a:rPr lang="ko-KR" altLang="ko-KR" sz="1800" dirty="0" err="1">
                    <a:latin typeface="times new"/>
                  </a:rPr>
                  <a:t>outbreaks</a:t>
                </a:r>
                <a:r>
                  <a:rPr lang="en-US" altLang="ko-KR" sz="1800" dirty="0">
                    <a:latin typeface="times new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ko-KR" altLang="ko-KR" sz="1600" i="0" dirty="0" smtClean="0">
                            <a:latin typeface="Cambria Math" panose="02040503050406030204" pitchFamily="18" charset="0"/>
                          </a:rPr>
                          <m:t>GiuseppeLippi</m:t>
                        </m:r>
                      </m:e>
                      <m:sup>
                        <m:r>
                          <a:rPr lang="en-US" altLang="ko-KR" sz="160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ko-KR" altLang="ko-KR" sz="1600" i="0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ko-KR" altLang="en-US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ko-KR" altLang="en-US" sz="1600" i="0" dirty="0" smtClean="0">
                            <a:latin typeface="Cambria Math" panose="02040503050406030204" pitchFamily="18" charset="0"/>
                          </a:rPr>
                          <m:t>CamillaMattiuzz</m:t>
                        </m:r>
                        <m:r>
                          <m:rPr>
                            <m:sty m:val="p"/>
                          </m:rPr>
                          <a:rPr lang="ko-KR" altLang="ko-KR" sz="1600" i="0" dirty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p>
                        <m:r>
                          <a:rPr lang="en-US" altLang="ko-KR" sz="16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ko-KR" altLang="ko-KR" sz="1600" i="0" dirty="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ko-KR" altLang="en-US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ko-KR" altLang="ko-KR" sz="1600" i="0" dirty="0" smtClean="0">
                            <a:latin typeface="Cambria Math" panose="02040503050406030204" pitchFamily="18" charset="0"/>
                          </a:rPr>
                          <m:t>GianfrancoCervellin</m:t>
                        </m:r>
                      </m:e>
                      <m:sup>
                        <m:r>
                          <a:rPr lang="en-US" altLang="ko-KR" sz="160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ko-KR" sz="1600" dirty="0">
                    <a:latin typeface="times new"/>
                  </a:rPr>
                  <a:t>, </a:t>
                </a:r>
                <a:r>
                  <a:rPr lang="ko-KR" altLang="ko-KR" sz="1600" dirty="0" err="1">
                    <a:latin typeface="times new"/>
                  </a:rPr>
                  <a:t>Acta</a:t>
                </a:r>
                <a:r>
                  <a:rPr lang="ko-KR" altLang="ko-KR" sz="1600" dirty="0">
                    <a:latin typeface="times new"/>
                  </a:rPr>
                  <a:t> </a:t>
                </a:r>
                <a:r>
                  <a:rPr lang="ko-KR" altLang="ko-KR" sz="1600" dirty="0" err="1">
                    <a:latin typeface="times new"/>
                  </a:rPr>
                  <a:t>Biomedica</a:t>
                </a:r>
                <a:r>
                  <a:rPr lang="ko-KR" altLang="ko-KR" sz="1600" dirty="0">
                    <a:latin typeface="times new"/>
                  </a:rPr>
                  <a:t> 2020; </a:t>
                </a:r>
                <a:r>
                  <a:rPr lang="ko-KR" altLang="ko-KR" sz="1600" dirty="0" err="1">
                    <a:latin typeface="times new"/>
                  </a:rPr>
                  <a:t>Vol</a:t>
                </a:r>
                <a:r>
                  <a:rPr lang="ko-KR" altLang="ko-KR" sz="1600" dirty="0">
                    <a:latin typeface="times new"/>
                  </a:rPr>
                  <a:t>. 91, </a:t>
                </a:r>
                <a:r>
                  <a:rPr lang="ko-KR" altLang="ko-KR" sz="1600" dirty="0" err="1">
                    <a:latin typeface="times new"/>
                  </a:rPr>
                  <a:t>N</a:t>
                </a:r>
                <a:r>
                  <a:rPr lang="ko-KR" altLang="ko-KR" sz="1600" dirty="0">
                    <a:latin typeface="times new"/>
                  </a:rPr>
                  <a:t>. 3: e2020006</a:t>
                </a:r>
                <a:endParaRPr lang="en-US" altLang="ko-KR" sz="1800" b="1" dirty="0">
                  <a:latin typeface="times new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sz="2000" b="1" dirty="0">
                    <a:latin typeface="times new"/>
                    <a:cs typeface="Times New Roman" panose="02020603050405020304" pitchFamily="18" charset="0"/>
                  </a:rPr>
                  <a:t>What?</a:t>
                </a:r>
              </a:p>
              <a:p>
                <a:pPr>
                  <a:lnSpc>
                    <a:spcPct val="10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구글 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검색량이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이탈리아에서 발생한 코로나 유행의 추이를 예측하는데 유용한가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sz="2000" b="1" dirty="0">
                    <a:latin typeface="times new"/>
                    <a:cs typeface="Times New Roman" panose="02020603050405020304" pitchFamily="18" charset="0"/>
                  </a:rPr>
                  <a:t>Why?</a:t>
                </a:r>
              </a:p>
              <a:p>
                <a:pPr>
                  <a:lnSpc>
                    <a:spcPct val="10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코로나는 치명적인 전염병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급속하고 대규모 확산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효율적인 진단 도구 도입을 통해 감염 곡선 예측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대비해야 함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디지털 역학이 전통적인 역학을 보완하는 귀중한 수단으로 간주될 수 있다는 여러 증거가 제시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구글 트렌드가 가장 널리 사용되고 있다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ED99193-4A4A-93FE-BFCF-B4EEBD67D3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00209" cy="4667250"/>
              </a:xfrm>
              <a:blipFill>
                <a:blip r:embed="rId2"/>
                <a:stretch>
                  <a:fillRect l="-569" t="-6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B09DF2-C054-2350-36D8-DAF002191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227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920F8-B959-FE4D-9C67-73CDC59BE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2CC9D8-19A4-048B-03AE-6F3DDA307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연구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79AFAB-83F7-F2FF-DE32-17CDD1ED3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00209" cy="4667250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latin typeface="times new"/>
                <a:cs typeface="Times New Roman" panose="02020603050405020304" pitchFamily="18" charset="0"/>
              </a:rPr>
              <a:t>How?</a:t>
            </a:r>
          </a:p>
          <a:p>
            <a:pPr>
              <a:lnSpc>
                <a:spcPct val="150000"/>
              </a:lnSpc>
            </a:pPr>
            <a:r>
              <a:rPr lang="ko-KR" altLang="en-US" sz="1600" dirty="0" err="1">
                <a:latin typeface="times new"/>
                <a:cs typeface="Times New Roman" panose="02020603050405020304" pitchFamily="18" charset="0"/>
              </a:rPr>
              <a:t>구글트렌드에서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 이탈리아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3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가지 키워드 </a:t>
            </a:r>
            <a:r>
              <a:rPr lang="en-US" altLang="ko-KR" sz="1600" dirty="0" err="1">
                <a:latin typeface="times new"/>
                <a:cs typeface="Times New Roman" panose="02020603050405020304" pitchFamily="18" charset="0"/>
              </a:rPr>
              <a:t>tosse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(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기침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), </a:t>
            </a:r>
            <a:r>
              <a:rPr lang="en-US" altLang="ko-KR" sz="1600" dirty="0" err="1">
                <a:latin typeface="times new"/>
                <a:cs typeface="Times New Roman" panose="02020603050405020304" pitchFamily="18" charset="0"/>
              </a:rPr>
              <a:t>febbre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(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발열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),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 </a:t>
            </a:r>
            <a:r>
              <a:rPr lang="en-US" altLang="ko-KR" sz="1600" dirty="0" err="1">
                <a:latin typeface="times new"/>
                <a:cs typeface="Times New Roman" panose="02020603050405020304" pitchFamily="18" charset="0"/>
              </a:rPr>
              <a:t>dispnea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(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호흡곤란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) 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사용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코로나 환자들이 빈번히 보고하는 증상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기간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2020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년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2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월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~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2020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년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5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월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(</a:t>
            </a:r>
            <a:r>
              <a:rPr lang="ko-KR" altLang="en-US" sz="1600" dirty="0" err="1">
                <a:latin typeface="times new"/>
                <a:cs typeface="Times New Roman" panose="02020603050405020304" pitchFamily="18" charset="0"/>
              </a:rPr>
              <a:t>주단위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이탈리아의 주간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COVID-19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신규 </a:t>
            </a:r>
            <a:r>
              <a:rPr lang="ko-KR" altLang="en-US" sz="1600" dirty="0" err="1">
                <a:latin typeface="times new"/>
                <a:cs typeface="Times New Roman" panose="02020603050405020304" pitchFamily="18" charset="0"/>
              </a:rPr>
              <a:t>확진자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 수 이용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국립보건원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(</a:t>
            </a:r>
            <a:r>
              <a:rPr lang="en-US" altLang="ko-KR" sz="1600" dirty="0" err="1">
                <a:latin typeface="times new"/>
                <a:cs typeface="Times New Roman" panose="02020603050405020304" pitchFamily="18" charset="0"/>
              </a:rPr>
              <a:t>IstitutoSuperiore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 di Sanità)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의 </a:t>
            </a:r>
            <a:r>
              <a:rPr lang="ko-KR" altLang="en-US" sz="1600" dirty="0" err="1">
                <a:latin typeface="times new"/>
                <a:cs typeface="Times New Roman" panose="02020603050405020304" pitchFamily="18" charset="0"/>
              </a:rPr>
              <a:t>공식웹사이트에서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 수집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err="1">
                <a:latin typeface="times new"/>
                <a:cs typeface="Times New Roman" panose="02020603050405020304" pitchFamily="18" charset="0"/>
              </a:rPr>
              <a:t>스피어먼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 상관관계 분석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신뢰구간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코로나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19 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신규 </a:t>
            </a:r>
            <a:r>
              <a:rPr lang="ko-KR" altLang="en-US" sz="1600" dirty="0" err="1">
                <a:latin typeface="times new"/>
                <a:cs typeface="Times New Roman" panose="02020603050405020304" pitchFamily="18" charset="0"/>
              </a:rPr>
              <a:t>확진자에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 대한 구글 </a:t>
            </a:r>
            <a:r>
              <a:rPr lang="ko-KR" altLang="en-US" sz="1600" dirty="0" err="1">
                <a:latin typeface="times new"/>
                <a:cs typeface="Times New Roman" panose="02020603050405020304" pitchFamily="18" charset="0"/>
              </a:rPr>
              <a:t>검색량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통계 분석 </a:t>
            </a:r>
            <a:r>
              <a:rPr lang="en-US" altLang="ko-KR" sz="1600" dirty="0" err="1">
                <a:latin typeface="times new"/>
                <a:cs typeface="Times New Roman" panose="02020603050405020304" pitchFamily="18" charset="0"/>
              </a:rPr>
              <a:t>Analyse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-it(</a:t>
            </a:r>
            <a:r>
              <a:rPr lang="en-US" altLang="ko-KR" sz="1600" dirty="0" err="1">
                <a:latin typeface="times new"/>
                <a:cs typeface="Times New Roman" panose="02020603050405020304" pitchFamily="18" charset="0"/>
              </a:rPr>
              <a:t>Analyse-itSoftware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 Ltd, 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영국 리즈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)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을 사용하여 수행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081CF4-B4F3-2F02-D093-03DCA1683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289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B5829-979F-09B7-59BF-D7A018825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B73DE1-2B8E-CEB0-F69D-3B5AD8CAD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연구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03C7288-67F2-9170-A977-9C331B6FE0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700209" cy="5032375"/>
              </a:xfrm>
            </p:spPr>
            <p:txBody>
              <a:bodyPr numCol="1"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sz="2000" b="1" dirty="0">
                    <a:latin typeface="times new"/>
                    <a:cs typeface="Times New Roman" panose="02020603050405020304" pitchFamily="18" charset="0"/>
                  </a:rPr>
                  <a:t>Results?</a:t>
                </a:r>
              </a:p>
              <a:p>
                <a:pPr>
                  <a:lnSpc>
                    <a:spcPct val="10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신규 코로나 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확진자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수의 정점보다 앞선다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 (3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주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 </m:t>
                    </m:r>
                  </m:oMath>
                </a14:m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이미 바이러스가 유행</a:t>
                </a:r>
                <a:endParaRPr lang="en-US" altLang="ko-KR" sz="1600" dirty="0">
                  <a:latin typeface="times new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첫 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확진자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출현 지난 주와 해당 주 비교</a:t>
                </a:r>
                <a:endParaRPr lang="en-US" altLang="ko-KR" sz="1600" dirty="0">
                  <a:latin typeface="times new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US" altLang="ko-KR" sz="1600" dirty="0" err="1">
                    <a:latin typeface="times new"/>
                    <a:cs typeface="Times New Roman" panose="02020603050405020304" pitchFamily="18" charset="0"/>
                  </a:rPr>
                  <a:t>Tosse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기침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), </a:t>
                </a:r>
                <a:r>
                  <a:rPr lang="en-US" altLang="ko-KR" sz="1600" dirty="0" err="1">
                    <a:latin typeface="times new"/>
                    <a:cs typeface="Times New Roman" panose="02020603050405020304" pitchFamily="18" charset="0"/>
                  </a:rPr>
                  <a:t>febbre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발열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),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600" dirty="0" err="1">
                    <a:latin typeface="times new"/>
                    <a:cs typeface="Times New Roman" panose="02020603050405020304" pitchFamily="18" charset="0"/>
                  </a:rPr>
                  <a:t>dispnea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호흡곤란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)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2.2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배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 1.7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배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7.7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배 증가 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심각</a:t>
                </a:r>
                <a:endParaRPr lang="en-US" altLang="ko-KR" sz="1600" b="1" dirty="0">
                  <a:latin typeface="times new"/>
                  <a:cs typeface="Times New Roman" panose="02020603050405020304" pitchFamily="18" charset="0"/>
                </a:endParaRPr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US" altLang="ko-KR" sz="1600" b="1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 </m:t>
                    </m:r>
                  </m:oMath>
                </a14:m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이미 바이러스가 유행</a:t>
                </a:r>
                <a:endParaRPr lang="en-US" altLang="ko-KR" sz="1600" dirty="0">
                  <a:latin typeface="times new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호흡곤란에 대해</a:t>
                </a:r>
                <a:endParaRPr lang="en-US" altLang="ko-KR" sz="1600" dirty="0">
                  <a:latin typeface="times new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정점에 달한 시점을 조기에 파악했다면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보건 당국은 제한 조치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사회적 거리두기 시행 미리 준비 가능</a:t>
                </a:r>
              </a:p>
              <a:p>
                <a:pPr>
                  <a:lnSpc>
                    <a:spcPct val="100000"/>
                  </a:lnSpc>
                </a:pPr>
                <a:endParaRPr lang="en-US" altLang="ko-KR" sz="1600" dirty="0">
                  <a:latin typeface="times new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03C7288-67F2-9170-A977-9C331B6FE0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700209" cy="5032375"/>
              </a:xfrm>
              <a:blipFill>
                <a:blip r:embed="rId2"/>
                <a:stretch>
                  <a:fillRect l="-569" t="-6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B29F2C-9DBD-1F41-6043-8279116CC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F18C22E-3FAC-698D-F448-EA0B20C5A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938" y="607866"/>
            <a:ext cx="6500674" cy="395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020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2BB97-6B8E-92F3-57AD-DBDD89A68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C558A5-311E-7B1F-AF92-5506C2389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연구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B54F2FF-B962-B604-94FA-063C54B00E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700209" cy="5032375"/>
              </a:xfrm>
            </p:spPr>
            <p:txBody>
              <a:bodyPr numCol="1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상관관계 분석</a:t>
                </a:r>
                <a:endParaRPr lang="en-US" altLang="ko-KR" sz="1600" dirty="0">
                  <a:latin typeface="times new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신규 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확진된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사례 수와 </a:t>
                </a:r>
                <a:r>
                  <a:rPr lang="en-US" altLang="ko-KR" sz="1600" dirty="0" err="1">
                    <a:latin typeface="times new"/>
                    <a:cs typeface="Times New Roman" panose="02020603050405020304" pitchFamily="18" charset="0"/>
                  </a:rPr>
                  <a:t>tosse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기침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; p=0.277),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600" dirty="0" err="1">
                    <a:latin typeface="times new"/>
                    <a:cs typeface="Times New Roman" panose="02020603050405020304" pitchFamily="18" charset="0"/>
                  </a:rPr>
                  <a:t>febbre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발열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; p=0.852)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에 대한 구글 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검색량</a:t>
                </a:r>
                <a:endParaRPr lang="en-US" altLang="ko-KR" sz="1600" dirty="0">
                  <a:latin typeface="times new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유의미하지 않음 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해당 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검색량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곡선이확진자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수보다 거의 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3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주 앞섰기 때문</a:t>
                </a:r>
                <a:endParaRPr lang="en-US" altLang="ko-KR" sz="1600" dirty="0">
                  <a:latin typeface="times new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그러나 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3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주 지연 후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(p=0.008, p=0.004) 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유의미</a:t>
                </a:r>
                <a:endParaRPr lang="en-US" altLang="ko-KR" sz="1600" dirty="0">
                  <a:latin typeface="times new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US" altLang="ko-KR" sz="1600" dirty="0" err="1">
                    <a:latin typeface="times new"/>
                    <a:cs typeface="Times New Roman" panose="02020603050405020304" pitchFamily="18" charset="0"/>
                  </a:rPr>
                  <a:t>dispnea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호흡곤란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; p=0.034)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유의미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ct val="100000"/>
                  </a:lnSpc>
                </a:pPr>
                <a:endParaRPr lang="en-US" altLang="ko-KR" sz="1600" dirty="0">
                  <a:latin typeface="times new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altLang="ko-KR" sz="1600" dirty="0">
                  <a:latin typeface="times new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B54F2FF-B962-B604-94FA-063C54B00E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700209" cy="5032375"/>
              </a:xfrm>
              <a:blipFill>
                <a:blip r:embed="rId2"/>
                <a:stretch>
                  <a:fillRect l="-171" t="-4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0EB370-B172-B672-6045-D30FC4D53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4B1DAAA-2BB6-F0A1-C286-28CB4C512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633" y="3003336"/>
            <a:ext cx="5506775" cy="335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400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546DB-5DC0-066F-EA40-EB483AF56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A5C8D7-3CD6-6B57-43C4-755113B31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앞으로의 진행 단계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9C33ABB7-735A-F44D-1B37-976289A93D7A}"/>
              </a:ext>
            </a:extLst>
          </p:cNvPr>
          <p:cNvSpPr/>
          <p:nvPr/>
        </p:nvSpPr>
        <p:spPr>
          <a:xfrm>
            <a:off x="2357120" y="2230120"/>
            <a:ext cx="680720" cy="67056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900A3C4-1EC0-8270-D517-61201F39DE5A}"/>
              </a:ext>
            </a:extLst>
          </p:cNvPr>
          <p:cNvSpPr/>
          <p:nvPr/>
        </p:nvSpPr>
        <p:spPr>
          <a:xfrm>
            <a:off x="6868160" y="2230120"/>
            <a:ext cx="680720" cy="670560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5DDE6A0-9D01-D020-FA3F-136872FE49B7}"/>
              </a:ext>
            </a:extLst>
          </p:cNvPr>
          <p:cNvSpPr/>
          <p:nvPr/>
        </p:nvSpPr>
        <p:spPr>
          <a:xfrm>
            <a:off x="9123680" y="2230120"/>
            <a:ext cx="680720" cy="670560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CB8BE9C-061C-5B49-2F3D-D96AABAF4E34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498600" y="2565400"/>
            <a:ext cx="858520" cy="254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C544DF7-8875-6FBE-37B7-995E7D5AA168}"/>
              </a:ext>
            </a:extLst>
          </p:cNvPr>
          <p:cNvCxnSpPr>
            <a:cxnSpLocks/>
          </p:cNvCxnSpPr>
          <p:nvPr/>
        </p:nvCxnSpPr>
        <p:spPr>
          <a:xfrm>
            <a:off x="3037840" y="2560320"/>
            <a:ext cx="1574800" cy="50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0D34187-9166-A2D6-BE4B-5858ED3BB772}"/>
              </a:ext>
            </a:extLst>
          </p:cNvPr>
          <p:cNvCxnSpPr>
            <a:cxnSpLocks/>
          </p:cNvCxnSpPr>
          <p:nvPr/>
        </p:nvCxnSpPr>
        <p:spPr>
          <a:xfrm>
            <a:off x="5308600" y="2555240"/>
            <a:ext cx="1574800" cy="50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120289F-B70F-67CA-9D51-3672A5397A06}"/>
              </a:ext>
            </a:extLst>
          </p:cNvPr>
          <p:cNvCxnSpPr>
            <a:cxnSpLocks/>
          </p:cNvCxnSpPr>
          <p:nvPr/>
        </p:nvCxnSpPr>
        <p:spPr>
          <a:xfrm>
            <a:off x="7533640" y="2562860"/>
            <a:ext cx="1574800" cy="50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A8B9DED-D16A-DC89-67BD-939907AD0BCA}"/>
              </a:ext>
            </a:extLst>
          </p:cNvPr>
          <p:cNvCxnSpPr>
            <a:cxnSpLocks/>
          </p:cNvCxnSpPr>
          <p:nvPr/>
        </p:nvCxnSpPr>
        <p:spPr>
          <a:xfrm>
            <a:off x="9804400" y="2560320"/>
            <a:ext cx="985520" cy="254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1E24486-2719-E19A-824D-B25966A0DFD0}"/>
              </a:ext>
            </a:extLst>
          </p:cNvPr>
          <p:cNvSpPr txBox="1"/>
          <p:nvPr/>
        </p:nvSpPr>
        <p:spPr>
          <a:xfrm>
            <a:off x="1402079" y="3060960"/>
            <a:ext cx="25784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1</a:t>
            </a:r>
            <a:r>
              <a:rPr lang="ko-KR" altLang="en-US" sz="1600" b="1" dirty="0"/>
              <a:t>주차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1235CA-56F9-0638-AFBC-432BB1ED4710}"/>
              </a:ext>
            </a:extLst>
          </p:cNvPr>
          <p:cNvSpPr txBox="1"/>
          <p:nvPr/>
        </p:nvSpPr>
        <p:spPr>
          <a:xfrm>
            <a:off x="3846556" y="3056523"/>
            <a:ext cx="2212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2</a:t>
            </a:r>
            <a:r>
              <a:rPr lang="ko-KR" altLang="en-US" sz="1600" b="1" dirty="0"/>
              <a:t>주차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4A446D5-7BC4-5ABB-49B1-2C234E30F78B}"/>
              </a:ext>
            </a:extLst>
          </p:cNvPr>
          <p:cNvSpPr/>
          <p:nvPr/>
        </p:nvSpPr>
        <p:spPr>
          <a:xfrm>
            <a:off x="6868160" y="4638040"/>
            <a:ext cx="680720" cy="670560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1421F58-F052-7617-F8E8-554A01A8B392}"/>
              </a:ext>
            </a:extLst>
          </p:cNvPr>
          <p:cNvSpPr/>
          <p:nvPr/>
        </p:nvSpPr>
        <p:spPr>
          <a:xfrm>
            <a:off x="9123680" y="4638040"/>
            <a:ext cx="680720" cy="670560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65888C5-AD3F-88FE-D79D-A87A74679EA4}"/>
              </a:ext>
            </a:extLst>
          </p:cNvPr>
          <p:cNvCxnSpPr>
            <a:cxnSpLocks/>
          </p:cNvCxnSpPr>
          <p:nvPr/>
        </p:nvCxnSpPr>
        <p:spPr>
          <a:xfrm>
            <a:off x="7533640" y="4970780"/>
            <a:ext cx="1574800" cy="50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80388D61-738E-52B0-9C65-98D3328652E6}"/>
              </a:ext>
            </a:extLst>
          </p:cNvPr>
          <p:cNvCxnSpPr>
            <a:cxnSpLocks/>
          </p:cNvCxnSpPr>
          <p:nvPr/>
        </p:nvCxnSpPr>
        <p:spPr>
          <a:xfrm flipV="1">
            <a:off x="9804400" y="4963160"/>
            <a:ext cx="985520" cy="50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44BC22B6-0D67-A875-C767-E2E4983018F2}"/>
              </a:ext>
            </a:extLst>
          </p:cNvPr>
          <p:cNvCxnSpPr>
            <a:cxnSpLocks/>
          </p:cNvCxnSpPr>
          <p:nvPr/>
        </p:nvCxnSpPr>
        <p:spPr>
          <a:xfrm>
            <a:off x="10789920" y="2562860"/>
            <a:ext cx="0" cy="24079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AF02127-A9E4-AFB4-EF9C-ED969C2FC374}"/>
              </a:ext>
            </a:extLst>
          </p:cNvPr>
          <p:cNvSpPr txBox="1"/>
          <p:nvPr/>
        </p:nvSpPr>
        <p:spPr>
          <a:xfrm>
            <a:off x="6421120" y="3056523"/>
            <a:ext cx="157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3</a:t>
            </a:r>
            <a:r>
              <a:rPr lang="ko-KR" altLang="en-US" sz="1600" b="1" dirty="0"/>
              <a:t>주차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AC415A-AEF9-23C5-ACFA-06F2ED144DA8}"/>
              </a:ext>
            </a:extLst>
          </p:cNvPr>
          <p:cNvSpPr txBox="1"/>
          <p:nvPr/>
        </p:nvSpPr>
        <p:spPr>
          <a:xfrm>
            <a:off x="8357596" y="3056523"/>
            <a:ext cx="2212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4</a:t>
            </a:r>
            <a:r>
              <a:rPr lang="ko-KR" altLang="en-US" sz="1600" b="1" dirty="0"/>
              <a:t>주차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094DEA-26A4-2FFA-3D51-ECDF459D3272}"/>
              </a:ext>
            </a:extLst>
          </p:cNvPr>
          <p:cNvSpPr txBox="1"/>
          <p:nvPr/>
        </p:nvSpPr>
        <p:spPr>
          <a:xfrm>
            <a:off x="8357596" y="5456823"/>
            <a:ext cx="2212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8</a:t>
            </a:r>
            <a:r>
              <a:rPr lang="ko-KR" altLang="en-US" sz="1600" b="1" dirty="0"/>
              <a:t>월</a:t>
            </a:r>
            <a:r>
              <a:rPr lang="en-US" altLang="ko-KR" sz="1600" b="1" dirty="0"/>
              <a:t>3</a:t>
            </a:r>
            <a:r>
              <a:rPr lang="ko-KR" altLang="en-US" sz="1600" b="1" dirty="0"/>
              <a:t>일</a:t>
            </a:r>
            <a:r>
              <a:rPr lang="en-US" altLang="ko-KR" sz="1600" b="1" dirty="0"/>
              <a:t>~8</a:t>
            </a:r>
            <a:r>
              <a:rPr lang="ko-KR" altLang="en-US" sz="1600" b="1" dirty="0"/>
              <a:t>월</a:t>
            </a:r>
            <a:r>
              <a:rPr lang="en-US" altLang="ko-KR" sz="1600" b="1" dirty="0"/>
              <a:t>7</a:t>
            </a:r>
            <a:r>
              <a:rPr lang="ko-KR" altLang="en-US" sz="1600" b="1" dirty="0"/>
              <a:t>일</a:t>
            </a:r>
            <a:r>
              <a:rPr lang="en-US" altLang="ko-KR" sz="1600" b="1" dirty="0"/>
              <a:t>(5</a:t>
            </a:r>
            <a:r>
              <a:rPr lang="ko-KR" altLang="en-US" sz="1600" b="1" dirty="0"/>
              <a:t>주차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968923-56E4-6F84-AC23-809D8B77AB31}"/>
              </a:ext>
            </a:extLst>
          </p:cNvPr>
          <p:cNvSpPr txBox="1"/>
          <p:nvPr/>
        </p:nvSpPr>
        <p:spPr>
          <a:xfrm>
            <a:off x="6421120" y="5464443"/>
            <a:ext cx="157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장기인턴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571A6BBA-BF8B-0495-F4D0-6E89464894DB}"/>
              </a:ext>
            </a:extLst>
          </p:cNvPr>
          <p:cNvCxnSpPr/>
          <p:nvPr/>
        </p:nvCxnSpPr>
        <p:spPr>
          <a:xfrm flipH="1">
            <a:off x="5409886" y="4970780"/>
            <a:ext cx="147351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5B1A412-72C5-DA9A-02ED-07632164B263}"/>
              </a:ext>
            </a:extLst>
          </p:cNvPr>
          <p:cNvSpPr txBox="1"/>
          <p:nvPr/>
        </p:nvSpPr>
        <p:spPr>
          <a:xfrm>
            <a:off x="1565933" y="3458487"/>
            <a:ext cx="22507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데이터 수집 마무리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+ 3</a:t>
            </a:r>
            <a:r>
              <a:rPr lang="ko-KR" altLang="en-US" sz="1600" b="1" dirty="0"/>
              <a:t>주 이동평균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논문 리딩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202B23-450E-D2F8-EA88-BA5C138A1691}"/>
              </a:ext>
            </a:extLst>
          </p:cNvPr>
          <p:cNvSpPr txBox="1"/>
          <p:nvPr/>
        </p:nvSpPr>
        <p:spPr>
          <a:xfrm>
            <a:off x="3893256" y="3447257"/>
            <a:ext cx="20267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상관계수 이해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코드 작성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논문 리딩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40CE45-690A-12CA-0C46-A2328C557FAA}"/>
              </a:ext>
            </a:extLst>
          </p:cNvPr>
          <p:cNvSpPr txBox="1"/>
          <p:nvPr/>
        </p:nvSpPr>
        <p:spPr>
          <a:xfrm>
            <a:off x="6249842" y="3420108"/>
            <a:ext cx="17763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/>
              <a:t>교수님 피드백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논문 작성</a:t>
            </a:r>
            <a:r>
              <a:rPr lang="en-US" altLang="ko-KR" sz="1600" b="1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30F4C1F-D091-A1DE-8A12-CADB85F7E0D4}"/>
              </a:ext>
            </a:extLst>
          </p:cNvPr>
          <p:cNvSpPr txBox="1"/>
          <p:nvPr/>
        </p:nvSpPr>
        <p:spPr>
          <a:xfrm>
            <a:off x="8630841" y="3458487"/>
            <a:ext cx="17763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교수님 피드백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논문 작성</a:t>
            </a:r>
            <a:r>
              <a:rPr lang="en-US" altLang="ko-KR" sz="1600" b="1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14FD642-B7B5-F009-FE77-0917671A4629}"/>
              </a:ext>
            </a:extLst>
          </p:cNvPr>
          <p:cNvSpPr txBox="1"/>
          <p:nvPr/>
        </p:nvSpPr>
        <p:spPr>
          <a:xfrm>
            <a:off x="8575863" y="5797183"/>
            <a:ext cx="17763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교수님 피드백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논문 작성</a:t>
            </a:r>
            <a:r>
              <a:rPr lang="en-US" altLang="ko-KR" sz="1600" b="1" dirty="0"/>
              <a:t>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마무리</a:t>
            </a:r>
            <a:endParaRPr lang="en-US" altLang="ko-KR" sz="16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3E8D4EB-ECE5-0CEA-35D8-F4498D7A9DF1}"/>
              </a:ext>
            </a:extLst>
          </p:cNvPr>
          <p:cNvSpPr txBox="1"/>
          <p:nvPr/>
        </p:nvSpPr>
        <p:spPr>
          <a:xfrm>
            <a:off x="6211668" y="5802262"/>
            <a:ext cx="18526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다음 연구 진행</a:t>
            </a:r>
            <a:endParaRPr lang="en-US" altLang="ko-KR" sz="1600" b="1" dirty="0"/>
          </a:p>
        </p:txBody>
      </p:sp>
      <p:sp>
        <p:nvSpPr>
          <p:cNvPr id="48" name="슬라이드 번호 개체 틀 47">
            <a:extLst>
              <a:ext uri="{FF2B5EF4-FFF2-40B4-BE49-F238E27FC236}">
                <a16:creationId xmlns:a16="http://schemas.microsoft.com/office/drawing/2014/main" id="{F251A3CD-8941-A08C-D4B2-6B2247C28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FC2B9409-1EE1-0E0F-2AA1-B464D056A99E}"/>
              </a:ext>
            </a:extLst>
          </p:cNvPr>
          <p:cNvSpPr/>
          <p:nvPr/>
        </p:nvSpPr>
        <p:spPr>
          <a:xfrm>
            <a:off x="4620260" y="2232660"/>
            <a:ext cx="680720" cy="67056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616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32B5D-2E70-FDA5-B9BC-3E50AEC1E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F37967-141C-7AFF-F867-1C59EEA4D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감사합니다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786A503-D5FC-042F-9907-0C113C7D3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335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3431</TotalTime>
  <Words>667</Words>
  <Application>Microsoft Office PowerPoint</Application>
  <PresentationFormat>와이드스크린</PresentationFormat>
  <Paragraphs>162</Paragraphs>
  <Slides>18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times new</vt:lpstr>
      <vt:lpstr>맑은 고딕</vt:lpstr>
      <vt:lpstr>Arial</vt:lpstr>
      <vt:lpstr>Cambria Math</vt:lpstr>
      <vt:lpstr>times</vt:lpstr>
      <vt:lpstr>Times New Roman</vt:lpstr>
      <vt:lpstr>Office 테마</vt:lpstr>
      <vt:lpstr>진행사항 보고</vt:lpstr>
      <vt:lpstr>Outline</vt:lpstr>
      <vt:lpstr>1. 지역별 검색량 데이터 확보</vt:lpstr>
      <vt:lpstr>연관 키워드</vt:lpstr>
      <vt:lpstr>지역별 검색량 데이터 확보 완료</vt:lpstr>
      <vt:lpstr>가중치에 도달하기까지(1/3)</vt:lpstr>
      <vt:lpstr>가중치에 도달하기까지(2/3)</vt:lpstr>
      <vt:lpstr>가중치에 도달하기까지(3/3)</vt:lpstr>
      <vt:lpstr>약간의 문제</vt:lpstr>
      <vt:lpstr>2. 상관계수</vt:lpstr>
      <vt:lpstr>상관계수</vt:lpstr>
      <vt:lpstr>3. 논문 정리</vt:lpstr>
      <vt:lpstr>연구1</vt:lpstr>
      <vt:lpstr>연구1</vt:lpstr>
      <vt:lpstr>연구1</vt:lpstr>
      <vt:lpstr>연구1</vt:lpstr>
      <vt:lpstr>앞으로의 진행 단계</vt:lpstr>
      <vt:lpstr>감사합니다!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SeoJin Kang</dc:creator>
  <cp:lastModifiedBy>SeoJin Kang</cp:lastModifiedBy>
  <cp:revision>23</cp:revision>
  <dcterms:created xsi:type="dcterms:W3CDTF">2026-07-03T09:13:49Z</dcterms:created>
  <dcterms:modified xsi:type="dcterms:W3CDTF">2026-07-14T07:02:10Z</dcterms:modified>
</cp:coreProperties>
</file>