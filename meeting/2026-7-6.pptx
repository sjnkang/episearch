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60" r:id="rId4"/>
    <p:sldId id="269" r:id="rId5"/>
    <p:sldId id="268" r:id="rId6"/>
    <p:sldId id="263" r:id="rId7"/>
    <p:sldId id="262" r:id="rId8"/>
    <p:sldId id="270" r:id="rId9"/>
    <p:sldId id="271" r:id="rId10"/>
    <p:sldId id="272" r:id="rId11"/>
    <p:sldId id="274" r:id="rId12"/>
    <p:sldId id="275" r:id="rId13"/>
    <p:sldId id="273" r:id="rId14"/>
    <p:sldId id="261" r:id="rId15"/>
    <p:sldId id="266" r:id="rId16"/>
    <p:sldId id="259" r:id="rId17"/>
    <p:sldId id="264" r:id="rId18"/>
    <p:sldId id="267" r:id="rId19"/>
    <p:sldId id="265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84" autoAdjust="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17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B6B-B3A5-4681-B069-0930B2E9C66D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9EF5-6D34-4524-AC8C-23C4BD746617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5E96-8569-4028-A024-39AF353DC455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4EDC-7878-4CBA-A4CC-810471BFCE4E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E517-9A32-4B00-810C-24D0935D3CA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CADE-41C4-41D7-8A6C-C8521C341E19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2F52-0B74-434F-825D-2594E8957160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3B00-CAE1-4D6A-A760-9C0B5BD1D7E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85D3-B783-4B9B-8D89-64FEE799EDE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A01D-2631-421E-B45D-7172839BF98D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C288-609C-4775-89D0-D87D2656BA3B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D3BE-D6F2-4D9B-9032-30F3C513E17E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9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6709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304925"/>
            <a:ext cx="10159235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자대에서 진행한 연구 소개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b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하수 농도와 </a:t>
            </a:r>
            <a:r>
              <a:rPr lang="ko-KR" alt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검색량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연구 진행사항 보고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3545071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2026. 7.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604015" y="563356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자대에서 진행한 연구 소개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Research1: CLIP </a:t>
            </a: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 검색 성능 향상을 위한 이미지 </a:t>
            </a:r>
            <a:r>
              <a:rPr lang="ko-KR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전처리</a:t>
            </a: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적용</a:t>
            </a: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Research2: Edge Devices</a:t>
            </a: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</a:t>
            </a: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배포 성능 측정</a:t>
            </a: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하수 농도와 </a:t>
            </a:r>
            <a:r>
              <a:rPr lang="ko-KR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검색량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연구 진행사항 보고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ko-KR" sz="1800" b="1" dirty="0"/>
              <a:t>하수 기반 감염병 감시 데이터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확보</a:t>
            </a:r>
            <a:endParaRPr lang="en-US" altLang="ko-KR" sz="1800" b="1" dirty="0"/>
          </a:p>
          <a:p>
            <a:pPr lvl="1">
              <a:lnSpc>
                <a:spcPct val="150000"/>
              </a:lnSpc>
            </a:pPr>
            <a:r>
              <a:rPr lang="ko-KR" altLang="ko-KR" sz="1800" b="1" dirty="0"/>
              <a:t>감염병 </a:t>
            </a:r>
            <a:r>
              <a:rPr lang="ko-KR" altLang="ko-KR" sz="1800" b="1" dirty="0" err="1"/>
              <a:t>검색량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수집</a:t>
            </a:r>
            <a:endParaRPr lang="en-US" altLang="ko-KR" sz="1800" b="1" dirty="0"/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r>
              <a:rPr lang="en-US" altLang="ko-KR" dirty="0"/>
              <a:t>/20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155F6-1167-4662-3D27-81021214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4714B-0B53-EF11-8481-F213CBB5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자대에서 진행한 연구 소개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BCD7E3-79C3-C371-0BFD-4E6AFD08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5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CD93A-C4CF-2F4A-8B1F-2B1AF148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8408C-50D4-60A1-BB71-DC3313E3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1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(1/4)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1CEC28-B904-7BF1-2FF2-30E5CDBC2F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8324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무엇을</a:t>
                </a: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Improving CLIP-Based Object Retrieval Through Background Removal with SAM Segmentation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CLIP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이미지 검색 성능 향상을 위한 이미지 </a:t>
                </a:r>
                <a:r>
                  <a:rPr lang="ko-KR" alt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전처리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적용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International Workshop on Computer Image and its Applications (CIA), (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PlatCon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2025, Jeju, South Korea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에서 발표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CLIP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(1/2)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OpenAI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이미지와 텍스트를 같은 공간에서 이해할 수 있도록 학습된 </a:t>
                </a:r>
                <a:r>
                  <a:rPr lang="ko-KR" alt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멀티모달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모델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400 million (image, text) pairs collected from the internet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Zero-shot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에 강함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개의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CV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데이터셋을 대상으로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벤치마킹 수행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1CEC28-B904-7BF1-2FF2-30E5CDBC2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83240" cy="4667250"/>
              </a:xfrm>
              <a:blipFill>
                <a:blip r:embed="rId2"/>
                <a:stretch>
                  <a:fillRect l="-628" t="-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1F6C91-64FD-EE5F-A488-3C2B7729FFFE}"/>
              </a:ext>
            </a:extLst>
          </p:cNvPr>
          <p:cNvSpPr txBox="1"/>
          <p:nvPr/>
        </p:nvSpPr>
        <p:spPr>
          <a:xfrm>
            <a:off x="0" y="6581001"/>
            <a:ext cx="2870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https://arxiv.org/pdf/2103.00020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5A439E-9D77-DBCC-C1E2-484E89A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F15E90-21C9-927D-4380-B5211FFFF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32" y="2173240"/>
            <a:ext cx="1295308" cy="80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6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7340-F246-3EBA-4C7A-8F38D036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01363-6FFC-59AB-1BD9-576F2914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1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(2/4)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6C3A5-A571-07B7-0ACA-7BA94C0B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 &amp; Idea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E2019B-7947-24E9-4223-CB1489AD7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59" y="2357120"/>
            <a:ext cx="9833682" cy="3584071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32BE2D9-82B7-8CC2-3844-F831F02537D1}"/>
              </a:ext>
            </a:extLst>
          </p:cNvPr>
          <p:cNvSpPr/>
          <p:nvPr/>
        </p:nvSpPr>
        <p:spPr>
          <a:xfrm>
            <a:off x="6614160" y="4500880"/>
            <a:ext cx="1026160" cy="105664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AD702-01F2-3503-4C63-2EB12CDE8FCB}"/>
              </a:ext>
            </a:extLst>
          </p:cNvPr>
          <p:cNvSpPr txBox="1"/>
          <p:nvPr/>
        </p:nvSpPr>
        <p:spPr>
          <a:xfrm>
            <a:off x="5476240" y="6127234"/>
            <a:ext cx="545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배경을 지우면 객체를 더 잘 표현 가능하지 않을까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E1A7BB-C56F-DB21-0DF6-A44FB21F025F}"/>
              </a:ext>
            </a:extLst>
          </p:cNvPr>
          <p:cNvCxnSpPr/>
          <p:nvPr/>
        </p:nvCxnSpPr>
        <p:spPr>
          <a:xfrm flipH="1">
            <a:off x="5374640" y="5374640"/>
            <a:ext cx="1320800" cy="9372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19F580-2D44-2629-67AE-B43124692FA7}"/>
              </a:ext>
            </a:extLst>
          </p:cNvPr>
          <p:cNvCxnSpPr>
            <a:cxnSpLocks/>
          </p:cNvCxnSpPr>
          <p:nvPr/>
        </p:nvCxnSpPr>
        <p:spPr>
          <a:xfrm flipH="1" flipV="1">
            <a:off x="7636211" y="5212080"/>
            <a:ext cx="3595669" cy="109982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756B8B-E5E8-6D29-F21A-6EE35BED9EBF}"/>
              </a:ext>
            </a:extLst>
          </p:cNvPr>
          <p:cNvSpPr txBox="1"/>
          <p:nvPr/>
        </p:nvSpPr>
        <p:spPr>
          <a:xfrm>
            <a:off x="0" y="6581001"/>
            <a:ext cx="2870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https://arxiv.org/pdf/2103.00020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5E04E4C-7114-8AD8-0A06-07E2A13F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8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1BF7-11C0-9C8B-5E17-5D47984D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A9553-CC46-E074-345D-B544E791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1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(3/4)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A4245-2DD7-58BF-5D7C-AAF209ED5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바운딩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박스 자르기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객체를 탐지해서 일정 박스 크기로 자르기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SAM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사용한 자르기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사용하여 객체를 탐지하고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객체를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한 뒤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외에 배경을 삭제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1545C0-F95E-D315-747B-E3624E440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11" y="2798865"/>
            <a:ext cx="1348423" cy="20226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995C0A-40B9-3F5A-0D70-B314858A0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7"/>
          <a:stretch>
            <a:fillRect/>
          </a:stretch>
        </p:blipFill>
        <p:spPr>
          <a:xfrm>
            <a:off x="5108093" y="1978659"/>
            <a:ext cx="1516218" cy="2022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A09F0-54E9-2DCD-0FFB-0772E514B215}"/>
                  </a:ext>
                </a:extLst>
              </p:cNvPr>
              <p:cNvSpPr txBox="1"/>
              <p:nvPr/>
            </p:nvSpPr>
            <p:spPr>
              <a:xfrm>
                <a:off x="6662066" y="1958879"/>
                <a:ext cx="3809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A09F0-54E9-2DCD-0FFB-0772E514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066" y="1958879"/>
                <a:ext cx="3809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1C244741-4774-DF0A-939C-709F3C7FF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9" t="32890" r="13743" b="15737"/>
          <a:stretch>
            <a:fillRect/>
          </a:stretch>
        </p:blipFill>
        <p:spPr>
          <a:xfrm>
            <a:off x="7192763" y="1630465"/>
            <a:ext cx="985521" cy="1168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A033EA-AD74-F52F-6950-615BA15DA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735" y="628602"/>
            <a:ext cx="3467014" cy="55483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F8C906-D87D-A430-01C9-0EC50BE37522}"/>
              </a:ext>
            </a:extLst>
          </p:cNvPr>
          <p:cNvSpPr txBox="1"/>
          <p:nvPr/>
        </p:nvSpPr>
        <p:spPr>
          <a:xfrm>
            <a:off x="7868203" y="6229398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전체 프레임워크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D6F6CD-8C41-6720-A3F8-3435E845D156}"/>
                  </a:ext>
                </a:extLst>
              </p:cNvPr>
              <p:cNvSpPr txBox="1"/>
              <p:nvPr/>
            </p:nvSpPr>
            <p:spPr>
              <a:xfrm>
                <a:off x="6715037" y="3746035"/>
                <a:ext cx="3809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D6F6CD-8C41-6720-A3F8-3435E845D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037" y="3746035"/>
                <a:ext cx="38090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04FB209-314D-1FA9-8BF3-830F5FCF5DF1}"/>
              </a:ext>
            </a:extLst>
          </p:cNvPr>
          <p:cNvSpPr txBox="1"/>
          <p:nvPr/>
        </p:nvSpPr>
        <p:spPr>
          <a:xfrm>
            <a:off x="6827924" y="1515162"/>
            <a:ext cx="505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1.</a:t>
            </a:r>
            <a:endParaRPr lang="ko-KR" altLang="en-US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08EE6-281D-E68B-3DF5-053515D94F3B}"/>
              </a:ext>
            </a:extLst>
          </p:cNvPr>
          <p:cNvSpPr txBox="1"/>
          <p:nvPr/>
        </p:nvSpPr>
        <p:spPr>
          <a:xfrm>
            <a:off x="6827924" y="3395201"/>
            <a:ext cx="57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2.</a:t>
            </a:r>
            <a:endParaRPr lang="ko-KR" altLang="en-US" sz="1600" b="1" dirty="0"/>
          </a:p>
        </p:txBody>
      </p:sp>
      <p:pic>
        <p:nvPicPr>
          <p:cNvPr id="15" name="그림 3" descr="C:/Users/Administrator/AppData/Roaming/PolarisOffice/ETemp/14308_9339728/fImage116729481786500.gif">
            <a:extLst>
              <a:ext uri="{FF2B5EF4-FFF2-40B4-BE49-F238E27FC236}">
                <a16:creationId xmlns:a16="http://schemas.microsoft.com/office/drawing/2014/main" id="{7F069637-7531-14F6-53B0-DF62F74D393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89" y="4697325"/>
            <a:ext cx="4237531" cy="1795549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0D3F31-0505-0F7E-F3B1-28DEDFF737AD}"/>
              </a:ext>
            </a:extLst>
          </p:cNvPr>
          <p:cNvSpPr txBox="1"/>
          <p:nvPr/>
        </p:nvSpPr>
        <p:spPr>
          <a:xfrm>
            <a:off x="0" y="6581001"/>
            <a:ext cx="616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https://arxiv.org/pdf/2304.02643</a:t>
            </a: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AF0C170-D023-2A9E-E827-F41475E0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07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A6A0-5D76-4383-DF95-DA66421B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2E7BE-8BA1-6F3B-CD35-A9F8CEC9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67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1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(4/4)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82B79C62-1246-48BA-D876-891C6F1D7471}"/>
              </a:ext>
            </a:extLst>
          </p:cNvPr>
          <p:cNvSpPr txBox="1">
            <a:spLocks/>
          </p:cNvSpPr>
          <p:nvPr/>
        </p:nvSpPr>
        <p:spPr>
          <a:xfrm>
            <a:off x="5293360" y="1674236"/>
            <a:ext cx="3862460" cy="275094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Times New Roman" panose="02020603050405020304" pitchFamily="18" charset="0"/>
                <a:ea typeface="Noto Sans KR Medium" panose="020B0200000000000000" pitchFamily="50" charset="-127"/>
                <a:cs typeface="Times New Roman" panose="02020603050405020304" pitchFamily="18" charset="0"/>
              </a:rPr>
              <a:t>Overall Performance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Times New Roman" panose="02020603050405020304" pitchFamily="18" charset="0"/>
              <a:ea typeface="Noto Sans KR Medium" panose="020B0200000000000000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Times New Roman" panose="02020603050405020304" pitchFamily="18" charset="0"/>
              <a:ea typeface="Noto Sans KR Medium" panose="020B0200000000000000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Times New Roman" panose="02020603050405020304" pitchFamily="18" charset="0"/>
                <a:ea typeface="Noto Sans KR Medium" panose="020B0200000000000000" pitchFamily="50" charset="-127"/>
                <a:cs typeface="Times New Roman" panose="02020603050405020304" pitchFamily="18" charset="0"/>
              </a:rPr>
              <a:t>Category-wise Performance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Times New Roman" panose="02020603050405020304" pitchFamily="18" charset="0"/>
              <a:ea typeface="Noto Sans KR Medium" panose="020B0200000000000000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Times New Roman" panose="02020603050405020304" pitchFamily="18" charset="0"/>
              <a:ea typeface="Noto Sans KR Medium" panose="020B0200000000000000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Times New Roman" panose="02020603050405020304" pitchFamily="18" charset="0"/>
              <a:ea typeface="Noto Sans KR Medium" panose="020B0200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A8D4E53-2FF9-4610-A64F-C5A2C3EDB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360" y="2194360"/>
            <a:ext cx="4860752" cy="8553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FCFECFB-ED36-0176-FB14-6BFC133893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06"/>
          <a:stretch>
            <a:fillRect/>
          </a:stretch>
        </p:blipFill>
        <p:spPr>
          <a:xfrm>
            <a:off x="5362060" y="3970354"/>
            <a:ext cx="4510033" cy="2662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BFB834-A853-5AC9-3DDF-FF184CC33320}"/>
                  </a:ext>
                </a:extLst>
              </p:cNvPr>
              <p:cNvSpPr txBox="1"/>
              <p:nvPr/>
            </p:nvSpPr>
            <p:spPr>
              <a:xfrm>
                <a:off x="677609" y="2622035"/>
                <a:ext cx="2905760" cy="940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𝑚𝐴𝑃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b="0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BFB834-A853-5AC9-3DDF-FF184CC33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09" y="2622035"/>
                <a:ext cx="2905760" cy="940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DD42C70A-946D-D592-DA1F-65CCD77E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4D356250-49A0-D3E5-3436-167359406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평가지표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83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BAF1-2D12-D7F1-A095-7F0F34A3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7B04E-F4F9-C384-66AB-FF9D826C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2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(1/6)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42269B9-A214-A254-DC68-D5C157AA0B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68324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무엇을</a:t>
                </a: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Device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에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LLMs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을 배포한 뒤 성능을 측정해보자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데이터 측정 완료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논문화 진행 중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겨냥한 </a:t>
                </a: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Device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GPU: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Jetson Orin Nano Super (8GB), NVIDIA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CPU: Raspberry Pi 5 (8GB)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Meta: Llama-3.2-3B-Instruct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Alibaba: Qwen3-1.7B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</a:t>
                </a:r>
                <a:r>
                  <a:rPr lang="ko-KR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DeepMind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Gemma-3-1b-it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42269B9-A214-A254-DC68-D5C157AA0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683240" cy="4879975"/>
              </a:xfrm>
              <a:blipFill>
                <a:blip r:embed="rId2"/>
                <a:stretch>
                  <a:fillRect l="-628" t="-7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818E8-068A-59EF-CD9C-819E6E8D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560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6C85-438D-1C4A-510F-F1975F8B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0DB44-2FD7-0198-D602-6128CD43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2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(2/6)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02C2634-C28D-9DCB-03D8-915BF2137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683240" cy="49104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어떻게 성능 측정</a:t>
                </a: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LLMs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평가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모델 자체 성능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Edge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Device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배포 성능 평가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기기에서 성능 벤치마크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LLMs </a:t>
                </a: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평가</a:t>
                </a: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lm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-eval-harness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사용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가지 데이터셋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MMLU(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상식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ai2_arc(ARC)(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추론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Hellaswag(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상식적 추론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TruthfulQA(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신뢰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GSM8K(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수학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LLMs (Base +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양자화된 모델들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Base, Q5, Q4, Q3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02C2634-C28D-9DCB-03D8-915BF2137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683240" cy="4910456"/>
              </a:xfrm>
              <a:blipFill>
                <a:blip r:embed="rId2"/>
                <a:stretch>
                  <a:fillRect l="-628" t="-7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44C61-CEC7-4ADB-96CE-86835C0E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26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2481-78E2-FBEF-8C6D-3DAC2124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789F1-EF7B-95FB-FA2B-16CF2F12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2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(3/6)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B315DE2-597A-1F74-7565-05452273E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68324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Edge Device </a:t>
                </a: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배포 성능 평가</a:t>
                </a: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같은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가지 데이터셋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MMLU(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상식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ai2_arc(ARC)(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추론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Hellaswag(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상식적 추론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TruthfulQA(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신뢰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GSM8K(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수학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LLMs (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양자화된 모델들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Q5, Q4, Q3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가지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Tokens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설정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128, 256, 512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벤치마킹 항목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TTFT(s), Prefill TPS, Decode TPS, Max Memory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B315DE2-597A-1F74-7565-05452273E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683240" cy="4879975"/>
              </a:xfrm>
              <a:blipFill>
                <a:blip r:embed="rId2"/>
                <a:stretch>
                  <a:fillRect l="-628" t="-7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65578-F77E-CDBE-A631-5E3AAB3E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02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C3E1-7858-5947-EBF1-F07C8CC8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0B59B-6F5E-7381-4614-ECA945E4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2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(4/6)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5EE3D-9AF7-31C4-0B61-B4851240F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83240" cy="48799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소규모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 측정 결과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01EEF5-7B03-0773-E30F-E30A2A7CE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47" y="2367280"/>
            <a:ext cx="8688905" cy="32173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15A9C9-5DCB-6471-0B56-403A31B0E56B}"/>
              </a:ext>
            </a:extLst>
          </p:cNvPr>
          <p:cNvSpPr txBox="1"/>
          <p:nvPr/>
        </p:nvSpPr>
        <p:spPr>
          <a:xfrm>
            <a:off x="3867872" y="5637304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TTFT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63D8-222B-C204-51C2-A25DA4730646}"/>
              </a:ext>
            </a:extLst>
          </p:cNvPr>
          <p:cNvSpPr txBox="1"/>
          <p:nvPr/>
        </p:nvSpPr>
        <p:spPr>
          <a:xfrm>
            <a:off x="6677660" y="5941517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소규모 진행 후 </a:t>
            </a:r>
            <a:r>
              <a:rPr lang="ko-KR" altLang="en-US" sz="1600" b="1"/>
              <a:t>모델을 </a:t>
            </a:r>
            <a:r>
              <a:rPr lang="en-US" altLang="ko-KR" sz="1600" b="1" dirty="0"/>
              <a:t>Gemma3</a:t>
            </a:r>
            <a:r>
              <a:rPr lang="ko-KR" altLang="en-US" sz="1600" b="1" dirty="0"/>
              <a:t>로 변경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FD7325-93F9-C86F-7D06-E891CFA3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690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C9C2-1B35-1C64-2797-B453F065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931F2-9164-E077-9FAF-89CCB909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2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(5/6)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D3134-0642-0403-62F3-28C61A581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83240" cy="48799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소규모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 측정 결과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42D09D-C0D3-3E46-06A1-7B5673DAE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80" y="2159865"/>
            <a:ext cx="7101840" cy="4030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9EF1A-D260-CCC1-B3CA-2CA60F9517A6}"/>
              </a:ext>
            </a:extLst>
          </p:cNvPr>
          <p:cNvSpPr txBox="1"/>
          <p:nvPr/>
        </p:nvSpPr>
        <p:spPr>
          <a:xfrm>
            <a:off x="3867873" y="6323598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TPS</a:t>
            </a:r>
            <a:endParaRPr lang="ko-KR" altLang="en-US" sz="1600" b="1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2B81E9D-D4DE-515C-99F0-5FBF2F52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5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96A6-D04C-DC68-75FB-BC1FED93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60752-AC1F-6331-CC98-437CE521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2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(6/6)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DF038-D6D1-BDEE-18AA-D4FDE0B1C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83240" cy="48799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소규모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 측정 결과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5B6D9F-BE66-F9E8-0B50-DF3F480C7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94" y="2289491"/>
            <a:ext cx="6982812" cy="3952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F9E751-24A4-5F41-478C-7EB7AE5CC839}"/>
              </a:ext>
            </a:extLst>
          </p:cNvPr>
          <p:cNvSpPr txBox="1"/>
          <p:nvPr/>
        </p:nvSpPr>
        <p:spPr>
          <a:xfrm>
            <a:off x="3867873" y="6323598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Max Peak Memory</a:t>
            </a:r>
            <a:endParaRPr lang="ko-KR" altLang="en-US" sz="1600" b="1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EE9E72-B736-DA87-3AB5-4265D4A1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20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1AF1-4C7A-5CA9-6980-CA088A4E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492CB-E318-FD04-5C29-1F3545FF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하수 농도와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검색량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진행사항 보고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B15F88-DACB-E179-BE7C-66F434CF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19D5-2948-9F62-635E-B4DF8E61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2B417-70FD-9EBF-8FCD-BE43022F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하수 기반 감염병 감시 데이터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(1/2)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29F0C8-5A59-8B43-DC93-AEF6B6969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ko-KR" sz="2000" b="1" dirty="0"/>
              <a:t>하수 기반 감염병 감시 데이터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확보</a:t>
            </a:r>
            <a:endParaRPr lang="en-US" altLang="ko-KR" sz="2400" b="1" dirty="0"/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2026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시기별 하수처리장 개수 차이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~ 2025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~ 2025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(43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103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(44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~ 2026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~ 26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감시 시작 날짜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Influenza, Norovirus: 2024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년도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부터 시작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55094-A121-9563-0DBF-1E2130F8FD82}"/>
              </a:ext>
            </a:extLst>
          </p:cNvPr>
          <p:cNvSpPr txBox="1"/>
          <p:nvPr/>
        </p:nvSpPr>
        <p:spPr>
          <a:xfrm>
            <a:off x="7200900" y="3867572"/>
            <a:ext cx="1619250" cy="119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+ 15</a:t>
            </a:r>
            <a:r>
              <a:rPr lang="ko-KR" altLang="en-US" sz="1600" b="1" dirty="0"/>
              <a:t>개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+ 4</a:t>
            </a:r>
            <a:r>
              <a:rPr lang="ko-KR" altLang="en-US" sz="1600" b="1" dirty="0"/>
              <a:t>개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+ 8</a:t>
            </a:r>
            <a:r>
              <a:rPr lang="ko-KR" altLang="en-US" sz="1600" b="1" dirty="0"/>
              <a:t>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FA373A-07E6-4F24-76FF-31BFE7BA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630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2934F-0347-0A02-5499-67932AF1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하수 기반 감염병 감시 데이터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(2/2)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A2076-F7C3-7C9A-60C3-5B22FB171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/>
              <a:t>데이터 일관성에 대해</a:t>
            </a:r>
            <a:endParaRPr lang="en-US" altLang="ko-KR" sz="24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6BB06B-8E05-8144-C1F8-8917EDEFD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2438"/>
            <a:ext cx="5143500" cy="603053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8EE2A0-10DF-3763-F271-D2ED2B9EA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99" y="362540"/>
            <a:ext cx="5181359" cy="60804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DCC498-4917-DA7B-2231-88E2EEE1FEC2}"/>
              </a:ext>
            </a:extLst>
          </p:cNvPr>
          <p:cNvSpPr txBox="1"/>
          <p:nvPr/>
        </p:nvSpPr>
        <p:spPr>
          <a:xfrm>
            <a:off x="1181823" y="6492875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2024</a:t>
            </a:r>
            <a:r>
              <a:rPr lang="ko-KR" altLang="en-US" sz="1600" b="1" dirty="0"/>
              <a:t>년도 </a:t>
            </a:r>
            <a:r>
              <a:rPr lang="en-US" altLang="ko-KR" sz="1600" b="1" dirty="0"/>
              <a:t>36</a:t>
            </a:r>
            <a:r>
              <a:rPr lang="ko-KR" altLang="en-US" sz="1600" b="1" dirty="0"/>
              <a:t>주차 </a:t>
            </a:r>
            <a:r>
              <a:rPr lang="en-US" altLang="ko-KR" sz="1600" b="1" dirty="0"/>
              <a:t>~ 2025</a:t>
            </a:r>
            <a:r>
              <a:rPr lang="ko-KR" altLang="en-US" sz="1600" b="1" dirty="0"/>
              <a:t>년도 </a:t>
            </a:r>
            <a:r>
              <a:rPr lang="en-US" altLang="ko-KR" sz="1600" b="1" dirty="0"/>
              <a:t>9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C5F25C-4FCB-8D34-8439-EA3E5DBE5AB8}"/>
              </a:ext>
            </a:extLst>
          </p:cNvPr>
          <p:cNvSpPr txBox="1"/>
          <p:nvPr/>
        </p:nvSpPr>
        <p:spPr>
          <a:xfrm>
            <a:off x="6344251" y="6488668"/>
            <a:ext cx="445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2024</a:t>
            </a:r>
            <a:r>
              <a:rPr lang="ko-KR" altLang="en-US" sz="1600" b="1" dirty="0"/>
              <a:t>년도 </a:t>
            </a:r>
            <a:r>
              <a:rPr lang="en-US" altLang="ko-KR" sz="1600" b="1" dirty="0"/>
              <a:t>52</a:t>
            </a:r>
            <a:r>
              <a:rPr lang="ko-KR" altLang="en-US" sz="1600" b="1" dirty="0"/>
              <a:t>주차 </a:t>
            </a:r>
            <a:r>
              <a:rPr lang="en-US" altLang="ko-KR" sz="1600" b="1" dirty="0"/>
              <a:t>~ 2025</a:t>
            </a:r>
            <a:r>
              <a:rPr lang="ko-KR" altLang="en-US" sz="1600" b="1" dirty="0"/>
              <a:t>년도 </a:t>
            </a:r>
            <a:r>
              <a:rPr lang="en-US" altLang="ko-KR" sz="1600" b="1" dirty="0"/>
              <a:t>25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6A389E-6A7B-D262-13DB-A8AC4106561D}"/>
              </a:ext>
            </a:extLst>
          </p:cNvPr>
          <p:cNvSpPr/>
          <p:nvPr/>
        </p:nvSpPr>
        <p:spPr>
          <a:xfrm>
            <a:off x="4058011" y="362540"/>
            <a:ext cx="1676039" cy="5581060"/>
          </a:xfrm>
          <a:prstGeom prst="rect">
            <a:avLst/>
          </a:prstGeom>
          <a:solidFill>
            <a:schemeClr val="accent6">
              <a:lumMod val="20000"/>
              <a:lumOff val="80000"/>
              <a:alpha val="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BDDD6C-CDA8-8631-D25B-7B4EB19AF796}"/>
              </a:ext>
            </a:extLst>
          </p:cNvPr>
          <p:cNvSpPr/>
          <p:nvPr/>
        </p:nvSpPr>
        <p:spPr>
          <a:xfrm>
            <a:off x="6515861" y="362540"/>
            <a:ext cx="1676039" cy="5581060"/>
          </a:xfrm>
          <a:prstGeom prst="rect">
            <a:avLst/>
          </a:prstGeom>
          <a:solidFill>
            <a:schemeClr val="accent6">
              <a:lumMod val="20000"/>
              <a:lumOff val="80000"/>
              <a:alpha val="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7DC7C196-88A8-BDD8-3AC6-4BB95A32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6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F26D-58AD-39FF-EEB2-E5C44A8C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A21AB-3ABB-9019-F605-91E2046D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감염병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검색량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수집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(1/2)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943FE00-9E29-ABD4-CD4A-27518A3361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수집해야 할 기간</a:t>
                </a: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2024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년도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주차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~ 2026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년도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26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주차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주차별 </a:t>
                </a:r>
                <a:r>
                  <a:rPr lang="ko-KR" alt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검색량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문제</a:t>
                </a: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주차별이 아닌 월별 데이터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최근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년만 제공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해결방법</a:t>
                </a:r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1: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월별 데이터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2: </a:t>
                </a:r>
                <a:r>
                  <a:rPr lang="ko-KR" alt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네이터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데이터랩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데이터에 의존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943FE00-9E29-ABD4-CD4A-27518A3361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8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07D8F4AA-0865-7329-2EF9-4DE33D4F23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33" r="1394"/>
          <a:stretch>
            <a:fillRect/>
          </a:stretch>
        </p:blipFill>
        <p:spPr>
          <a:xfrm>
            <a:off x="6553200" y="144575"/>
            <a:ext cx="5064760" cy="37132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54B90F-2D13-18A5-6603-C5352EF6E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986" y="3554814"/>
            <a:ext cx="4859188" cy="330318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CB9C059-62FE-2A0D-D229-8D26C14093D2}"/>
              </a:ext>
            </a:extLst>
          </p:cNvPr>
          <p:cNvSpPr/>
          <p:nvPr/>
        </p:nvSpPr>
        <p:spPr>
          <a:xfrm>
            <a:off x="6953611" y="1235673"/>
            <a:ext cx="4561563" cy="2076345"/>
          </a:xfrm>
          <a:prstGeom prst="rect">
            <a:avLst/>
          </a:prstGeom>
          <a:solidFill>
            <a:schemeClr val="accent6">
              <a:lumMod val="20000"/>
              <a:lumOff val="80000"/>
              <a:alpha val="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64A82D-3549-1ABC-67CF-05180DAA4EF8}"/>
              </a:ext>
            </a:extLst>
          </p:cNvPr>
          <p:cNvSpPr/>
          <p:nvPr/>
        </p:nvSpPr>
        <p:spPr>
          <a:xfrm>
            <a:off x="9175805" y="4235555"/>
            <a:ext cx="2280782" cy="2076345"/>
          </a:xfrm>
          <a:prstGeom prst="rect">
            <a:avLst/>
          </a:prstGeom>
          <a:solidFill>
            <a:schemeClr val="accent6">
              <a:lumMod val="20000"/>
              <a:lumOff val="80000"/>
              <a:alpha val="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00BA430B-1B68-5A53-3BCE-3E54B6BC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7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766E0-5E48-D4B9-C9A7-A14DB42B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B0DBA-A950-2BAE-278E-85E7DA50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감염병 </a:t>
            </a:r>
            <a:r>
              <a:rPr lang="ko-KR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검색량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수집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(2/2)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69C9C-74D1-2539-8C29-A739B357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연관 키워드에 관해서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연관성이 낮아 보임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단일 키워드를 사용하는 것이 적절하다고 판단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인플루엔자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노로바이러스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BB20B9-035D-C964-00AF-E06E9153B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39"/>
          <a:stretch>
            <a:fillRect/>
          </a:stretch>
        </p:blipFill>
        <p:spPr>
          <a:xfrm>
            <a:off x="6451600" y="1448657"/>
            <a:ext cx="1553233" cy="42317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37F0F9-4577-B1E4-8D60-4D4B6B90333D}"/>
              </a:ext>
            </a:extLst>
          </p:cNvPr>
          <p:cNvSpPr txBox="1"/>
          <p:nvPr/>
        </p:nvSpPr>
        <p:spPr>
          <a:xfrm>
            <a:off x="6511936" y="5838409"/>
            <a:ext cx="1432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코로나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E7005F3-D958-7359-34C3-7D0CD4AF5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188" y="1448656"/>
            <a:ext cx="1547873" cy="42317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B45061-472E-DFAE-00E8-C56AC778E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416" y="1448656"/>
            <a:ext cx="1561735" cy="42317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F43D49-4C93-BF3B-9D18-8659B84AE488}"/>
              </a:ext>
            </a:extLst>
          </p:cNvPr>
          <p:cNvSpPr txBox="1"/>
          <p:nvPr/>
        </p:nvSpPr>
        <p:spPr>
          <a:xfrm>
            <a:off x="7644617" y="1054100"/>
            <a:ext cx="3365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/>
              <a:t>네이버 광고주센터 </a:t>
            </a:r>
            <a:r>
              <a:rPr lang="ko-KR" altLang="en-US" sz="1800" b="1" dirty="0" err="1"/>
              <a:t>연관키워드</a:t>
            </a:r>
            <a:r>
              <a:rPr lang="ko-KR" altLang="en-US" sz="1800" b="1" dirty="0"/>
              <a:t>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08125-F615-F815-DA10-651702BA07B8}"/>
              </a:ext>
            </a:extLst>
          </p:cNvPr>
          <p:cNvSpPr txBox="1"/>
          <p:nvPr/>
        </p:nvSpPr>
        <p:spPr>
          <a:xfrm>
            <a:off x="8360844" y="5843962"/>
            <a:ext cx="1432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/>
              <a:t>인플루엔자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3FD5F-A95F-3457-5CD8-5B738785541B}"/>
              </a:ext>
            </a:extLst>
          </p:cNvPr>
          <p:cNvSpPr txBox="1"/>
          <p:nvPr/>
        </p:nvSpPr>
        <p:spPr>
          <a:xfrm>
            <a:off x="10209752" y="5843962"/>
            <a:ext cx="1432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/>
              <a:t>노로바이러스</a:t>
            </a:r>
            <a:endParaRPr lang="ko-KR" altLang="en-US" sz="1400" b="1" dirty="0"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2E015524-27D6-3324-0A34-10DC9A0C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039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46DB-5DC0-066F-EA40-EB483AF5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5C8D7-3CD6-6B57-43C4-755113B3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C33ABB7-735A-F44D-1B37-976289A93D7A}"/>
              </a:ext>
            </a:extLst>
          </p:cNvPr>
          <p:cNvSpPr/>
          <p:nvPr/>
        </p:nvSpPr>
        <p:spPr>
          <a:xfrm>
            <a:off x="2357120" y="2230120"/>
            <a:ext cx="680720" cy="6705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8EA4B14-B0AE-7333-E575-5FB442D67B0A}"/>
              </a:ext>
            </a:extLst>
          </p:cNvPr>
          <p:cNvSpPr/>
          <p:nvPr/>
        </p:nvSpPr>
        <p:spPr>
          <a:xfrm>
            <a:off x="461264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00A3C4-1EC0-8270-D517-61201F39DE5A}"/>
              </a:ext>
            </a:extLst>
          </p:cNvPr>
          <p:cNvSpPr/>
          <p:nvPr/>
        </p:nvSpPr>
        <p:spPr>
          <a:xfrm>
            <a:off x="686816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DDE6A0-9D01-D020-FA3F-136872FE49B7}"/>
              </a:ext>
            </a:extLst>
          </p:cNvPr>
          <p:cNvSpPr/>
          <p:nvPr/>
        </p:nvSpPr>
        <p:spPr>
          <a:xfrm>
            <a:off x="912368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B8BE9C-061C-5B49-2F3D-D96AABAF4E3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498600" y="2565400"/>
            <a:ext cx="858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C544DF7-8875-6FBE-37B7-995E7D5AA16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037840" y="256032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D34187-9166-A2D6-BE4B-5858ED3BB772}"/>
              </a:ext>
            </a:extLst>
          </p:cNvPr>
          <p:cNvCxnSpPr>
            <a:cxnSpLocks/>
          </p:cNvCxnSpPr>
          <p:nvPr/>
        </p:nvCxnSpPr>
        <p:spPr>
          <a:xfrm>
            <a:off x="5308600" y="255524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20289F-B70F-67CA-9D51-3672A5397A06}"/>
              </a:ext>
            </a:extLst>
          </p:cNvPr>
          <p:cNvCxnSpPr>
            <a:cxnSpLocks/>
          </p:cNvCxnSpPr>
          <p:nvPr/>
        </p:nvCxnSpPr>
        <p:spPr>
          <a:xfrm>
            <a:off x="7533640" y="256286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A8B9DED-D16A-DC89-67BD-939907AD0BCA}"/>
              </a:ext>
            </a:extLst>
          </p:cNvPr>
          <p:cNvCxnSpPr>
            <a:cxnSpLocks/>
          </p:cNvCxnSpPr>
          <p:nvPr/>
        </p:nvCxnSpPr>
        <p:spPr>
          <a:xfrm>
            <a:off x="9804400" y="2560320"/>
            <a:ext cx="985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24486-2719-E19A-824D-B25966A0DFD0}"/>
              </a:ext>
            </a:extLst>
          </p:cNvPr>
          <p:cNvSpPr txBox="1"/>
          <p:nvPr/>
        </p:nvSpPr>
        <p:spPr>
          <a:xfrm>
            <a:off x="1402079" y="3060960"/>
            <a:ext cx="2578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7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6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~7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10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(1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235CA-56F9-0638-AFBC-432BB1ED4710}"/>
              </a:ext>
            </a:extLst>
          </p:cNvPr>
          <p:cNvSpPr txBox="1"/>
          <p:nvPr/>
        </p:nvSpPr>
        <p:spPr>
          <a:xfrm>
            <a:off x="384655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4A446D5-7BC4-5ABB-49B1-2C234E30F78B}"/>
              </a:ext>
            </a:extLst>
          </p:cNvPr>
          <p:cNvSpPr/>
          <p:nvPr/>
        </p:nvSpPr>
        <p:spPr>
          <a:xfrm>
            <a:off x="686816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1421F58-F052-7617-F8E8-554A01A8B392}"/>
              </a:ext>
            </a:extLst>
          </p:cNvPr>
          <p:cNvSpPr/>
          <p:nvPr/>
        </p:nvSpPr>
        <p:spPr>
          <a:xfrm>
            <a:off x="912368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5888C5-AD3F-88FE-D79D-A87A74679EA4}"/>
              </a:ext>
            </a:extLst>
          </p:cNvPr>
          <p:cNvCxnSpPr>
            <a:cxnSpLocks/>
          </p:cNvCxnSpPr>
          <p:nvPr/>
        </p:nvCxnSpPr>
        <p:spPr>
          <a:xfrm>
            <a:off x="7533640" y="497078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0388D61-738E-52B0-9C65-98D3328652E6}"/>
              </a:ext>
            </a:extLst>
          </p:cNvPr>
          <p:cNvCxnSpPr>
            <a:cxnSpLocks/>
          </p:cNvCxnSpPr>
          <p:nvPr/>
        </p:nvCxnSpPr>
        <p:spPr>
          <a:xfrm flipV="1">
            <a:off x="9804400" y="4963160"/>
            <a:ext cx="98552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4BC22B6-0D67-A875-C767-E2E4983018F2}"/>
              </a:ext>
            </a:extLst>
          </p:cNvPr>
          <p:cNvCxnSpPr>
            <a:cxnSpLocks/>
          </p:cNvCxnSpPr>
          <p:nvPr/>
        </p:nvCxnSpPr>
        <p:spPr>
          <a:xfrm>
            <a:off x="10789920" y="2562860"/>
            <a:ext cx="0" cy="24079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F02127-A9E4-AFB4-EF9C-ED969C2FC374}"/>
              </a:ext>
            </a:extLst>
          </p:cNvPr>
          <p:cNvSpPr txBox="1"/>
          <p:nvPr/>
        </p:nvSpPr>
        <p:spPr>
          <a:xfrm>
            <a:off x="6421120" y="305652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3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C415A-AEF9-23C5-ACFA-06F2ED144DA8}"/>
              </a:ext>
            </a:extLst>
          </p:cNvPr>
          <p:cNvSpPr txBox="1"/>
          <p:nvPr/>
        </p:nvSpPr>
        <p:spPr>
          <a:xfrm>
            <a:off x="835759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4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094DEA-26A4-2FFA-3D51-ECDF459D3272}"/>
              </a:ext>
            </a:extLst>
          </p:cNvPr>
          <p:cNvSpPr txBox="1"/>
          <p:nvPr/>
        </p:nvSpPr>
        <p:spPr>
          <a:xfrm>
            <a:off x="8357596" y="54568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(5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68923-56E4-6F84-AC23-809D8B77AB31}"/>
              </a:ext>
            </a:extLst>
          </p:cNvPr>
          <p:cNvSpPr txBox="1"/>
          <p:nvPr/>
        </p:nvSpPr>
        <p:spPr>
          <a:xfrm>
            <a:off x="6421120" y="546444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장기인턴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71A6BBA-BF8B-0495-F4D0-6E89464894DB}"/>
              </a:ext>
            </a:extLst>
          </p:cNvPr>
          <p:cNvCxnSpPr/>
          <p:nvPr/>
        </p:nvCxnSpPr>
        <p:spPr>
          <a:xfrm flipH="1">
            <a:off x="5409886" y="4970780"/>
            <a:ext cx="14735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B1A412-72C5-DA9A-02ED-07632164B263}"/>
              </a:ext>
            </a:extLst>
          </p:cNvPr>
          <p:cNvSpPr txBox="1"/>
          <p:nvPr/>
        </p:nvSpPr>
        <p:spPr>
          <a:xfrm>
            <a:off x="1565933" y="3458487"/>
            <a:ext cx="22507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연구 방법 결정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데이터 수집 마무리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+ 3</a:t>
            </a:r>
            <a:r>
              <a:rPr lang="ko-KR" altLang="en-US" sz="1600" b="1" dirty="0"/>
              <a:t>주 이동평균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코드 정리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02B23-450E-D2F8-EA88-BA5C138A1691}"/>
              </a:ext>
            </a:extLst>
          </p:cNvPr>
          <p:cNvSpPr txBox="1"/>
          <p:nvPr/>
        </p:nvSpPr>
        <p:spPr>
          <a:xfrm>
            <a:off x="3893256" y="3447257"/>
            <a:ext cx="20267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구하기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결과값 기입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중간 점검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그래프 그리기</a:t>
            </a:r>
            <a:endParaRPr lang="en-US" altLang="ko-KR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40CE45-690A-12CA-0C46-A2328C557FAA}"/>
              </a:ext>
            </a:extLst>
          </p:cNvPr>
          <p:cNvSpPr txBox="1"/>
          <p:nvPr/>
        </p:nvSpPr>
        <p:spPr>
          <a:xfrm>
            <a:off x="6249842" y="3420108"/>
            <a:ext cx="1776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0F4C1F-D091-A1DE-8A12-CADB85F7E0D4}"/>
              </a:ext>
            </a:extLst>
          </p:cNvPr>
          <p:cNvSpPr txBox="1"/>
          <p:nvPr/>
        </p:nvSpPr>
        <p:spPr>
          <a:xfrm>
            <a:off x="8630841" y="3458487"/>
            <a:ext cx="1776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4FD642-B7B5-F009-FE77-0917671A4629}"/>
              </a:ext>
            </a:extLst>
          </p:cNvPr>
          <p:cNvSpPr txBox="1"/>
          <p:nvPr/>
        </p:nvSpPr>
        <p:spPr>
          <a:xfrm>
            <a:off x="8575863" y="5797183"/>
            <a:ext cx="1776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마무리</a:t>
            </a:r>
            <a:endParaRPr lang="en-US" altLang="ko-KR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E8D4EB-ECE5-0CEA-35D8-F4498D7A9DF1}"/>
              </a:ext>
            </a:extLst>
          </p:cNvPr>
          <p:cNvSpPr txBox="1"/>
          <p:nvPr/>
        </p:nvSpPr>
        <p:spPr>
          <a:xfrm>
            <a:off x="6211668" y="5802262"/>
            <a:ext cx="1852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다음 연구 진행</a:t>
            </a:r>
            <a:endParaRPr lang="en-US" altLang="ko-KR" sz="1600" b="1" dirty="0"/>
          </a:p>
        </p:txBody>
      </p: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F251A3CD-8941-A08C-D4B2-6B2247C2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16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859</Words>
  <Application>Microsoft Office PowerPoint</Application>
  <PresentationFormat>와이드스크린</PresentationFormat>
  <Paragraphs>190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Cambria Math</vt:lpstr>
      <vt:lpstr>Times New Roman</vt:lpstr>
      <vt:lpstr>Office 테마</vt:lpstr>
      <vt:lpstr>자대에서 진행한 연구 소개 &amp; 하수 농도와 검색량 연구 진행사항 보고</vt:lpstr>
      <vt:lpstr>Outline</vt:lpstr>
      <vt:lpstr>1. 자대에서 진행한 연구 소개</vt:lpstr>
      <vt:lpstr>Research 1(1/4)</vt:lpstr>
      <vt:lpstr>Research 1(2/4)</vt:lpstr>
      <vt:lpstr>Research 1(3/4)</vt:lpstr>
      <vt:lpstr>Research 1(4/4)</vt:lpstr>
      <vt:lpstr>Research 2(1/6)</vt:lpstr>
      <vt:lpstr>Research 2(2/6)</vt:lpstr>
      <vt:lpstr>Research 2(3/6)</vt:lpstr>
      <vt:lpstr>Research 2(4/6)</vt:lpstr>
      <vt:lpstr>Research 2(5/6)</vt:lpstr>
      <vt:lpstr>Research 2(6/6)</vt:lpstr>
      <vt:lpstr>2. 하수 농도와 검색량 진행사항 보고</vt:lpstr>
      <vt:lpstr>하수 기반 감염병 감시 데이터(1/2)</vt:lpstr>
      <vt:lpstr>하수 기반 감염병 감시 데이터(2/2)</vt:lpstr>
      <vt:lpstr>감염병 검색량 수집(1/2)</vt:lpstr>
      <vt:lpstr>감염병 검색량 수집(2/2)</vt:lpstr>
      <vt:lpstr>앞으로의 진행 단계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10</cp:revision>
  <dcterms:created xsi:type="dcterms:W3CDTF">2026-07-03T09:13:49Z</dcterms:created>
  <dcterms:modified xsi:type="dcterms:W3CDTF">2026-07-06T04:56:56Z</dcterms:modified>
</cp:coreProperties>
</file>