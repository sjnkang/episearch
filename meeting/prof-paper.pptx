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6" r:id="rId9"/>
    <p:sldId id="270" r:id="rId10"/>
    <p:sldId id="267" r:id="rId11"/>
    <p:sldId id="271" r:id="rId12"/>
    <p:sldId id="264" r:id="rId13"/>
    <p:sldId id="268" r:id="rId14"/>
    <p:sldId id="272" r:id="rId15"/>
    <p:sldId id="273" r:id="rId16"/>
    <p:sldId id="269" r:id="rId17"/>
    <p:sldId id="277" r:id="rId18"/>
    <p:sldId id="278" r:id="rId19"/>
    <p:sldId id="279" r:id="rId20"/>
    <p:sldId id="281" r:id="rId21"/>
    <p:sldId id="282" r:id="rId22"/>
    <p:sldId id="283" r:id="rId23"/>
    <p:sldId id="284" r:id="rId24"/>
    <p:sldId id="265" r:id="rId25"/>
    <p:sldId id="285" r:id="rId26"/>
    <p:sldId id="286" r:id="rId27"/>
    <p:sldId id="287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1D144-D1DD-4D49-BF3F-DCA7D4E44200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0FB031-2D6F-4788-B94E-A4655B8374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93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FB031-2D6F-4788-B94E-A4655B83742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09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9038-0793-8F74-794A-6F5635A3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CF2D33-7706-E32B-1063-4F139A229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D51B4-9643-0A28-03A5-150FD256D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D83144-BBEA-0106-01A7-D7B492D54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0FB031-2D6F-4788-B94E-A4655B83742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0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45F84-D2C2-34AE-1788-EC436447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F9F375-48F1-FE28-784A-6FCC291AE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F0CC0-001A-14A7-6324-532EC5F4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0B7E23-57BF-6EBA-D2EB-1B6A44C9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BE40B-3E89-8422-669F-DF62388F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6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1FFC0-E49F-7E7F-CF25-E58F4E66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AA0F7-40C5-AD4A-1FD5-5D549DE3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F0930-197E-29FC-270E-CF24766F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BB57D-B10C-46CA-328A-B9872129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B2197-B0FA-B36E-518F-97EAECE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34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B26D2-C413-F143-4D17-8211DF75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87628-4D9A-2DDE-5D16-B5B81168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44C5C-6C5C-4ABF-A312-260F8465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2791E-B025-C440-C4F6-344A6912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08DD18-EFD2-2385-23AF-4621CB5C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67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5DD99-A563-FB28-7E1D-FA66B00F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79706-3B92-903C-E395-6F63CF359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14C0C-7A64-162E-F121-0C80E6F58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B6BBBE-1A2A-8957-9924-637EA003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38D024-CB7C-1112-756A-C20CCC3B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1EAFBA-54FC-25E9-1943-F5287145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510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1926B-DD64-7FDC-F750-8C2F97C8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E0122-7439-0800-7B13-2E0883637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AFE861-4D9B-C9FD-775F-79EA5768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72DAFB-DC1B-FB32-293F-4871289E9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711B1F-14E7-D7A7-6D70-0586A62B2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40E547-7654-2949-5530-7B81ED59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A13D9-1426-FA4D-112F-A31F16FC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034C4A-31AB-F84D-E3E0-117A8F0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219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80E4-868C-262A-39A8-DE9650A5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F4AB2E-3305-1380-F677-590CFBDD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71BCC1-B35B-D189-DE6A-AB10A59A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C1DA15-D17F-D0BF-ECFA-7E908109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66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D367F8-832A-3007-752D-F4B8F83A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39270C-D595-6572-AFD1-F6F1782D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B0BBA2-5A3A-262B-EAB5-9F9ED81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299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00BBF-12BD-44E5-C736-36EA2E85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6AA31-6D2C-84B3-3039-6C5DF28B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866CF4-D43C-2D34-9F37-8B1499CBB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D0C3FA-D49C-79D0-E493-42B67F04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7BA38D-8C8D-D89B-680C-F92CE5C4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A96D6F-84F7-D98F-5AF5-7F469263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52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15C81-EBEB-77C7-88F6-29F8497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556E9D-79B7-6CB7-94EA-54C7645E8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FA12C8-8F53-C5F9-B6FB-DB7B13EC6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3591EB-7429-CB56-1F4B-9ED5ED8C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B146CC-54B1-B4C6-A787-D914711C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E6FDFC-ECB0-FBAB-0B4E-B9E42324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30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C1536-6533-D7CD-0029-A38079BC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BD17FD-6D67-275A-0940-9E8918D7C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1BFC7-F9D2-BC32-03F3-17F68AB0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0B777-E5AE-CFFB-E970-2050A227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921C1-E798-3C6C-E7B8-780C1D7D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82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E3D2FD-96B5-0225-E7AF-80BF59FDE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99C781-6047-B0A4-E70C-A4647C737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AB73A-F446-B91C-B241-CAAFAA36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EFAF7-F1CF-FA6A-5E40-4FB9724E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C9220-79E1-8B0B-AF60-44CE3066F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31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B9173F-8131-ADFD-16A9-0BB300B0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230DC0-7498-C025-011B-3AE856818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D95CB-74EB-8E77-C9F4-9A1FA24EB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B245E-2E33-4E28-8664-108F80EABA14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D9330D-3812-4D1F-F679-70B2EF05E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FFC3E1-DA5A-737C-2CB4-79432A1B0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DEF01-8DD8-4737-90E0-414996F89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97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24836"/>
            <a:ext cx="2876150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44A2F-30DC-2152-6148-128C07114E99}"/>
              </a:ext>
            </a:extLst>
          </p:cNvPr>
          <p:cNvSpPr txBox="1"/>
          <p:nvPr/>
        </p:nvSpPr>
        <p:spPr>
          <a:xfrm>
            <a:off x="604015" y="3540327"/>
            <a:ext cx="9378185" cy="456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Seongchan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Kim*,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Hyojin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Haeng-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Lee, 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Insung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Ahn*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304925"/>
            <a:ext cx="10159235" cy="2012749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Mining Spatiotemporal Diffusion Patterns of</a:t>
            </a:r>
            <a:b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Multi-Pathogens from Wastewater:</a:t>
            </a:r>
            <a:b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Multi-Scalar Spatial Autocorrelation Study</a:t>
            </a:r>
            <a:endParaRPr lang="ko-KR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3545071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2026. 6.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591306"/>
            <a:ext cx="2876150" cy="45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155F6-1167-4662-3D27-81021214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4714B-0B53-EF11-8481-F213CBB5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5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2934F-0347-0A02-5499-67932AF1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A2076-F7C3-7C9A-60C3-5B22FB171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Wastewater-Based Epidemiology (WBE)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crucial tool for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community infection levels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concentrations in wastewater provide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reflection of infection levels at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population level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Major Pathogens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(SARS-CoV-2)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infectious disease that caused a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pandemic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respiratory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illness.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representative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waterborne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foodborne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pathogen transmitted via the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fecal-oral route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67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3D668-4A67-EF7C-4F52-5AE6B018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Studies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369BB-7EA8-1971-F470-5F3AB017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Studies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occurrence trends of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pathogens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metropolitan or industrial areas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set of viruses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peak seasons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systemic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correlation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surveillance data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pathogens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17 provinces in South Korea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degree of epidemic synchronization within the Korean peninsula is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allocation of national quarantine resources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tailored response strategies for local governments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824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DE7B-CD6A-8D02-4309-CDE26CB1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C7F65-DDD2-3326-176B-31B561605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Method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39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21FFB-58DA-A895-B474-622EC6FC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 &amp; Contribution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198D9-66D3-B16E-61A6-053AD574B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a comprehensive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nationwide dataset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Two-fold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temporal alignment of outbreaks across the country.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elucidate the geographical diffusion mechanisms unique to each pathogen.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multi-scalar approach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study validates how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 surveillance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reflects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spatiotemporal dynamics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diverse infectious diseases, providing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empirical basis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pathogen-specific public health interventions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28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520C5-BB03-6216-2809-8F60913A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135B34-4743-E0A5-FCE0-F922A668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measures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relationship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viral loads across 17 provinces, identifying whether surges occur 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national phenomena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regional fluctuations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irrespective of geographical distance.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 this study were obtained from the 2026 Week 10 Weekly Report of the KOWAS Project.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surveillance materials reported by environmental research institutes in 17 provinces in Korea from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37, 2025 to Week 10, 2026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the variations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laboratory equipment and wastewater treatment plant (WWTP) environments across regions,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viral concentration data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extracted from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3-week moving average graphs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altLang="ko-K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23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E0649-966C-9D28-992D-E6CF2EA2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8EC9-BB7E-979A-1CA7-8646F07E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D7732A-A5D7-CFBB-5434-AC4066C5F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precision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 manual transcription errors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employed Advanced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powered by a multimodal large language model (Google Gemini), which allowed for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digitization of the graphical data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mitigate data asymmetry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log-scale transformation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performed.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Data Preprocessing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analysis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conducted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associations in viral concentrations between regions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statistical approach is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filtering out noise caused by environmental factors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—such 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deviation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inflow fluctuations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rate variances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derive meaningful spatiotemporal patterns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625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FE090-0522-4482-F8E8-73C4FFC1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(1/2)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A250EC-5961-93DC-CA0B-C99EAF421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Pearson correlation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captures macro-level synchronization, it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ignores explicit geographical relationships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elucidate localized diffusion mechanisms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conducted a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micro-level spatial autocorrelation analysis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Moran’s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ko-KR" alt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Indicators of Spatial Association (LISA)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incorporating a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weight matrix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based on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provincial adjacency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this approach determines whether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pathogen clusters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localized contiguous spread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spatially random distribution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identifying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specific periods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geographical clustering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versus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nationwide dispersion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Global Moran’s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altLang="ko-KR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widely used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evaluate the overall spatial clustering of a variable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across an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entire study area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quantifies the degree to which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viral concentrations at one location are similar to those at neighboring locations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ranging from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−1 (perfect dispersion) 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 (perfect clustering)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</a:t>
                </a:r>
                <a:r>
                  <a:rPr lang="en-US" altLang="ko-KR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indicating a spatially random distribution</a:t>
                </a:r>
                <a:r>
                  <a:rPr lang="en-US" altLang="ko-K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formula for the Global Moran’s I is as follows: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A250EC-5961-93DC-CA0B-C99EAF421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6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676BA-1138-24B2-2FD0-46B4C530B8F4}"/>
                  </a:ext>
                </a:extLst>
              </p:cNvPr>
              <p:cNvSpPr txBox="1"/>
              <p:nvPr/>
            </p:nvSpPr>
            <p:spPr>
              <a:xfrm>
                <a:off x="6743700" y="5931885"/>
                <a:ext cx="6096000" cy="745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j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ko-KR" altLang="en-US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𝓍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E676BA-1138-24B2-2FD0-46B4C530B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0" y="5931885"/>
                <a:ext cx="6096000" cy="745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8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FED8-3922-02F1-7BE2-9F78DD20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F8C56-4A18-62C0-80D9-AAFB1718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(2/2)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3C05F-477B-F8E3-5E88-ADD00B94D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utilized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dataset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 in Macro-level analysis.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the geographical relationships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regions, we constructed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spatial adjacency matrix based on the boundary borders of the 17 provinces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South Korea.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contiguity matrix, 1 or 0.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Indicators of Spatial Association (LISA)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further pinpoint specific regional clusters of infection.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allows for the identification of local spatial clusters and outliers by categorizing regions into four distinct quadrants: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High-High (HH) / Hotspots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regions represent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epidemic centers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local area and its neighboring regions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exhibit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viral concentrations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Low-Low (LL) / </a:t>
            </a:r>
            <a:r>
              <a:rPr lang="en-US" altLang="ko-K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Coldspots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clusters consist of 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areas where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local and surrounding regions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concentration levels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High-Low (HL) &amp; Low-High (LH) / Spatial Outliers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areas represent “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atypical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regions where the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concentration is significantly different from that of its neighbors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anomalies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diffusion pattern.</a:t>
            </a:r>
            <a:endParaRPr lang="en-US" altLang="ko-K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93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09CE-C49A-8010-7925-10D94C14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A15AC-09AF-2A91-8D87-825F81C0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Experimental Result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93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121F-6E14-3B71-A122-2D3122E4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AFEA2-BF86-9C2F-8187-0CD10216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(1/3)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0ACAA-DD7E-375F-2B95-DEEA050D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6600" cy="47986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Macro-regional Outbreaks of Norovirus and Influenza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 and Influenza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positive correlations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17 provinces, with a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verage correlation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of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0.829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0.865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 (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0.01 for all regional pairs).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 concentrations surged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 across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regions starting from Week 50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coinciding with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sharp drop in temperature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 also formed uniform waves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nationwide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winter season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(Week 52 – Week 5).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the outbreaks of these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pathogens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governed more by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factors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nationwide environmental changes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by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distance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57327A-CD23-AB60-F7E3-33F53030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240" y="1186503"/>
            <a:ext cx="3298371" cy="25320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BAAE5C-24BA-4725-F923-1F8D6FDA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561" y="3802723"/>
            <a:ext cx="3301050" cy="2532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D5DCFD-63F6-F2D8-65F3-6E7D5D074DCF}"/>
              </a:ext>
            </a:extLst>
          </p:cNvPr>
          <p:cNvSpPr txBox="1"/>
          <p:nvPr/>
        </p:nvSpPr>
        <p:spPr>
          <a:xfrm>
            <a:off x="6247786" y="6334779"/>
            <a:ext cx="581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Regional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nationwide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wastewater-based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(c)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67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ED84-D54B-10A0-B12A-B55A8D97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FEBB2-2CD8-66BF-6E61-DE7D25D8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(2/3)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EF053-32D9-DE5A-4BC9-F15321FEE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6600" cy="44938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Independence of COVID-19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correlation for COVID-19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 low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(avg.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0.782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inconsistently distributed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regions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levels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 and 0.7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0.05),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Seoul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lowest synchronization level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coefficients ranging from 0.11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 Jeonbuk) 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0.56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 Daegu)  (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≥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0.05).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trends in Seoul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trajectory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likely driven by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population density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mobility patterns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quarantine policies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E3794E-252A-1128-CD0C-8B2C353F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374" y="2452531"/>
            <a:ext cx="3300237" cy="2532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FAE715-5341-F9A5-6AAF-AAD20435C927}"/>
              </a:ext>
            </a:extLst>
          </p:cNvPr>
          <p:cNvSpPr txBox="1"/>
          <p:nvPr/>
        </p:nvSpPr>
        <p:spPr>
          <a:xfrm>
            <a:off x="6248192" y="4984587"/>
            <a:ext cx="581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Regional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nationwide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wastewater-based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virus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concentrations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COVID-19.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270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3C6F-AD6A-271D-A115-F4D34E11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2FF69-0F8A-1415-68AE-CF7411496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Macro-level Epidemic Synchronization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(3/3)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D017F9-0535-EEE6-EFF9-4FDD1421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reached its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peak in the autumn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(Weeks 37–40)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gradually declining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 and Influenza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remained at </a:t>
            </a:r>
            <a:r>
              <a:rPr lang="en-US" altLang="ko-K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nearundetectable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levels during autumn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explosively after Week 50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complementary epidemic cycles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discrepancy in outbreak timing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proves that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multi-pathogen integrated monitoring via wastewater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establishing a year-round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gapless infectious disease surveillance system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306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2361A-FFC0-69A5-295A-7CED3FBEA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429F6-EA64-FEF6-6203-0902321C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Covid19 (1/2)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0B186-A71D-B976-E81C-072C1DDF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1" cy="47245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Clustering of Viral Loads for Covid19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autocorrelation analysis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mean Moran’s I of 0.2180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consistent pattern of geographical clustering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ko-K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Clustering (Weeks 39–48)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autocorrelation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observed,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peaking at 0.3887 in Week 43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𝑍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1.96,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0.05).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confirms that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transmission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localized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heavily influenced by geographical proximity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D448CC-46C4-C370-92A9-198E5531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8" y="2435561"/>
            <a:ext cx="4632427" cy="19868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5E3411-7EA2-E23F-23A4-B79022888298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(a) COVID-19.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189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F7C0-1EAC-4689-95EB-6B711BBB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114F5-C64E-5961-F1C8-8DFF409C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Covid19 (2/2)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F4367-5501-A10B-DEDE-864C7FA4D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0" cy="56216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Homogenization (Week 49–Week 2)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Moran’s I sharply declined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reaching near-zero in Week 51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(−0.0001,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0.05).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loss of statistical significance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transition to a random spatial distribution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 a nationwide outbreak that neutralized localized clusters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Re-clustering (Weeks 6–7)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index rebounded above 0.3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emergence of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regional hotspots following the national peak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viral spread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transitioned from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concentrated regional clusters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national distribution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reverting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re-clustering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a clear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concentration-dispersion-reconcentration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553893-DF83-A3F0-84A6-CD36BF2E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8" y="2435561"/>
            <a:ext cx="4632427" cy="19868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849528-6ED2-802A-B54A-FEB0D0A74DB9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(a) COVID-19.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16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5197C-0A74-7116-ADA3-A175DA1B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7584D-EFCE-10B5-732A-9F058F01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Influenza (1/2)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C455A1-0620-EE9C-E02C-822249AE9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1" cy="487997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Autocorrelation Analysis of Influenza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spatial analysis of Influenza concentrations in wastewater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distinct lack of consistent geographical clustering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other pathogens.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Moran’s I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study period was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−0.0698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near-zero mean Z-score (0.0102)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predominantly random spatial distribution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Weak Correlation (Weeks 42–48)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stage of the outbreak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Moran’s I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fluctuated between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0.05 and 0.20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peaking at 0.2048 in Week 44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values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remained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non-significant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0.05),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suggesting only a marginal and unreliable tendency toward localized clustering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EFAC5-7A23-D4CC-E523-C1E5A5A6CB92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(b) Influenza.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2232FA-9647-0C4B-68C1-9AD3A61F3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7" y="2439181"/>
            <a:ext cx="4632427" cy="19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97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8EF2-E39A-AF39-7B5E-3E7E0508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56ED2-02B0-8003-EE89-635B7123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Influenza (2/2)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F71BA-1BA2-F15E-3FAA-5615701B7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897881" cy="47245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Dispersion and Randomness (Week 49–Week 10)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49 onwards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index frequently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 into negative values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its minimum at −0.2906 in Week 5.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negative autocorrelation indicates a spatial dispersion pattern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high-concentration areas were often adjacent to low-concentration areas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resembling a checkerboard distribution rather than regional clusters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ko-KR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fluctuating Moran’s I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that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 transmission did not follow a stepwise geographical expansion model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 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simultaneous nationwide occurrence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prevalence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driven by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independent of geographical proximity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loss of discernible spatial structure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4F5FB8-08FF-CE2E-1A82-6B3BC994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7" y="2439181"/>
            <a:ext cx="4632427" cy="19832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33F65D-19CC-D60F-51B9-4A4147F80651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(b) Influenza.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18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56F5-6A38-5B91-D91C-12F936842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A501D-EEB1-437F-32A1-8AC402A0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Norovirus (1/2)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2517E-A966-48DC-0DA8-D85875328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1" cy="47245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Autocorrelation Analysis of Norovirus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spatial analysis of Norovirus yielded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average Moran’s I of 0.0863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by a distinct transition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distribution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spatial clustering over time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Distribution Phase (Week 37–Week 2)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majority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early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periods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Moran’s I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fluctuated between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−0.096 and 0.191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ko-KR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-values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0.05) 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Z-scores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interval indicate that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prevalence was sporadically distributed without significant dependence on geographical proximity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15810-C4DD-6543-DCEB-0D64C8F3B5AE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(c) Norovirus.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59EF2D-C911-E11C-790A-81912D524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7" y="2435562"/>
            <a:ext cx="4632427" cy="198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91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3437-D1BB-2FA6-5A43-CF145580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A83BD-6D34-5A72-71AB-E9329E48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Norovirus (2/2)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B3614-C0AD-2EE8-469D-AFB132178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1" cy="47245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Clustering Phase (Week 3–Week 10)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sharp shift toward spatial clustering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observed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Week 3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𝐼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0.2640,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0.05).</a:t>
            </a:r>
          </a:p>
          <a:p>
            <a:pPr lvl="1">
              <a:lnSpc>
                <a:spcPct val="10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autocorrelation peaked in Week 7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Moran’s I reaching 0.3150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Z-score of 2.1327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significant trend suggests that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seasonal outbreak intensified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transmission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became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localized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forming </a:t>
            </a:r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regional clusters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summary,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exhibited a unique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“delayed clustering” pattern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widespread sporadic cases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eventually consolidated into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geographical hotspots during the peak of the outbreak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17463-F1AF-7E59-4930-2F54B66065D7}"/>
              </a:ext>
            </a:extLst>
          </p:cNvPr>
          <p:cNvSpPr txBox="1"/>
          <p:nvPr/>
        </p:nvSpPr>
        <p:spPr>
          <a:xfrm>
            <a:off x="6248191" y="4422438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Moran’s I analysis results for (c) Norovirus.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D646D0-AE8F-AC21-4899-EF8F8DD8F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77" y="2435562"/>
            <a:ext cx="4632427" cy="198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70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AB4B-CD22-E361-ACFE-BACBEBFF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92EAE-E13B-F2D3-F217-E754DC46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LISA Analysis of SARS-CoV-2 (1/2)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93604-C1BE-C6DB-30A5-022A7587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16600" cy="47245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LISA Analysis of SARS-CoV-2: Spatiotemporal Cluster Dynamics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 presents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Moran Scatterplots for SARS-CoV-2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representative time point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43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initial clustering peak), which corresponds to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phase of the full concentration–dispersion–reconcentration cycle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in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Moran’s I analysis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phase of the outbreak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Gyeongbuk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emerged 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sole statistically significant HH hotspot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𝑝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0.05), indicating that both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province itself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neighboring regions exhibited elevated viral concentrations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FDA5B-EB1F-B14B-1671-8CF3D247B906}"/>
              </a:ext>
            </a:extLst>
          </p:cNvPr>
          <p:cNvSpPr txBox="1"/>
          <p:nvPr/>
        </p:nvSpPr>
        <p:spPr>
          <a:xfrm>
            <a:off x="6298992" y="4567345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Week 43 (Initial Clustering)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727D21-87DB-EC47-A35A-7D540714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74" y="1943386"/>
            <a:ext cx="3300237" cy="2623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29F251-CF80-84A3-F8E4-44A35148D651}"/>
              </a:ext>
            </a:extLst>
          </p:cNvPr>
          <p:cNvSpPr txBox="1"/>
          <p:nvPr/>
        </p:nvSpPr>
        <p:spPr>
          <a:xfrm>
            <a:off x="6785298" y="4875122"/>
            <a:ext cx="48439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Scatterplots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SARS-CoV-2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Z-score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y-axis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denoted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High-High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Hotspot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LL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Low-Low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Coldspot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LH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Low-High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Divergent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Insignificant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grey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26996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12902-559A-06CC-BEAA-1B235EB2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1C9E0-FFBA-872D-4307-0EF89C4F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Micro-level Spatial Autocorrelation Analysis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LISA Analysis of SARS-CoV-2 (2/2)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559C1-84C5-CD68-AE76-F0B5B9514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623560" cy="47245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finding confirms that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early outbreak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geographically concentrated in the southeastern region of Korea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Seoul and Incheon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identified 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cold spots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suppressed viral loads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metropolitan core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surrounding areas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juxtaposition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southeastern hotspot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metropolitan cold spot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regionally bifurcated nature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epidemic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the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region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largely insulated from the initial wave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0B10F-0EBE-0CF7-49FE-5213898C7158}"/>
              </a:ext>
            </a:extLst>
          </p:cNvPr>
          <p:cNvSpPr txBox="1"/>
          <p:nvPr/>
        </p:nvSpPr>
        <p:spPr>
          <a:xfrm>
            <a:off x="6298992" y="4567345"/>
            <a:ext cx="5816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Week 43 (Initial Clustering)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8D9C21A-67B7-B27B-89B7-5205C432C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74" y="1943386"/>
            <a:ext cx="3300237" cy="2623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0B664E-CB72-4295-609E-9D4A940F88E0}"/>
              </a:ext>
            </a:extLst>
          </p:cNvPr>
          <p:cNvSpPr txBox="1"/>
          <p:nvPr/>
        </p:nvSpPr>
        <p:spPr>
          <a:xfrm>
            <a:off x="6785298" y="4875122"/>
            <a:ext cx="48439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Moran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Scatterplots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SARS-CoV-2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Z-score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y-axis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provinces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denoted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High-High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Hotspot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LL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Low-Low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Coldspot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LH 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Low-High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Divergent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Insignificant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grey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56268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6480-B1A8-2150-3E91-ECD45F1A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5A176-ADD2-F866-8237-439319D6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 and Future Work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854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A8F50-0ACD-B526-36F8-7D95D673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83D9C0-E84E-BE37-AF95-141AF8A8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demonstrated that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Wastewater-Based Epidemiology (WBE) coupled with spatial autocorrelation tracking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effectively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the spatiotemporal transmission dynamics of major pathogens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Influenza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Norovirus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exhibited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nationwide temporal synchronization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 by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climate shifts rather than geographic proximity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SARS-CoV-2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highly localized “concentration-dispersion-reconcentration” spatial cycle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Notably, the distinct,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non-synchronized trajectory of the Seoul metropolitan area highlights the importance of localized transmission variables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density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43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EB72-D6CC-AB8A-1E31-B6C77765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E9F1D-29F7-5DA6-3985-8F899B21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CAA81-A0AA-8C44-3299-600BD3A2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empirical findings highlight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necessity of differentiated public health responses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uniform nationwide protocols for seasonal climate-driven viruses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alongside localized precision monitoring for autonomous pathogens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dual-track strategy aligns closely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recently launched Korean government R&amp;D project,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“AI-based Early Warning System for Infectious Diseases Using Wastewater,”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mandates the automated detection of over 35 pathogens at more than 100 domestic wastewater treatment plants.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these multi-pathogen datasets, the project seeks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construct high-performance predictive engines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platform for monitoring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high-risk infectious diseases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this objective, future research will focus on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temporal observation window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non-aggregated raw concentration data to maximize real-time early warning capabilities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153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D574E-DD99-C217-1228-D5CA3BE62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77942-9E1E-7CF4-4B6C-09425AB0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51E2E6-4BE3-B184-101A-B04CB197E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Kyeong-Nam Kim, Jae-Seon Choi, Yeon-Su Lee, Dae-Gyo Kim, Jun-Young Park, Young-Min Kim, and Young-Sun Choi. 2024. A Study on COVID-19 Surveillance Using Wastewater-Based Epidemiology in Ulsan Area. Journal of Food Hygiene and Safety 39, 3 (2024), 260–265.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Kim, Viktorija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Mikolaityte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Sungpyo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Kim. 2023. Establishment of wastewater-based SARS-CoV-2 monitoring system over two years: Case studies in South Korea. Journal of Environmental Chemical Engineering 11 (2023), 110034. Issue 3.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Young-Taek Kim, Kwang-Sik Lee, Ho-Seop Lee, et al. 2024. Development of a wastewater based infectious disease surveillance research system in South Korea. Scientific Reports 14, 1 (2024), 24544.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Korea Disease Control and Prevention Agency. 2026. KOWAS (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KOrea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Wastewater Surveillance) Project. https://kowas.re.kr/ National wastewater-based infectious disease surveillance portal.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Korea Disease Control and Prevention Agency (KDCA). 2026. Weekly Wastewater Surveillance Report (Week 10, 2026). Weekly Report. KOWAS (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KOrea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Wastewater Surveillance). https://bit.ly/3L8Y1zW Accessed: 2026-05-12.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Yago Lorenzo-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Toja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2022. Wastewater-based epidemiology for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communitylevel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surveillance of SARS-CoV-2 and other respiratory viruses. Science of The Total Environment 806 (2022), 150675.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Amy Xiao et al. 2022. Comparison of SARS-CoV-2 and Influenza viral titers in wastewater during a winter surge. Water Research 210 (2022), 117977.</a:t>
            </a:r>
          </a:p>
        </p:txBody>
      </p:sp>
    </p:spTree>
    <p:extLst>
      <p:ext uri="{BB962C8B-B14F-4D97-AF65-F5344CB8AC3E}">
        <p14:creationId xmlns:p14="http://schemas.microsoft.com/office/powerpoint/2010/main" val="162992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2759</Words>
  <Application>Microsoft Office PowerPoint</Application>
  <PresentationFormat>와이드스크린</PresentationFormat>
  <Paragraphs>182</Paragraphs>
  <Slides>27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Cambria Math</vt:lpstr>
      <vt:lpstr>Times New Roman</vt:lpstr>
      <vt:lpstr>Office 테마</vt:lpstr>
      <vt:lpstr>Mining Spatiotemporal Diffusion Patterns of Multi-Pathogens from Wastewater: A Multi-Scalar Spatial Autocorrelation Study</vt:lpstr>
      <vt:lpstr>Outline</vt:lpstr>
      <vt:lpstr>1. Introduction</vt:lpstr>
      <vt:lpstr>Background</vt:lpstr>
      <vt:lpstr>Limitation of Existing Studies</vt:lpstr>
      <vt:lpstr>2. Method</vt:lpstr>
      <vt:lpstr>Method &amp; Contribution</vt:lpstr>
      <vt:lpstr>Macro-level Epidemic Synchronization Analysis (1/2)</vt:lpstr>
      <vt:lpstr>Macro-level Epidemic Synchronization Analysis (2/2)</vt:lpstr>
      <vt:lpstr>Micro-level Spatial Autocorrelation Analysis (1/2)</vt:lpstr>
      <vt:lpstr>Micro-level Spatial Autocorrelation Analysis (2/2)</vt:lpstr>
      <vt:lpstr>3. Experimental Result</vt:lpstr>
      <vt:lpstr>Macro-level Epidemic Synchronization Analysis (1/3)</vt:lpstr>
      <vt:lpstr>Macro-level Epidemic Synchronization Analysis (2/3)</vt:lpstr>
      <vt:lpstr>Macro-level Epidemic Synchronization Analysis (3/3)</vt:lpstr>
      <vt:lpstr>Micro-level Spatial Autocorrelation Analysis Covid19 (1/2)</vt:lpstr>
      <vt:lpstr>Micro-level Spatial Autocorrelation Analysis Covid19 (2/2)</vt:lpstr>
      <vt:lpstr>Micro-level Spatial Autocorrelation Analysis Influenza (1/2)</vt:lpstr>
      <vt:lpstr>Micro-level Spatial Autocorrelation Analysis Influenza (2/2)</vt:lpstr>
      <vt:lpstr>Micro-level Spatial Autocorrelation Analysis Norovirus (1/2)</vt:lpstr>
      <vt:lpstr>Micro-level Spatial Autocorrelation Analysis Norovirus (2/2)</vt:lpstr>
      <vt:lpstr>Micro-level Spatial Autocorrelation Analysis LISA Analysis of SARS-CoV-2 (1/2)</vt:lpstr>
      <vt:lpstr>Micro-level Spatial Autocorrelation Analysis LISA Analysis of SARS-CoV-2 (2/2)</vt:lpstr>
      <vt:lpstr>4. Conclusion and Future Work</vt:lpstr>
      <vt:lpstr>Conclusion</vt:lpstr>
      <vt:lpstr>Future Work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9</cp:revision>
  <dcterms:created xsi:type="dcterms:W3CDTF">2026-06-13T06:40:00Z</dcterms:created>
  <dcterms:modified xsi:type="dcterms:W3CDTF">2026-06-16T21:08:27Z</dcterms:modified>
</cp:coreProperties>
</file>