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80" r:id="rId4"/>
    <p:sldId id="285" r:id="rId5"/>
    <p:sldId id="277" r:id="rId6"/>
    <p:sldId id="291" r:id="rId7"/>
    <p:sldId id="281" r:id="rId8"/>
    <p:sldId id="287" r:id="rId9"/>
    <p:sldId id="292" r:id="rId10"/>
    <p:sldId id="288" r:id="rId11"/>
    <p:sldId id="282" r:id="rId12"/>
    <p:sldId id="289" r:id="rId13"/>
    <p:sldId id="293" r:id="rId14"/>
    <p:sldId id="279" r:id="rId15"/>
    <p:sldId id="283" r:id="rId16"/>
    <p:sldId id="294" r:id="rId17"/>
    <p:sldId id="295" r:id="rId18"/>
    <p:sldId id="297" r:id="rId19"/>
    <p:sldId id="296" r:id="rId20"/>
    <p:sldId id="298" r:id="rId21"/>
    <p:sldId id="284" r:id="rId22"/>
    <p:sldId id="290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5" autoAdjust="0"/>
    <p:restoredTop sz="93979" autoAdjust="0"/>
  </p:normalViewPr>
  <p:slideViewPr>
    <p:cSldViewPr snapToGrid="0">
      <p:cViewPr varScale="1">
        <p:scale>
          <a:sx n="85" d="100"/>
          <a:sy n="85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71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59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83" y="1427034"/>
            <a:ext cx="11104076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ko-KR" sz="4000" b="1" dirty="0">
                <a:latin typeface="Segoe UI Variable Small" pitchFamily="2" charset="0"/>
              </a:rPr>
              <a:t>하수기반 감염병 농도와</a:t>
            </a:r>
            <a:r>
              <a:rPr lang="en-US" altLang="ko-KR" sz="4000" b="1" dirty="0">
                <a:latin typeface="Segoe UI Variable Small" pitchFamily="2" charset="0"/>
              </a:rPr>
              <a:t> </a:t>
            </a:r>
            <a:r>
              <a:rPr lang="ko-KR" altLang="ko-KR" sz="4000" b="1" dirty="0" err="1">
                <a:latin typeface="Segoe UI Variable Small" pitchFamily="2" charset="0"/>
              </a:rPr>
              <a:t>검색량</a:t>
            </a:r>
            <a:r>
              <a:rPr lang="ko-KR" altLang="ko-KR" sz="4000" b="1" dirty="0">
                <a:latin typeface="Segoe UI Variable Small" pitchFamily="2" charset="0"/>
              </a:rPr>
              <a:t> 간</a:t>
            </a:r>
            <a:r>
              <a:rPr lang="ko-KR" altLang="en-US" sz="4000" b="1" dirty="0">
                <a:latin typeface="Segoe UI Variable Small" pitchFamily="2" charset="0"/>
              </a:rPr>
              <a:t>의</a:t>
            </a:r>
            <a:br>
              <a:rPr lang="en-US" altLang="ko-KR" sz="4000" b="1" dirty="0">
                <a:latin typeface="Segoe UI Variable Small" pitchFamily="2" charset="0"/>
              </a:rPr>
            </a:br>
            <a:r>
              <a:rPr lang="ko-KR" altLang="ko-KR" sz="4000" b="1" dirty="0">
                <a:latin typeface="Segoe UI Variable Small" pitchFamily="2" charset="0"/>
              </a:rPr>
              <a:t>시차 상관</a:t>
            </a:r>
            <a:r>
              <a:rPr lang="ko-KR" altLang="en-US" sz="4000" b="1" dirty="0">
                <a:latin typeface="Segoe UI Variable Small" pitchFamily="2" charset="0"/>
              </a:rPr>
              <a:t>분석을 이용한 감염병 조기 감시 연구</a:t>
            </a:r>
            <a:endParaRPr lang="ko-KR" altLang="en-US" sz="4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>
            <a:cxnSpLocks/>
          </p:cNvCxnSpPr>
          <p:nvPr/>
        </p:nvCxnSpPr>
        <p:spPr>
          <a:xfrm>
            <a:off x="772646" y="3667180"/>
            <a:ext cx="10586653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Segoe UI Variable Small" pitchFamily="2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Segoe UI Variable Small" pitchFamily="2" charset="0"/>
                <a:cs typeface="Times New Roman" panose="02020603050405020304" pitchFamily="18" charset="0"/>
              </a:rPr>
              <a:t>2-.</a:t>
            </a:r>
            <a:endParaRPr lang="ko-KR" altLang="en-US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772646" y="3667180"/>
            <a:ext cx="4203655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Seo-Jin Kang, </a:t>
            </a: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Seongchan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Kim*</a:t>
            </a:r>
            <a:endParaRPr lang="ko-KR" altLang="en-US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338A-92E1-21B0-3B85-BCC09BFA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903E-588E-D08E-DBA4-6372BCEB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035624-5359-6BF0-04F3-B95C881E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43C3-5507-5A3A-EF85-22B8107A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EFA7A-8914-EC36-C234-245A3049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Background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451BA-1943-E150-033F-2EDC43C8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87FD32A-92D0-0CCB-7BB1-C7962C3824EE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37CCF83-B1F1-62B3-97B5-F2882F00E977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C19520A-A14B-9E63-AA71-8267B430C29B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ko-KR" sz="2400" b="1" dirty="0" err="1">
                <a:latin typeface="Segoe UI Variable Small" pitchFamily="2" charset="0"/>
              </a:rPr>
              <a:t>Infectious</a:t>
            </a:r>
            <a:r>
              <a:rPr lang="ko-KR" altLang="ko-KR" sz="2400" b="1" dirty="0">
                <a:latin typeface="Segoe UI Variable Small" pitchFamily="2" charset="0"/>
              </a:rPr>
              <a:t> </a:t>
            </a:r>
            <a:r>
              <a:rPr lang="ko-KR" altLang="ko-KR" sz="2400" b="1" dirty="0" err="1">
                <a:latin typeface="Segoe UI Variable Small" pitchFamily="2" charset="0"/>
              </a:rPr>
              <a:t>Disease</a:t>
            </a:r>
            <a:r>
              <a:rPr lang="ko-KR" altLang="ko-KR" sz="2400" b="1" dirty="0">
                <a:latin typeface="Segoe UI Variable Small" pitchFamily="2" charset="0"/>
              </a:rPr>
              <a:t> </a:t>
            </a:r>
            <a:r>
              <a:rPr lang="ko-KR" altLang="ko-KR" sz="2400" b="1" dirty="0" err="1">
                <a:latin typeface="Segoe UI Variable Small" pitchFamily="2" charset="0"/>
              </a:rPr>
              <a:t>Surveillance</a:t>
            </a:r>
            <a:endParaRPr lang="en-US" altLang="ko-KR" sz="2400" b="1" dirty="0"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COVID-19, </a:t>
            </a:r>
            <a:r>
              <a:rPr lang="ko-KR" altLang="ko-KR" sz="2000" b="1" dirty="0" err="1">
                <a:latin typeface="Segoe UI Variable Small" pitchFamily="2" charset="0"/>
              </a:rPr>
              <a:t>Influenza</a:t>
            </a:r>
            <a:r>
              <a:rPr lang="ko-KR" altLang="ko-KR" sz="2000" b="1" dirty="0">
                <a:latin typeface="Segoe UI Variable Small" pitchFamily="2" charset="0"/>
              </a:rPr>
              <a:t>, </a:t>
            </a:r>
            <a:r>
              <a:rPr lang="ko-KR" altLang="ko-KR" sz="2000" b="1" dirty="0" err="1">
                <a:latin typeface="Segoe UI Variable Small" pitchFamily="2" charset="0"/>
              </a:rPr>
              <a:t>Norovirus</a:t>
            </a:r>
            <a:r>
              <a:rPr lang="ko-KR" altLang="ko-KR" sz="2000" b="1" dirty="0">
                <a:latin typeface="Segoe UI Variable Small" pitchFamily="2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</a:rPr>
              <a:t>등</a:t>
            </a:r>
            <a:r>
              <a:rPr lang="en-US" altLang="ko-KR" sz="2000" b="1" dirty="0">
                <a:latin typeface="Segoe UI Variable Small" pitchFamily="2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</a:rPr>
              <a:t>감염병에 대한</a:t>
            </a:r>
            <a:r>
              <a:rPr lang="ko-KR" altLang="ko-KR" sz="2000" b="1" dirty="0">
                <a:latin typeface="Segoe UI Variable Small" pitchFamily="2" charset="0"/>
              </a:rPr>
              <a:t> 지속적인 모니터링</a:t>
            </a:r>
            <a:endParaRPr lang="en-US" altLang="ko-KR" sz="2000" b="1" dirty="0"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신속하고 효과적인 대응을 위한 조기 탐지의 필요성</a:t>
            </a:r>
            <a:endParaRPr lang="en-US" altLang="ko-KR" b="1" dirty="0">
              <a:latin typeface="Segoe UI Variable Small" pitchFamily="2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</a:endParaRPr>
          </a:p>
          <a:p>
            <a:pPr>
              <a:lnSpc>
                <a:spcPct val="100000"/>
              </a:lnSpc>
            </a:pPr>
            <a:r>
              <a:rPr lang="ko-KR" altLang="ko-KR" sz="2400" b="1" dirty="0" err="1">
                <a:latin typeface="Segoe UI Variable Small" pitchFamily="2" charset="0"/>
              </a:rPr>
              <a:t>Current</a:t>
            </a:r>
            <a:r>
              <a:rPr lang="ko-KR" altLang="ko-KR" sz="2400" b="1" dirty="0">
                <a:latin typeface="Segoe UI Variable Small" pitchFamily="2" charset="0"/>
              </a:rPr>
              <a:t> </a:t>
            </a:r>
            <a:r>
              <a:rPr lang="ko-KR" altLang="ko-KR" sz="2400" b="1" dirty="0" err="1">
                <a:latin typeface="Segoe UI Variable Small" pitchFamily="2" charset="0"/>
              </a:rPr>
              <a:t>Surveillance</a:t>
            </a:r>
            <a:r>
              <a:rPr lang="ko-KR" altLang="ko-KR" sz="2400" b="1" dirty="0">
                <a:latin typeface="Segoe UI Variable Small" pitchFamily="2" charset="0"/>
              </a:rPr>
              <a:t> </a:t>
            </a:r>
            <a:r>
              <a:rPr lang="ko-KR" altLang="ko-KR" sz="2400" b="1" dirty="0" err="1">
                <a:latin typeface="Segoe UI Variable Small" pitchFamily="2" charset="0"/>
              </a:rPr>
              <a:t>Methods</a:t>
            </a:r>
            <a:endParaRPr lang="en-US" altLang="ko-KR" sz="2400" b="1" dirty="0"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Clinical Surveillance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Wastewater-Based Epidemiology (WBE)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0843EDA-CDB2-32AD-A20E-6441FF7F2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8" t="7313" r="11231" b="858"/>
          <a:stretch>
            <a:fillRect/>
          </a:stretch>
        </p:blipFill>
        <p:spPr>
          <a:xfrm>
            <a:off x="7700862" y="3949062"/>
            <a:ext cx="1506279" cy="17683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7EA7750-7720-8980-DEA7-1B6A1888E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2768081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7FFB-0DEF-9C21-C5AB-1C334A50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30474-E756-F067-695A-FB36EA05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Motivation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749A-2C5C-54E2-BD6B-A61392877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659"/>
            <a:ext cx="10515600" cy="47260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Clinical Surveillance</a:t>
            </a: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실제 환자를 기반으로 하지만 늦</a:t>
            </a:r>
            <a:r>
              <a:rPr lang="ko-KR" altLang="en-US" sz="2000" b="1" dirty="0">
                <a:latin typeface="Segoe UI Variable Small" pitchFamily="2" charset="0"/>
              </a:rPr>
              <a:t>음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Wastewater-Based Epidemiology (WBE)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</a:rPr>
              <a:t>임상보다 빠르지만 주기적 시료 채취로 인한 비연속적</a:t>
            </a:r>
            <a:endParaRPr lang="en-US" altLang="ko-KR" sz="2000" b="1" dirty="0">
              <a:latin typeface="Segoe UI Variable Small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36130-9E42-A9AF-3123-B4601E8F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79A70E8-8AE3-50D0-EE7F-4E8DFD2DEB66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C9A61DBB-DFF7-FCCB-80B8-477831080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70" r="21363" b="30874"/>
          <a:stretch>
            <a:fillRect/>
          </a:stretch>
        </p:blipFill>
        <p:spPr>
          <a:xfrm>
            <a:off x="2151505" y="3854155"/>
            <a:ext cx="6459095" cy="18446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7F02D46-0E58-8869-17E7-9FE53E07F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5" t="27010" r="2800" b="30851"/>
          <a:stretch>
            <a:fillRect/>
          </a:stretch>
        </p:blipFill>
        <p:spPr>
          <a:xfrm>
            <a:off x="8610600" y="3881352"/>
            <a:ext cx="1326015" cy="17902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7BB1C0-E6B1-B182-2C6E-2729A9D1734F}"/>
              </a:ext>
            </a:extLst>
          </p:cNvPr>
          <p:cNvSpPr txBox="1"/>
          <p:nvPr/>
        </p:nvSpPr>
        <p:spPr>
          <a:xfrm>
            <a:off x="3175951" y="6059252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연속적인 검색 동향을 이용하면 어떨까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26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3BAA-0EE5-DE53-7B8D-93DDE0D9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DEA6D-A822-64C2-3F57-A988E7A2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Objective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5AD39-1440-4527-6309-F2E78557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039EA7D-A5D0-25A9-0137-1A6F785D6AFC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904EA2-D958-FC47-ABED-FB981490ADC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2C05D59-16F9-5329-4872-C2A753BFE37C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Objective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하수 내 감염병 농도와 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간의 시간적 상관관계를 조사한다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검색 트렌드가 하수 기반 감염병 감시를 보완할 수 있는지 평가한다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Research Question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RQ1.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검색량과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하수 내 감염병 농도 간에 상관관계가 있는가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RQ2.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검색량과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하수 내 감염병 농도 사이에 시간적 선후 관계가 존재하는가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RQ3.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검색 동향이 감염병 감시를 위한 보완적 지표로 활용될 수 있는가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797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CCB0-24CE-C0F1-736D-573E7307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DC250-F99E-2F1F-9F3F-BB706906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Related Work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E032C7-0389-20DB-90C7-67C7E094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4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3D40-1BCD-6DCC-B04E-57B077BA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F9727-E9B1-01B8-536A-1FBB05DF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Lippi et al.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28CC38C-81FF-A6E1-F5E2-09748356F642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837756-61EF-1304-CC1F-E0FC9EF3DD68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F1315F7-D8D7-50DB-A1ED-CB26B2959CC9}"/>
              </a:ext>
            </a:extLst>
          </p:cNvPr>
          <p:cNvSpPr txBox="1">
            <a:spLocks/>
          </p:cNvSpPr>
          <p:nvPr/>
        </p:nvSpPr>
        <p:spPr>
          <a:xfrm>
            <a:off x="838200" y="1150070"/>
            <a:ext cx="10515600" cy="568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Spearman’s correlation (Rank)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	+ 3-week lag</a:t>
            </a: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Spearman’s Correlation (2020</a:t>
            </a: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2</a:t>
            </a: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 ~ 5</a:t>
            </a: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Google Trend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 err="1">
                <a:latin typeface="Segoe UI Variable Small" pitchFamily="2" charset="0"/>
                <a:cs typeface="Times New Roman" panose="02020603050405020304" pitchFamily="18" charset="0"/>
              </a:rPr>
              <a:t>tosse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(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기침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 err="1">
                <a:latin typeface="Segoe UI Variable Small" pitchFamily="2" charset="0"/>
                <a:cs typeface="Times New Roman" panose="02020603050405020304" pitchFamily="18" charset="0"/>
              </a:rPr>
              <a:t>febbre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(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발열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 err="1">
                <a:latin typeface="Segoe UI Variable Small" pitchFamily="2" charset="0"/>
                <a:cs typeface="Times New Roman" panose="02020603050405020304" pitchFamily="18" charset="0"/>
              </a:rPr>
              <a:t>dispnea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(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호흡곤란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) </a:t>
            </a:r>
            <a:r>
              <a:rPr lang="ko-KR" altLang="en-US" sz="16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Covid-19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신규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확진자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수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FE0E91E-C9A8-14AB-E060-80FB72E09E48}"/>
              </a:ext>
            </a:extLst>
          </p:cNvPr>
          <p:cNvSpPr txBox="1">
            <a:spLocks/>
          </p:cNvSpPr>
          <p:nvPr/>
        </p:nvSpPr>
        <p:spPr>
          <a:xfrm>
            <a:off x="8610600" y="1517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0C5530-42F1-47A2-8D67-542376C728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ECE2E1-A971-FD82-183B-D24CEE5DF63A}"/>
                  </a:ext>
                </a:extLst>
              </p:cNvPr>
              <p:cNvSpPr txBox="1"/>
              <p:nvPr/>
            </p:nvSpPr>
            <p:spPr>
              <a:xfrm>
                <a:off x="7253972" y="1540851"/>
                <a:ext cx="3789948" cy="1212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b="1" dirty="0">
                    <a:latin typeface="Segoe UI Variable Small" pitchFamily="2" charset="0"/>
                  </a:rPr>
                  <a:t>Pearson Correlation</a:t>
                </a:r>
              </a:p>
              <a:p>
                <a:endParaRPr lang="en-US" altLang="ko-KR" b="1" dirty="0">
                  <a:latin typeface="Segoe UI Variable Small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ECE2E1-A971-FD82-183B-D24CEE5DF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972" y="1540851"/>
                <a:ext cx="3789948" cy="1212768"/>
              </a:xfrm>
              <a:prstGeom prst="rect">
                <a:avLst/>
              </a:prstGeom>
              <a:blipFill>
                <a:blip r:embed="rId2"/>
                <a:stretch>
                  <a:fillRect l="-3859" t="-6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6379C7-A731-A36A-3C4F-04E82BB5D328}"/>
                  </a:ext>
                </a:extLst>
              </p:cNvPr>
              <p:cNvSpPr txBox="1"/>
              <p:nvPr/>
            </p:nvSpPr>
            <p:spPr>
              <a:xfrm>
                <a:off x="6443622" y="4430749"/>
                <a:ext cx="4600298" cy="920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R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R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6379C7-A731-A36A-3C4F-04E82BB5D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622" y="4430749"/>
                <a:ext cx="4600298" cy="920637"/>
              </a:xfrm>
              <a:prstGeom prst="rect">
                <a:avLst/>
              </a:prstGeom>
              <a:blipFill>
                <a:blip r:embed="rId3"/>
                <a:stretch>
                  <a:fillRect b="-6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BA3948-DA72-2DA6-3E50-76FB0ED06995}"/>
                  </a:ext>
                </a:extLst>
              </p:cNvPr>
              <p:cNvSpPr txBox="1"/>
              <p:nvPr/>
            </p:nvSpPr>
            <p:spPr>
              <a:xfrm>
                <a:off x="7823526" y="3386360"/>
                <a:ext cx="1237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BA3948-DA72-2DA6-3E50-76FB0ED06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526" y="3386360"/>
                <a:ext cx="1237390" cy="276999"/>
              </a:xfrm>
              <a:prstGeom prst="rect">
                <a:avLst/>
              </a:prstGeom>
              <a:blipFill>
                <a:blip r:embed="rId4"/>
                <a:stretch>
                  <a:fillRect l="-2463" r="-5419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54EA41-74D4-E390-640E-F43D177127BC}"/>
              </a:ext>
            </a:extLst>
          </p:cNvPr>
          <p:cNvSpPr txBox="1"/>
          <p:nvPr/>
        </p:nvSpPr>
        <p:spPr>
          <a:xfrm>
            <a:off x="0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https://pmc.ncbi.nlm.nih.gov/articles/PMC7716951/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https://en.wikipedia.org/wiki/Pearson_correlation_coefficient</a:t>
            </a:r>
          </a:p>
          <a:p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https://en.wikipedia.org/wiki/Spearman%27s_rank_correlation_coefficient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36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BB386-7854-6F62-55B6-A54611FC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468D6-8CEC-FE45-84C5-1173F619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Lippi et al.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A5EAA31-D2DD-B124-D069-332D804DC741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0DDD0B-6EF6-4100-B2D7-6C057421765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81CEAC4-687F-F74A-9226-E79C19E322D3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Results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지연 없이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tosse</a:t>
            </a:r>
            <a:r>
              <a:rPr lang="ko-KR" altLang="en-US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(p=0.277)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febbre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(p=0.852)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Dispnea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(r=0.50, p=</a:t>
            </a:r>
            <a:r>
              <a:rPr lang="en-US" altLang="ko-KR" b="1" dirty="0">
                <a:solidFill>
                  <a:srgbClr val="FF0000"/>
                </a:solidFill>
                <a:latin typeface="Segoe UI Variable Small" pitchFamily="2" charset="0"/>
                <a:cs typeface="Times New Roman" panose="02020603050405020304" pitchFamily="18" charset="0"/>
              </a:rPr>
              <a:t>0.034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) → </a:t>
            </a:r>
            <a:r>
              <a:rPr lang="ko-KR" altLang="en-US" b="1" dirty="0">
                <a:latin typeface="Segoe UI Variable Small" pitchFamily="2" charset="0"/>
                <a:cs typeface="Times New Roman" panose="02020603050405020304" pitchFamily="18" charset="0"/>
              </a:rPr>
              <a:t>감염 후 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1~3</a:t>
            </a:r>
            <a:r>
              <a:rPr lang="ko-KR" altLang="en-US" b="1" dirty="0">
                <a:latin typeface="Segoe UI Variable Small" pitchFamily="2" charset="0"/>
                <a:cs typeface="Times New Roman" panose="02020603050405020304" pitchFamily="18" charset="0"/>
              </a:rPr>
              <a:t>주 후에 발생 반영</a:t>
            </a:r>
            <a:endParaRPr lang="en-US" altLang="ko-KR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3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주 지연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tosse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(r=0.65, p=</a:t>
            </a:r>
            <a:r>
              <a:rPr lang="en-US" altLang="ko-KR" b="1" dirty="0">
                <a:solidFill>
                  <a:srgbClr val="FF0000"/>
                </a:solidFill>
                <a:latin typeface="Segoe UI Variable Small" pitchFamily="2" charset="0"/>
                <a:cs typeface="Times New Roman" panose="02020603050405020304" pitchFamily="18" charset="0"/>
              </a:rPr>
              <a:t>0.008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febbre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(r=0.69p=</a:t>
            </a:r>
            <a:r>
              <a:rPr lang="en-US" altLang="ko-KR" b="1" dirty="0">
                <a:solidFill>
                  <a:srgbClr val="FF0000"/>
                </a:solidFill>
                <a:latin typeface="Segoe UI Variable Small" pitchFamily="2" charset="0"/>
                <a:cs typeface="Times New Roman" panose="02020603050405020304" pitchFamily="18" charset="0"/>
              </a:rPr>
              <a:t>0.004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	→ </a:t>
            </a:r>
            <a:r>
              <a:rPr lang="ko-KR" altLang="en-US" b="1" dirty="0">
                <a:latin typeface="Segoe UI Variable Small" pitchFamily="2" charset="0"/>
                <a:cs typeface="Times New Roman" panose="02020603050405020304" pitchFamily="18" charset="0"/>
              </a:rPr>
              <a:t>임상보다 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3</a:t>
            </a:r>
            <a:r>
              <a:rPr lang="ko-KR" altLang="en-US" b="1" dirty="0">
                <a:latin typeface="Segoe UI Variable Small" pitchFamily="2" charset="0"/>
                <a:cs typeface="Times New Roman" panose="02020603050405020304" pitchFamily="18" charset="0"/>
              </a:rPr>
              <a:t>주 정도 이미 유행</a:t>
            </a:r>
            <a:endParaRPr lang="en-US" altLang="ko-KR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BA45A45-DD88-43A0-F82F-39C2249C62E6}"/>
              </a:ext>
            </a:extLst>
          </p:cNvPr>
          <p:cNvSpPr txBox="1">
            <a:spLocks/>
          </p:cNvSpPr>
          <p:nvPr/>
        </p:nvSpPr>
        <p:spPr>
          <a:xfrm>
            <a:off x="8610600" y="1517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0C5530-42F1-47A2-8D67-542376C728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E4A1E-2B59-FC8E-0E91-D410D64D1356}"/>
              </a:ext>
            </a:extLst>
          </p:cNvPr>
          <p:cNvSpPr txBox="1"/>
          <p:nvPr/>
        </p:nvSpPr>
        <p:spPr>
          <a:xfrm>
            <a:off x="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https://pmc.ncbi.nlm.nih.gov/articles/PMC7716951/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0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859E-7FB2-D1B3-8C43-C84B51E9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9219F-C568-B0FF-623D-62B138C7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Zulli et al.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57098F-958E-1429-BEB0-14EAF6BA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78BA88D-E9A8-FD9E-FD74-4CE2DB733413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0F568F2-00C4-BA06-A5B0-97F0BB8E3235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7030895-1025-206C-4CFE-E58FDE369B26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Data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Concentrations of Infectious Diseases in Sewage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Norovirus, Mpox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Clinical Data</a:t>
            </a:r>
          </a:p>
          <a:p>
            <a:pPr lvl="1">
              <a:lnSpc>
                <a:spcPct val="150000"/>
              </a:lnSpc>
            </a:pPr>
            <a:endParaRPr lang="en-US" altLang="ko-KR" sz="105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Simple Linear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Stepwise Selection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Principle Component Analysis</a:t>
            </a:r>
          </a:p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99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5A81-D861-193D-DDD1-A42C5B2B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28465-AB4C-4A90-A6EB-740A9E23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Methodology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B6C1C1-C9F8-7E00-49C7-172DC3B3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1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14369-24BE-8265-FD5E-1EB86918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7E5A2-18EA-63B3-F1D2-29750863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Data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99FF41-D9B8-70F0-34DC-2A8E6D85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400FED2-828D-488F-0093-33083AE580D7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E44CB6A-03BD-2BFC-2C04-AEA861448FD2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0823642-87B4-CE83-A266-947C476241FC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Concentrations of Infectious Diseases in Sewage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KOWAS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SARS-CoV-2, Influenza, Norovirus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2024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7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(SARS-CoV-2), 9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~ 2026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6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Search Volume for Keyword by Infectious Diseases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네이버 광고주센터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데이터랩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SARS-CoV-2: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코로나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발열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기침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호흡곤란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Influenza: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인플루엔자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독감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플루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고열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근육통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오한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Norovirus: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노로바이러스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장염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식중독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구토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복통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물설사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3ED29-FAB0-ED9C-CC79-9B7D97C28F29}"/>
              </a:ext>
            </a:extLst>
          </p:cNvPr>
          <p:cNvSpPr txBox="1"/>
          <p:nvPr/>
        </p:nvSpPr>
        <p:spPr>
          <a:xfrm>
            <a:off x="0" y="6027003"/>
            <a:ext cx="64285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https://dportal.kdca.go.kr/pot/bbs/BD_selectBbsList.do?q_bbsSn=1010&amp;q_bbsDocNo=&amp;q_clsfNo=4&amp;q_searchKeyTy=&amp;q_searchVal=&amp;q_currPage=1&amp;q_sortName=&amp;q_sortOrder=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https://ads.naver.com/ 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https://datalab.naver.com/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54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314C-6CB9-9C64-9723-B0E6F71F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0DD8B-52C8-F977-3456-D0D02B39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Data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88B5C-A135-8C5F-1147-AF1C9F07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949976D-E8E5-02CC-BD1B-E174EB8E39A0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7D46FFC-064D-631C-B8B0-972BE1E5F10B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DEF7CB1-F452-24D0-6C03-872D15F55E67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Extracting Concentrations of Infectious Diseases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Using Gemini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Image → Value</a:t>
            </a: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Calculating Search Volume</a:t>
            </a:r>
          </a:p>
          <a:p>
            <a:pPr lvl="1">
              <a:lnSpc>
                <a:spcPct val="100000"/>
              </a:lnSpc>
            </a:pP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A454EA-2B24-273B-053D-6BB56620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"/>
          <a:stretch>
            <a:fillRect/>
          </a:stretch>
        </p:blipFill>
        <p:spPr>
          <a:xfrm>
            <a:off x="5851067" y="1659873"/>
            <a:ext cx="4720898" cy="1814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F8E2C-388C-7E78-75EC-CA3D7A88AED1}"/>
              </a:ext>
            </a:extLst>
          </p:cNvPr>
          <p:cNvSpPr txBox="1"/>
          <p:nvPr/>
        </p:nvSpPr>
        <p:spPr>
          <a:xfrm>
            <a:off x="5402135" y="1735587"/>
            <a:ext cx="605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Ex)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2F6765-337C-F2C0-ECA1-AD4C0D437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866"/>
          <a:stretch>
            <a:fillRect/>
          </a:stretch>
        </p:blipFill>
        <p:spPr>
          <a:xfrm>
            <a:off x="838200" y="3748570"/>
            <a:ext cx="1229139" cy="26077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8B8488-637C-60F5-2D58-B913DAC870AD}"/>
              </a:ext>
            </a:extLst>
          </p:cNvPr>
          <p:cNvSpPr txBox="1"/>
          <p:nvPr/>
        </p:nvSpPr>
        <p:spPr>
          <a:xfrm>
            <a:off x="263951" y="3872272"/>
            <a:ext cx="652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2025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32207-8DFA-D77F-3DC4-51AD79C62156}"/>
              </a:ext>
            </a:extLst>
          </p:cNvPr>
          <p:cNvSpPr txBox="1"/>
          <p:nvPr/>
        </p:nvSpPr>
        <p:spPr>
          <a:xfrm>
            <a:off x="263951" y="5114311"/>
            <a:ext cx="574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2026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F4958-04D5-DD2D-7427-C4DF19229E25}"/>
              </a:ext>
            </a:extLst>
          </p:cNvPr>
          <p:cNvSpPr txBox="1"/>
          <p:nvPr/>
        </p:nvSpPr>
        <p:spPr>
          <a:xfrm>
            <a:off x="398530" y="6396335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월별 </a:t>
            </a:r>
            <a:r>
              <a:rPr lang="en-US" altLang="ko-KR" sz="1200" b="1" dirty="0">
                <a:effectLst/>
              </a:rPr>
              <a:t>(</a:t>
            </a:r>
            <a:r>
              <a:rPr lang="ko-KR" altLang="en-US" sz="1200" b="1" dirty="0" err="1">
                <a:effectLst/>
              </a:rPr>
              <a:t>검색량</a:t>
            </a:r>
            <a:r>
              <a:rPr lang="en-US" altLang="ko-KR" sz="1200" b="1" dirty="0">
                <a:effectLst/>
              </a:rPr>
              <a:t>)</a:t>
            </a:r>
            <a:r>
              <a:rPr lang="ko-KR" altLang="en-US" sz="1200" b="1" dirty="0">
                <a:effectLst/>
              </a:rPr>
              <a:t> 절대값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광고주센터</a:t>
            </a:r>
            <a:endParaRPr lang="ko-KR" altLang="ko-KR" sz="1200" b="1" dirty="0">
              <a:effectLst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C800E18-75DB-F2EC-623A-147548C93D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" r="74928" b="82727"/>
          <a:stretch>
            <a:fillRect/>
          </a:stretch>
        </p:blipFill>
        <p:spPr>
          <a:xfrm>
            <a:off x="3111357" y="3748570"/>
            <a:ext cx="940087" cy="144313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F614474-1A3B-82F0-7E8A-CE1D66873E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86" r="75006"/>
          <a:stretch>
            <a:fillRect/>
          </a:stretch>
        </p:blipFill>
        <p:spPr>
          <a:xfrm>
            <a:off x="3111356" y="5599460"/>
            <a:ext cx="940087" cy="7917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086594-7B11-949E-A952-2A11196A9941}"/>
              </a:ext>
            </a:extLst>
          </p:cNvPr>
          <p:cNvSpPr txBox="1"/>
          <p:nvPr/>
        </p:nvSpPr>
        <p:spPr>
          <a:xfrm>
            <a:off x="3444070" y="5115264"/>
            <a:ext cx="2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3276723-B5E1-E1DD-A9B9-C407C2E4A241}"/>
              </a:ext>
            </a:extLst>
          </p:cNvPr>
          <p:cNvCxnSpPr>
            <a:cxnSpLocks/>
          </p:cNvCxnSpPr>
          <p:nvPr/>
        </p:nvCxnSpPr>
        <p:spPr>
          <a:xfrm flipV="1">
            <a:off x="2067339" y="3910760"/>
            <a:ext cx="1044017" cy="66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838B7D2-9115-6956-C259-95D1D3AD8444}"/>
              </a:ext>
            </a:extLst>
          </p:cNvPr>
          <p:cNvCxnSpPr>
            <a:cxnSpLocks/>
          </p:cNvCxnSpPr>
          <p:nvPr/>
        </p:nvCxnSpPr>
        <p:spPr>
          <a:xfrm>
            <a:off x="2067339" y="4176846"/>
            <a:ext cx="1044017" cy="53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083AF8-4DEF-6C07-4A1D-D290D372453B}"/>
              </a:ext>
            </a:extLst>
          </p:cNvPr>
          <p:cNvSpPr txBox="1"/>
          <p:nvPr/>
        </p:nvSpPr>
        <p:spPr>
          <a:xfrm>
            <a:off x="2638461" y="3653125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effectLst/>
              </a:rPr>
              <a:t>27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E169D5-9E91-EC60-B49E-BAA97CD9C9D3}"/>
              </a:ext>
            </a:extLst>
          </p:cNvPr>
          <p:cNvSpPr txBox="1"/>
          <p:nvPr/>
        </p:nvSpPr>
        <p:spPr>
          <a:xfrm>
            <a:off x="2638461" y="4660934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/>
              <a:t>31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A76506-300C-FA90-9CF7-212298F3268D}"/>
              </a:ext>
            </a:extLst>
          </p:cNvPr>
          <p:cNvSpPr txBox="1"/>
          <p:nvPr/>
        </p:nvSpPr>
        <p:spPr>
          <a:xfrm>
            <a:off x="2527160" y="6393882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 err="1">
                <a:effectLst/>
              </a:rPr>
              <a:t>상대값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</a:t>
            </a:r>
            <a:r>
              <a:rPr lang="ko-KR" altLang="en-US" sz="1200" b="1" dirty="0" err="1"/>
              <a:t>데이터랩</a:t>
            </a:r>
            <a:endParaRPr lang="en-US" altLang="ko-KR" sz="1200" b="1" dirty="0">
              <a:effectLst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8EE26E0-984A-0C96-EC83-929A907904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709" b="82784"/>
          <a:stretch>
            <a:fillRect/>
          </a:stretch>
        </p:blipFill>
        <p:spPr>
          <a:xfrm>
            <a:off x="4892642" y="3752463"/>
            <a:ext cx="841407" cy="143924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B1B21A5-21A8-8619-9378-1B726B9C0F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558" r="76664"/>
          <a:stretch>
            <a:fillRect/>
          </a:stretch>
        </p:blipFill>
        <p:spPr>
          <a:xfrm>
            <a:off x="4892642" y="5589520"/>
            <a:ext cx="866808" cy="81161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7BDE0F4-B605-05FE-7020-EDFEB13FEC21}"/>
              </a:ext>
            </a:extLst>
          </p:cNvPr>
          <p:cNvSpPr txBox="1"/>
          <p:nvPr/>
        </p:nvSpPr>
        <p:spPr>
          <a:xfrm>
            <a:off x="5176016" y="5114311"/>
            <a:ext cx="2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75CBF-226A-E8E8-2A85-CA130338CB22}"/>
              </a:ext>
            </a:extLst>
          </p:cNvPr>
          <p:cNvSpPr txBox="1"/>
          <p:nvPr/>
        </p:nvSpPr>
        <p:spPr>
          <a:xfrm>
            <a:off x="4253957" y="4463510"/>
            <a:ext cx="43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→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D15853-C6C9-D54C-7FB9-16359AC33A08}"/>
              </a:ext>
            </a:extLst>
          </p:cNvPr>
          <p:cNvSpPr txBox="1"/>
          <p:nvPr/>
        </p:nvSpPr>
        <p:spPr>
          <a:xfrm>
            <a:off x="4271807" y="6428220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91828A-D726-F2CB-687E-2D6E4CC6675A}"/>
                  </a:ext>
                </a:extLst>
              </p:cNvPr>
              <p:cNvSpPr txBox="1"/>
              <p:nvPr/>
            </p:nvSpPr>
            <p:spPr>
              <a:xfrm>
                <a:off x="6439469" y="5001058"/>
                <a:ext cx="2008114" cy="574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91828A-D726-F2CB-687E-2D6E4CC66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469" y="5001058"/>
                <a:ext cx="2008114" cy="5743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AD8072-2910-7B52-1AF5-DD4AF56A4255}"/>
                  </a:ext>
                </a:extLst>
              </p:cNvPr>
              <p:cNvSpPr txBox="1"/>
              <p:nvPr/>
            </p:nvSpPr>
            <p:spPr>
              <a:xfrm>
                <a:off x="6450296" y="6026003"/>
                <a:ext cx="2508441" cy="660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>
                        <a:latin typeface="Cambria Math" panose="02040503050406030204" pitchFamily="18" charset="0"/>
                      </a:rPr>
                      <m:t>w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ko-KR" altLang="en-US" sz="1200" dirty="0"/>
                  <a:t>상대 </a:t>
                </a:r>
                <a:r>
                  <a:rPr lang="ko-KR" altLang="en-US" sz="1200" dirty="0" err="1"/>
                  <a:t>검색량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월별 절대 </a:t>
                </a:r>
                <a:r>
                  <a:rPr lang="ko-KR" altLang="en-US" sz="1200" dirty="0" err="1"/>
                  <a:t>검색량</a:t>
                </a:r>
                <a:endParaRPr lang="en-US" altLang="ko-KR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추정된 주별 절대 </a:t>
                </a:r>
                <a:r>
                  <a:rPr lang="ko-KR" altLang="en-US" sz="1200" dirty="0" err="1"/>
                  <a:t>검색량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AD8072-2910-7B52-1AF5-DD4AF56A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296" y="6026003"/>
                <a:ext cx="2508441" cy="660694"/>
              </a:xfrm>
              <a:prstGeom prst="rect">
                <a:avLst/>
              </a:prstGeom>
              <a:blipFill>
                <a:blip r:embed="rId8"/>
                <a:stretch>
                  <a:fillRect t="-926" b="-6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B8E1C-8B19-CD4D-544E-3C83A7FAFE93}"/>
                  </a:ext>
                </a:extLst>
              </p:cNvPr>
              <p:cNvSpPr txBox="1"/>
              <p:nvPr/>
            </p:nvSpPr>
            <p:spPr>
              <a:xfrm>
                <a:off x="5658509" y="3625153"/>
                <a:ext cx="670728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B8E1C-8B19-CD4D-544E-3C83A7FA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509" y="3625153"/>
                <a:ext cx="670728" cy="385618"/>
              </a:xfrm>
              <a:prstGeom prst="rect">
                <a:avLst/>
              </a:prstGeom>
              <a:blipFill>
                <a:blip r:embed="rId9"/>
                <a:stretch>
                  <a:fillRect t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300248-C3D2-515A-7E63-EE6AFA97B2A4}"/>
                  </a:ext>
                </a:extLst>
              </p:cNvPr>
              <p:cNvSpPr txBox="1"/>
              <p:nvPr/>
            </p:nvSpPr>
            <p:spPr>
              <a:xfrm>
                <a:off x="4048968" y="3634476"/>
                <a:ext cx="436172" cy="376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300248-C3D2-515A-7E63-EE6AFA97B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968" y="3634476"/>
                <a:ext cx="436172" cy="3762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1ED38-D1CD-3107-3149-DB7615764314}"/>
                  </a:ext>
                </a:extLst>
              </p:cNvPr>
              <p:cNvSpPr txBox="1"/>
              <p:nvPr/>
            </p:nvSpPr>
            <p:spPr>
              <a:xfrm>
                <a:off x="2022999" y="3628127"/>
                <a:ext cx="5172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1ED38-D1CD-3107-3149-DB7615764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999" y="3628127"/>
                <a:ext cx="51723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8CBD8747-BECA-58FE-19D7-B7FCAF84D9BF}"/>
              </a:ext>
            </a:extLst>
          </p:cNvPr>
          <p:cNvSpPr txBox="1"/>
          <p:nvPr/>
        </p:nvSpPr>
        <p:spPr>
          <a:xfrm>
            <a:off x="10584725" y="2367294"/>
            <a:ext cx="43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→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1D6F1A-1886-AE1A-923C-ABFEBF48313B}"/>
              </a:ext>
            </a:extLst>
          </p:cNvPr>
          <p:cNvSpPr txBox="1"/>
          <p:nvPr/>
        </p:nvSpPr>
        <p:spPr>
          <a:xfrm>
            <a:off x="11043920" y="2428849"/>
            <a:ext cx="1171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Raw Data</a:t>
            </a:r>
            <a:endParaRPr lang="ko-KR" alt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5960D0-9540-1A07-1CF1-4849F4ED947C}"/>
              </a:ext>
            </a:extLst>
          </p:cNvPr>
          <p:cNvSpPr txBox="1"/>
          <p:nvPr/>
        </p:nvSpPr>
        <p:spPr>
          <a:xfrm>
            <a:off x="8360724" y="5493176"/>
            <a:ext cx="920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152.00773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9998F7-C25A-87DC-2428-5DEA0085210E}"/>
                  </a:ext>
                </a:extLst>
              </p:cNvPr>
              <p:cNvSpPr txBox="1"/>
              <p:nvPr/>
            </p:nvSpPr>
            <p:spPr>
              <a:xfrm>
                <a:off x="6329237" y="4581348"/>
                <a:ext cx="2137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?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9998F7-C25A-87DC-2428-5DEA00852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237" y="4581348"/>
                <a:ext cx="2137449" cy="276999"/>
              </a:xfrm>
              <a:prstGeom prst="rect">
                <a:avLst/>
              </a:prstGeom>
              <a:blipFill>
                <a:blip r:embed="rId12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7E6ECFC-99B7-C5E2-F28F-15F02B9EE2A8}"/>
              </a:ext>
            </a:extLst>
          </p:cNvPr>
          <p:cNvSpPr txBox="1"/>
          <p:nvPr/>
        </p:nvSpPr>
        <p:spPr>
          <a:xfrm>
            <a:off x="8117580" y="4808302"/>
            <a:ext cx="767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/>
              <a:t>133000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0B4EC0-E4D3-5F20-B4EB-792E5F29BFF8}"/>
              </a:ext>
            </a:extLst>
          </p:cNvPr>
          <p:cNvSpPr txBox="1"/>
          <p:nvPr/>
        </p:nvSpPr>
        <p:spPr>
          <a:xfrm>
            <a:off x="6936521" y="4937792"/>
            <a:ext cx="767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/>
              <a:t>29.2452</a:t>
            </a:r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0D21A1-23B1-4CA8-72DB-04C7E36889BE}"/>
                  </a:ext>
                </a:extLst>
              </p:cNvPr>
              <p:cNvSpPr txBox="1"/>
              <p:nvPr/>
            </p:nvSpPr>
            <p:spPr>
              <a:xfrm>
                <a:off x="9057255" y="5150596"/>
                <a:ext cx="1318532" cy="28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sz="1200" b="1" dirty="0"/>
                  <a:t>25588.2</a:t>
                </a:r>
                <a:r>
                  <a:rPr lang="en-US" altLang="ko-KR" sz="1200" b="1" dirty="0"/>
                  <a:t>5</a:t>
                </a:r>
                <a:endParaRPr lang="ko-KR" altLang="en-US" sz="1200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0D21A1-23B1-4CA8-72DB-04C7E3688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255" y="5150596"/>
                <a:ext cx="1318532" cy="287836"/>
              </a:xfrm>
              <a:prstGeom prst="rect">
                <a:avLst/>
              </a:prstGeom>
              <a:blipFill>
                <a:blip r:embed="rId13"/>
                <a:stretch>
                  <a:fillRect t="-4255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9690A246-5CEC-5E1A-2745-48438F79347A}"/>
              </a:ext>
            </a:extLst>
          </p:cNvPr>
          <p:cNvSpPr txBox="1"/>
          <p:nvPr/>
        </p:nvSpPr>
        <p:spPr>
          <a:xfrm>
            <a:off x="10801272" y="4115804"/>
            <a:ext cx="133072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검증</a:t>
            </a:r>
            <a:endParaRPr lang="en-US" altLang="ko-KR" sz="1200" b="1" dirty="0"/>
          </a:p>
          <a:p>
            <a:r>
              <a:rPr lang="en-US" altLang="ko-KR" sz="1200" dirty="0"/>
              <a:t>   25588</a:t>
            </a:r>
          </a:p>
          <a:p>
            <a:r>
              <a:rPr lang="en-US" altLang="ko-KR" sz="1200" dirty="0"/>
              <a:t>+ 23264</a:t>
            </a:r>
          </a:p>
          <a:p>
            <a:r>
              <a:rPr lang="en-US" altLang="ko-KR" sz="1200" dirty="0"/>
              <a:t>+ 21507</a:t>
            </a:r>
          </a:p>
          <a:p>
            <a:r>
              <a:rPr lang="en-US" altLang="ko-KR" sz="1200" dirty="0"/>
              <a:t>+ 22707</a:t>
            </a:r>
          </a:p>
          <a:p>
            <a:r>
              <a:rPr lang="en-US" altLang="ko-KR" sz="1200" dirty="0"/>
              <a:t>+ 39934</a:t>
            </a:r>
          </a:p>
          <a:p>
            <a:r>
              <a:rPr lang="en-US" altLang="ko-KR" sz="1200" dirty="0"/>
              <a:t>= </a:t>
            </a:r>
            <a:r>
              <a:rPr lang="ko-KR" altLang="ko-KR" sz="1200" dirty="0">
                <a:solidFill>
                  <a:srgbClr val="000000"/>
                </a:solidFill>
                <a:latin typeface="맑은 고딕" panose="020B0503020000020004" pitchFamily="50" charset="-127"/>
              </a:rPr>
              <a:t>133000</a:t>
            </a:r>
            <a:endParaRPr lang="ko-KR" alt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9CED64-E1EB-A786-B17D-2B4E3AFD0CC8}"/>
              </a:ext>
            </a:extLst>
          </p:cNvPr>
          <p:cNvSpPr txBox="1"/>
          <p:nvPr/>
        </p:nvSpPr>
        <p:spPr>
          <a:xfrm>
            <a:off x="5763491" y="10841"/>
            <a:ext cx="64285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https://dportal.kdca.go.kr/pot/bbs/BD_selectBbsList.do?q_bbsSn=1010&amp;q_bbsDocNo=&amp;q_clsfNo=4&amp;q_searchKeyTy=&amp;q_searchVal=&amp;q_currPage=1&amp;q_sortName=&amp;q_sortOrder=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https://ads.naver.com/ 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https://datalab.naver.com/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11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652B-83E8-EED4-28F1-842D2131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5FBB59-FFC2-0ED0-A598-3ECF51F8B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175" y="1295863"/>
            <a:ext cx="10515600" cy="49146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Pearson Correlation Analysis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Using </a:t>
            </a: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pearsonr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from </a:t>
            </a: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scipy.stats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Inputs: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X: Concentrations of Infectious Diseases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Y: Search Volume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Returns: statics (</a:t>
            </a:r>
            <a:r>
              <a:rPr lang="ko-KR" altLang="ko-KR" sz="2000" b="1" dirty="0" err="1">
                <a:latin typeface="Segoe UI Variable Small" pitchFamily="2" charset="0"/>
              </a:rPr>
              <a:t>correlation</a:t>
            </a:r>
            <a:r>
              <a:rPr lang="ko-KR" altLang="ko-KR" sz="2000" b="1" dirty="0">
                <a:latin typeface="Segoe UI Variable Small" pitchFamily="2" charset="0"/>
              </a:rPr>
              <a:t> </a:t>
            </a:r>
            <a:r>
              <a:rPr lang="ko-KR" altLang="ko-KR" sz="2000" b="1" dirty="0" err="1">
                <a:latin typeface="Segoe UI Variable Small" pitchFamily="2" charset="0"/>
              </a:rPr>
              <a:t>coefficient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), </a:t>
            </a: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pvalue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Time-lag(Shift) Analysis (1, 2 Week ~ 4 Week)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Sewage (Concentrations)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Search (Volume)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20DC8-4E26-B14D-28CD-635ADBCE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8C5E8AD-1A29-6A65-E599-BF6C7DB1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Correlation Analysis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FE178-7C43-E63D-5A24-BEEB22F8732C}"/>
                  </a:ext>
                </a:extLst>
              </p:cNvPr>
              <p:cNvSpPr txBox="1"/>
              <p:nvPr/>
            </p:nvSpPr>
            <p:spPr>
              <a:xfrm>
                <a:off x="7115125" y="1816920"/>
                <a:ext cx="3772828" cy="660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FE178-7C43-E63D-5A24-BEEB22F87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125" y="1816920"/>
                <a:ext cx="3772828" cy="6606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74F368-5AA2-59C1-F8AF-BF0680846DE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250DA6-5140-DCE6-40E9-9B0B7ADD2B6A}"/>
              </a:ext>
            </a:extLst>
          </p:cNvPr>
          <p:cNvSpPr txBox="1"/>
          <p:nvPr/>
        </p:nvSpPr>
        <p:spPr>
          <a:xfrm>
            <a:off x="0" y="65829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https://docs.scipy.org/doc/scipy/reference/generated/scipy.stats.pearsonr.html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D84FC-C140-3ACF-A770-1A94127C272B}"/>
                  </a:ext>
                </a:extLst>
              </p:cNvPr>
              <p:cNvSpPr txBox="1"/>
              <p:nvPr/>
            </p:nvSpPr>
            <p:spPr>
              <a:xfrm>
                <a:off x="8082071" y="3981335"/>
                <a:ext cx="3424024" cy="1292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600" b="1" dirty="0">
                    <a:latin typeface="Segoe UI Variable Small" pitchFamily="2" charset="0"/>
                    <a:cs typeface="Times New Roman" panose="02020603050405020304" pitchFamily="18" charset="0"/>
                  </a:rPr>
                  <a:t>값 해석</a:t>
                </a:r>
                <a:endParaRPr lang="en-US" altLang="ko-KR" sz="16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r (-1 ~ 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에 가까울 수록 강한 상관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p 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기준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 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통계적으로 유의하지 않음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 </m:t>
                    </m:r>
                  </m:oMath>
                </a14:m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통계적으로 유의함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D84FC-C140-3ACF-A770-1A94127C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071" y="3981335"/>
                <a:ext cx="3424024" cy="1292662"/>
              </a:xfrm>
              <a:prstGeom prst="rect">
                <a:avLst/>
              </a:prstGeom>
              <a:blipFill>
                <a:blip r:embed="rId3"/>
                <a:stretch>
                  <a:fillRect l="-1070" t="-14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752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42A9-EF8C-9B9D-B5C3-0E0B34A8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22162-DDF6-B028-1439-E56AECD3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1F23ED-5872-8611-3660-BA20D37A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48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CDFE-96EE-97E8-E75A-0257E6F4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A8F01-318C-C3C1-C6F6-0F0994AE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SARS-CoV-2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AFB32B-1886-9B3D-F57B-05064F9B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3594F44-A10D-3087-6C78-A539651BD2A5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6B6EE63-C802-2CFF-E075-7B55107CC3E3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446769C-6195-2F0A-3FF0-114676D9F66D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257AFEE-9165-D036-B377-D51D70556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980" y="3985008"/>
            <a:ext cx="3758069" cy="233095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4A324DC1-1BA2-C167-C02F-951CECCD7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65" y="3978997"/>
            <a:ext cx="3758069" cy="233095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204BB2B-A34C-250E-3E31-96857DB6B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7" y="4025397"/>
            <a:ext cx="3758068" cy="233095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2AEE2B3-BDFF-6013-08C2-C9DF11730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980" y="1375856"/>
            <a:ext cx="3758069" cy="233095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C61CAA2-E9AD-3727-F153-12C2C30964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323328"/>
            <a:ext cx="3860234" cy="2394322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2A06827-9D5E-AA4A-1960-B1BA53D86E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3" y="1312488"/>
            <a:ext cx="3860234" cy="239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9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A564-D704-3499-27BD-67C84C42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17774-F933-BC61-A714-DC7AD480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6BB2E-C728-EF0B-DBE8-795AA49A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3097C3E-B595-6F8D-5EF8-41D5DF94E409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0C9306-1E38-7473-46AB-2BD5467A5411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4BF3BE1-FFFC-553E-A850-BDB2F9F67642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B56B12-7536-F601-5AE0-28B914947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1" y="1374926"/>
            <a:ext cx="3759568" cy="2331884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5243160-E57C-AC69-A7D7-18C70D5A3ABB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F190A20-5BE6-F06B-42FA-283FDDDFB1CE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F91DC45-1708-12AD-A3B7-86B8492644B1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0C755B6-0D8F-8D7D-0ED4-ADE19718C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287" y="1329456"/>
            <a:ext cx="3832875" cy="237735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D49C76C-813E-9300-FAC3-B13BE9CE0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89" y="1289270"/>
            <a:ext cx="3897665" cy="241753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15CA7FC-6E63-7980-4316-51E717467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00" y="3985008"/>
            <a:ext cx="3758069" cy="233095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BF9F288-DFCC-EBD6-C245-93A24B7536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689" y="4025396"/>
            <a:ext cx="3758069" cy="23309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2183D36-830A-8955-A6FF-6AB63D19E1D5}"/>
              </a:ext>
            </a:extLst>
          </p:cNvPr>
          <p:cNvSpPr txBox="1"/>
          <p:nvPr/>
        </p:nvSpPr>
        <p:spPr>
          <a:xfrm>
            <a:off x="8735491" y="4452209"/>
            <a:ext cx="25882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2025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11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10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일 주차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~ 2026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6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22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일 주차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(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인플루엔자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+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독감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+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플루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r = 0.4284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p = 0.0129</a:t>
            </a:r>
            <a:endParaRPr lang="ko-KR" altLang="en-US" sz="1400" b="1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F27FBCA-8491-0CDC-0B52-17E3D9AF91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567" y="2048146"/>
            <a:ext cx="8672312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4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7D35-B46C-9A17-F85D-EF10A92C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B704B-AB78-67C2-AF29-0380C9F8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97C4B-870E-5F37-0589-21524738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5F5AFF0-44E3-745B-EFFB-BF6187285F6C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137CF4-AF8D-0E48-C496-E3E188F1E0B9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56CDF59-1693-C74B-8C51-89E1D006448B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4228597-C3ED-9FDB-730E-125A31529488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359729-6D7C-FAC2-1468-D3348790054D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63F0E89-1CB8-D1AE-075A-0C09E7886DBE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2F2F6C0-17A8-70B6-A33F-446F34ECD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930" y="1364916"/>
            <a:ext cx="4226153" cy="262128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E358012-D4F5-E4B7-D39C-733AC319F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879" y="1335381"/>
            <a:ext cx="4325797" cy="268308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D4FAADE-575F-35BD-9624-D0BDF6A3B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324" y="3973018"/>
            <a:ext cx="4399076" cy="27285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6ACF984-C33A-6CF4-E4D6-D98531A81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879" y="4018470"/>
            <a:ext cx="4325797" cy="268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63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A452-1AA2-941F-A681-B930932E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92DDF-DF9C-F98F-6FD8-54C2166B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Norovirus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FFA4AC-6AA9-B40F-7CE0-48ABBEC7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85DDD92-0629-E0F1-9AF0-1CD8919977C2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8A8AC89-A346-E6B0-6EFC-3DB49E29D715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AC9F7AF-6574-BE7C-9ECD-BF2AF62080C0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B79719-8A0D-8ABA-21BD-DC610CF2C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51" y="1349592"/>
            <a:ext cx="3842756" cy="23834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6921F5D-95A8-250C-995C-DC03D1200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874" y="1349592"/>
            <a:ext cx="3680938" cy="22831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8902174-A00F-0FCA-5D98-7F8648809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820" y="1299406"/>
            <a:ext cx="3842759" cy="238348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5CBAD3-E751-5F89-788A-BF1879A9E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716" y="3932596"/>
            <a:ext cx="4191008" cy="25994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CC54B9B-8BAD-F044-B241-D3FB762DB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73" y="3932596"/>
            <a:ext cx="4191008" cy="25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2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9827-F35E-6444-754A-2EA9717E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3834B-72C7-32F7-7F6E-9A5C6098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Norovirus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2492C7-01D6-7376-BCEF-7F1BC1DD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50FDCB-8514-B6C5-DEB4-DFD05FCC3835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E8F9F6B-9F90-53CA-5813-67BD67E0BF3E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3FEFDE2-5993-D495-B167-C23F43DF8ABA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5EB83A3-01F4-12A5-D7CB-CDF809461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701" y="1329457"/>
            <a:ext cx="4325797" cy="26830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9E0E167-D6C8-969C-83EE-28E3F0B1D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44" y="4077268"/>
            <a:ext cx="4263110" cy="26442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C2FBEDF-50A4-9083-207E-9974D3388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067" y="4076151"/>
            <a:ext cx="4263111" cy="264532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883424A-22A0-A99B-31ED-E5C83FE77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601" y="1329456"/>
            <a:ext cx="4325798" cy="268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6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C279-45B8-F498-3A12-57F9389D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CCC63-3FD9-E7E9-E5F8-F4491DC9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ea typeface="Ebrima" panose="02000000000000000000" pitchFamily="2" charset="0"/>
                <a:cs typeface="Ebrima" panose="02000000000000000000" pitchFamily="2" charset="0"/>
              </a:rPr>
              <a:t>Conclusion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Ebrima" panose="0200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82BD43-95D6-8789-EB66-A684C6C7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95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94C0-7F93-DD65-9291-F67B4072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1C66-5035-3536-80BD-2B001BED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2CDBA-15FD-F93C-0ECB-AF0C576E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974A778-4DFB-302E-3EE4-0D9B212B5A9D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0A0197F-CEC9-D89B-4D55-C2380FABF1FD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80736DD-BE05-AFD2-419A-FA6A7D049440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C30D6DF-641D-0E52-F87D-22473A7D9AA6}"/>
              </a:ext>
            </a:extLst>
          </p:cNvPr>
          <p:cNvSpPr txBox="1">
            <a:spLocks/>
          </p:cNvSpPr>
          <p:nvPr/>
        </p:nvSpPr>
        <p:spPr>
          <a:xfrm>
            <a:off x="990600" y="14109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Research Question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RQ1.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검색량과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하수 내 감염병 농도 간에 상관관계가 있는가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RQ2.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검색량과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하수 내 감염병 농도 사이에 시간적 선후 관계가 존재하는가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RQ3.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검색 동향이 감염병 감시를 위한 보완적 지표로 활용될 수 있는가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endParaRPr lang="en-US" altLang="ko-KR" sz="105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Research Answer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</a:rPr>
              <a:t>RA1.</a:t>
            </a:r>
            <a:r>
              <a:rPr lang="ko-KR" altLang="en-US" sz="2000" b="1" dirty="0">
                <a:latin typeface="Segoe UI Variable Small" pitchFamily="2" charset="0"/>
              </a:rPr>
              <a:t> 상관관계가 있다</a:t>
            </a:r>
            <a:r>
              <a:rPr lang="en-US" altLang="ko-KR" sz="2000" b="1" dirty="0">
                <a:latin typeface="Segoe UI Variable Small" pitchFamily="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</a:rPr>
              <a:t>RA2. </a:t>
            </a:r>
            <a:r>
              <a:rPr lang="ko-KR" altLang="en-US" sz="2000" b="1" dirty="0" err="1">
                <a:latin typeface="Segoe UI Variable Small" pitchFamily="2" charset="0"/>
              </a:rPr>
              <a:t>검색량을</a:t>
            </a:r>
            <a:r>
              <a:rPr lang="ko-KR" altLang="en-US" sz="2000" b="1" dirty="0">
                <a:latin typeface="Segoe UI Variable Small" pitchFamily="2" charset="0"/>
              </a:rPr>
              <a:t> 지연시킨 시차에서 대게 가장 높은 상관관계가 나타났다</a:t>
            </a:r>
            <a:r>
              <a:rPr lang="en-US" altLang="ko-KR" sz="2000" b="1" dirty="0">
                <a:latin typeface="Segoe UI Variable Small" pitchFamily="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</a:rPr>
              <a:t>RA3. </a:t>
            </a:r>
            <a:r>
              <a:rPr lang="ko-KR" altLang="en-US" sz="2000" b="1" dirty="0">
                <a:latin typeface="Segoe UI Variable Small" pitchFamily="2" charset="0"/>
              </a:rPr>
              <a:t>보완적 지표로 활용 가능하다</a:t>
            </a:r>
            <a:r>
              <a:rPr lang="en-US" altLang="ko-KR" sz="2000" b="1" dirty="0">
                <a:latin typeface="Segoe UI Variable Small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396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4051</TotalTime>
  <Words>931</Words>
  <Application>Microsoft Office PowerPoint</Application>
  <PresentationFormat>와이드스크린</PresentationFormat>
  <Paragraphs>204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Cambria Math</vt:lpstr>
      <vt:lpstr>Segoe UI Variable Small</vt:lpstr>
      <vt:lpstr>Office 테마</vt:lpstr>
      <vt:lpstr>하수기반 감염병 농도와 검색량 간의 시차 상관분석을 이용한 감염병 조기 감시 연구</vt:lpstr>
      <vt:lpstr>Outline</vt:lpstr>
      <vt:lpstr>Introduction</vt:lpstr>
      <vt:lpstr>Background</vt:lpstr>
      <vt:lpstr>Motivation</vt:lpstr>
      <vt:lpstr>Objective</vt:lpstr>
      <vt:lpstr>Related Work</vt:lpstr>
      <vt:lpstr>Lippi et al.</vt:lpstr>
      <vt:lpstr>Lippi et al.</vt:lpstr>
      <vt:lpstr>Zulli et al.</vt:lpstr>
      <vt:lpstr>Methodology</vt:lpstr>
      <vt:lpstr>Data</vt:lpstr>
      <vt:lpstr>Data</vt:lpstr>
      <vt:lpstr>Correlation Analysis</vt:lpstr>
      <vt:lpstr>Experimental Results</vt:lpstr>
      <vt:lpstr>SARS-CoV-2</vt:lpstr>
      <vt:lpstr>Influenza</vt:lpstr>
      <vt:lpstr>Influenza</vt:lpstr>
      <vt:lpstr>Norovirus</vt:lpstr>
      <vt:lpstr>Norovirus</vt:lpstr>
      <vt:lpstr>Conclusion</vt:lpstr>
      <vt:lpstr>Conclusion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28</cp:revision>
  <dcterms:created xsi:type="dcterms:W3CDTF">2026-07-03T09:13:49Z</dcterms:created>
  <dcterms:modified xsi:type="dcterms:W3CDTF">2026-07-29T15:27:18Z</dcterms:modified>
</cp:coreProperties>
</file>