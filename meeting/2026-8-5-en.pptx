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80" r:id="rId4"/>
    <p:sldId id="285" r:id="rId5"/>
    <p:sldId id="308" r:id="rId6"/>
    <p:sldId id="309" r:id="rId7"/>
    <p:sldId id="310" r:id="rId8"/>
    <p:sldId id="292" r:id="rId9"/>
    <p:sldId id="312" r:id="rId10"/>
    <p:sldId id="313" r:id="rId11"/>
    <p:sldId id="314" r:id="rId12"/>
    <p:sldId id="293" r:id="rId13"/>
    <p:sldId id="315" r:id="rId14"/>
    <p:sldId id="316" r:id="rId15"/>
    <p:sldId id="317" r:id="rId16"/>
    <p:sldId id="302" r:id="rId17"/>
    <p:sldId id="318" r:id="rId18"/>
    <p:sldId id="320" r:id="rId19"/>
    <p:sldId id="321" r:id="rId20"/>
    <p:sldId id="322" r:id="rId21"/>
    <p:sldId id="301" r:id="rId22"/>
    <p:sldId id="323" r:id="rId23"/>
    <p:sldId id="307" r:id="rId24"/>
    <p:sldId id="306" r:id="rId25"/>
    <p:sldId id="324" r:id="rId26"/>
    <p:sldId id="31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FB"/>
    <a:srgbClr val="FBF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24452-CF69-4237-B5A8-65CB9C878479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3B962-9482-4F36-8949-7CD2CA74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08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649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3076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411C8-30F3-6C38-737C-34EF8182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54BF23-4369-157A-F4D8-9C6991713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CD6B58-FD4B-340C-9C04-BA4FCD47A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8CAB5-27E8-52B4-8719-C46CEE4E4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147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E6FF9-C8BE-6D92-BF8B-8687264E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6DA2AC-5316-F925-FD74-5CB621C06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BA99F0-706C-9FE8-2CDA-1CAECFF03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768A7-A62C-AE10-590B-F29864E96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519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401E-B521-BBE4-C626-9BCFC40C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ABB743-1632-223D-420B-3EBA26390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52283-DFFE-D435-7598-F9C7DC770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DF42E3-0D79-80CF-9E72-92103648B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86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A9C11-6C4E-C1C0-CC9F-ED21CDB1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60A992-2DE6-4DBD-D269-8CAE40BBC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33CC-9325-E3B6-B36D-0C91FE142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A59CEA-470F-7647-0D48-FC212697B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993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CEE1-6987-B83F-9FBD-AE5B9058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F0C1B0-3D72-C2A4-F10E-DB35192C2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2161F0-3E7A-9712-738A-5BC6CE880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1F273-875A-F697-B810-E28085CDF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814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5AEB-193C-9778-F61D-7BADFCE9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8D435E-56C4-164B-58B7-75BDA97E1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2F3CB2-4866-9AE4-351D-5A6FB15AE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C4D376-5511-ECC4-EAED-B24630C1D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38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7513-B2E5-76BD-1139-6EB5FC90A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EE4D66-6EC6-02F9-C76E-A4094985B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DB4AF2-A89D-1122-44BD-D54AF62EC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0437C-C103-2A36-5F07-94ABE087C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970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58CB-A220-DABF-099B-1D9A0FBF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DF3413-71A2-3B4F-633B-926A5FFC9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702FEF-E059-063D-EF64-FA06937E4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C5C602-DEB5-2963-BB31-1C136359B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9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6C4B-FA98-DD04-6B2B-FACFCFD2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52F8DA-9D7C-25F8-0F81-23D7DEB9A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5F6C68-D9E7-E361-C2A3-71735DC1A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E6FCDA-464D-374D-380C-CE95C07B4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951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A2E1-85A0-A7A4-7628-395118A3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2761F5-6F77-F077-B776-2D1A5EEEAF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F30812-9A7C-6DC7-0132-FE26BF7D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C1B5AF-6DDA-FFC2-7636-4CF7E09BA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11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F2757-5C7C-3EF3-CAC8-6B1F27AE6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F57A78-F20E-848A-2E32-16EBE58CB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B4D717-4355-AFB4-5543-9682BA420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30333-7C41-5B67-D43A-C4EC374BB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733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E441-BBFF-CDBF-88EA-A45837E4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514F3C-DD90-55E1-8628-9706ED1D6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3B6293-B3F1-70F2-2CC8-1234C3DAC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761F3-867E-C6E2-2D46-D269B811B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6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959E-1549-DCCA-00DD-DEEF6B83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982602-A322-F7B9-48A8-7099255B7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ECD5A5-56C4-0A40-174F-8BEDFFB90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B46AD1-EACD-200B-AD48-AFD95521A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961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5F762-9576-0F23-54A2-DE7221FE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B362D3-73C7-4C34-B383-B32FB8710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05498-ADB2-6C9C-B893-838256CCB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F492C9-2B43-ED9C-A8C5-E326D2B35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3B962-9482-4F36-8949-7CD2CA744F3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41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7744A-4402-99CC-DC32-5E5760055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0DA9BD-97C9-549B-C9A5-8E513B070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499A38-0505-6F32-2B34-5C9AB8FB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9A6F9-A1EF-85D0-AF98-B4FA47E1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0B3DC-D8A8-522B-CDBB-1601850B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05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308C6-2200-1BE8-A651-F2E9ADA9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66297-B5FE-C571-0E95-3C332C784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5E072-A87C-E761-0325-E8939B87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D6CBEC-BE03-CFAD-61EC-3559F5B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7A57E-A558-2183-C481-AF7609AD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776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FAFCD-817F-038D-C87E-0687788E7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C1BCB9-D8E6-3E5A-A196-B631B3D5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B5C49-69B4-6CF2-47A4-A0A1D246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1A7AAE-7E7A-3E54-6F06-DB190B45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ADC36-70F5-2712-194F-EF8EA7341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24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F3166-D2C5-23F1-BD39-B4695A44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5E0BF-FE49-7014-497A-399CFCDCE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D95B59-BFD4-F0C7-0A5A-C8752546E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F97851-5092-AC4C-934E-F068EEB6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E8A40A-1FFF-74E6-3B33-8C05C5D9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6989EA-8B15-040F-1B10-2457FC0B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85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9031C-931D-6204-AD3A-DCABD46F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F15572-7F2A-2201-2724-FBEE4221E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69C4F1-0656-DCE7-E568-02E6BBBC4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7D6F6-2556-BC3E-0D70-377752224F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16BAB0-CDE7-4027-0307-8BB7F7E38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4ABFE1-8AE6-E618-B66B-AD175294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0FEE2D-4FC8-19DF-6289-EC447933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422602-B8EB-4D9F-5FE1-08EC9354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906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4795B6-BC50-C3F3-9135-DB7C5E9D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B47893E-7900-BBD2-DE1A-FE5163DD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CE6701-D0FF-6236-3E84-4EA0BB79E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D47CE2-7500-AA08-6228-AB3B8DA4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7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9BB28-86A3-4B06-DB80-A2DEDF91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1A2327-6E44-0B7D-9621-95DB1C12A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50F22-651B-C0D4-C7E5-5E2D0DD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694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87432-3606-411A-D022-FDB0BEF9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18A66-0BDD-73BC-3AD4-60B5A04C9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838A9B-E2CA-7BB3-A722-C78DEBE68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4E9FC6-0822-0AE8-68A9-3184A0C6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DC8F98-9F06-C14D-CCC0-1C43DE75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FE024C-F08E-C742-F5E5-99FB1FF1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11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4DE24-44D9-3E2C-B576-C116D5D8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D0D48D-CFC4-CECF-086F-B0CDAE0B1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C735C6-4C5E-8833-AAF3-FE2D14B83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CEAECB-C129-0DFF-B5DD-D96A37CF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6A59A1-4F9C-2698-9BA9-0B12825D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AD33CC-9B0B-DC8A-5140-2AFF9B7B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10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DEAF-27EA-D842-C18B-0C4614A0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B87D06-1FC4-7D22-0AE4-D22E5FADB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A08CC-DA1D-58C3-0B5B-A4985E2A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153A8-8F76-0066-FCB8-340630B10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57D33-D960-3D98-260E-F6DC27E8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44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D5E1CD-14AF-3CE9-3FE0-41FFBE462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8357F6-1987-BF97-F8AE-CF6877007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A48C1D-FB47-6F87-4B45-6EA3B4C9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B0B0D-28C8-BCA4-0C76-9372B245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92D779-475C-AAA4-06C7-551CAB8A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101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4E3BBA-D098-FB54-545A-507596DE2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2FDC02-6B8C-A4CB-6949-342672349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0D2EC-0DBE-0B2C-5F68-DE18CD23A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59FB7-30BC-4070-959C-2A6398D6B39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07E7BB-E456-2508-C87E-9F795BEE5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507995-F552-3869-5624-925FFCAB6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2DBF8-7993-4729-BC01-8F9D93DB5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9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596B2DFB-66B5-46E8-B762-06434D9F2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283" y="1427034"/>
            <a:ext cx="11104076" cy="21240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Utilizing Internet Search Trends and Wastewater Surveillance to Identify</a:t>
            </a:r>
            <a:b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Infectious Disease Outbreaks in Communities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F7A398E-AEC2-ADE0-5A73-378A7CA22815}"/>
              </a:ext>
            </a:extLst>
          </p:cNvPr>
          <p:cNvCxnSpPr>
            <a:cxnSpLocks/>
          </p:cNvCxnSpPr>
          <p:nvPr/>
        </p:nvCxnSpPr>
        <p:spPr>
          <a:xfrm>
            <a:off x="772646" y="3667180"/>
            <a:ext cx="10586653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50CF4B9-81E0-B10A-7CD2-C5939E944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7B4A8B-9656-BD6E-C3E2-5DDF98BD6F4C}"/>
              </a:ext>
            </a:extLst>
          </p:cNvPr>
          <p:cNvSpPr txBox="1"/>
          <p:nvPr/>
        </p:nvSpPr>
        <p:spPr>
          <a:xfrm>
            <a:off x="10158115" y="6014540"/>
            <a:ext cx="14298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latin typeface="Segoe UI Variable Small" pitchFamily="2" charset="0"/>
                <a:cs typeface="Times New Roman" panose="02020603050405020304" pitchFamily="18" charset="0"/>
              </a:rPr>
              <a:t>2026. 8.</a:t>
            </a:r>
            <a:r>
              <a:rPr lang="ko-KR" altLang="en-US" sz="1400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Segoe UI Variable Small" pitchFamily="2" charset="0"/>
                <a:cs typeface="Times New Roman" panose="02020603050405020304" pitchFamily="18" charset="0"/>
              </a:rPr>
              <a:t>5.</a:t>
            </a:r>
            <a:endParaRPr lang="ko-KR" altLang="en-US" sz="1400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54987A-B87F-7049-4750-26C19168AED0}"/>
                  </a:ext>
                </a:extLst>
              </p:cNvPr>
              <p:cNvSpPr txBox="1"/>
              <p:nvPr/>
            </p:nvSpPr>
            <p:spPr>
              <a:xfrm>
                <a:off x="772646" y="3667180"/>
                <a:ext cx="9847729" cy="561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Alessandro Zulli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∥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Zoe Zhang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ko-KR" sz="1400" i="0" dirty="0" smtClean="0">
                            <a:latin typeface="Segoe UI Variable Small" pitchFamily="2" charset="0"/>
                            <a:cs typeface="Times New Roman" panose="02020603050405020304" pitchFamily="18" charset="0"/>
                          </a:rPr>
                          <m:t>∥</m:t>
                        </m:r>
                      </m:sup>
                    </m:sSup>
                  </m:oMath>
                </a14:m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Madelena </a:t>
                </a:r>
                <a:r>
                  <a:rPr lang="en-US" altLang="ko-KR" sz="1400" dirty="0" err="1">
                    <a:latin typeface="Segoe UI Variable Small" pitchFamily="2" charset="0"/>
                    <a:cs typeface="Times New Roman" panose="02020603050405020304" pitchFamily="18" charset="0"/>
                  </a:rPr>
                  <a:t>Ruedaflores</a:t>
                </a:r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Jordan </a:t>
                </a:r>
                <a:r>
                  <a:rPr lang="en-US" altLang="ko-KR" sz="1400" dirty="0" err="1">
                    <a:latin typeface="Segoe UI Variable Small" pitchFamily="2" charset="0"/>
                    <a:cs typeface="Times New Roman" panose="02020603050405020304" pitchFamily="18" charset="0"/>
                  </a:rPr>
                  <a:t>Sahly</a:t>
                </a:r>
                <a:r>
                  <a:rPr lang="en-US" altLang="ko-KR" sz="1400" dirty="0">
                    <a:latin typeface="Segoe UI Variable Small" pitchFamily="2" charset="0"/>
                    <a:cs typeface="Times New Roman" panose="02020603050405020304" pitchFamily="18" charset="0"/>
                  </a:rPr>
                  <a:t>, Darryl Angel, Karthik Rohatgi, Waleed Malik, Ritche Hao, James Shepherd, and Jordan Peccia*</a:t>
                </a:r>
                <a:endParaRPr lang="ko-KR" altLang="en-US" sz="1400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C54987A-B87F-7049-4750-26C19168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46" y="3667180"/>
                <a:ext cx="9847729" cy="561692"/>
              </a:xfrm>
              <a:prstGeom prst="rect">
                <a:avLst/>
              </a:prstGeom>
              <a:blipFill>
                <a:blip r:embed="rId4"/>
                <a:stretch>
                  <a:fillRect l="-186" b="-97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D831668A-34B4-DF7D-48EA-556FAEC8A7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5C40E4-2128-F77D-780C-E45922E4C7B6}"/>
              </a:ext>
            </a:extLst>
          </p:cNvPr>
          <p:cNvSpPr txBox="1"/>
          <p:nvPr/>
        </p:nvSpPr>
        <p:spPr>
          <a:xfrm>
            <a:off x="698283" y="1427033"/>
            <a:ext cx="2381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Segoe UI Variable Small" pitchFamily="2" charset="0"/>
              </a:rPr>
              <a:t>Paper Review</a:t>
            </a:r>
            <a:endParaRPr lang="ko-KR" altLang="en-US" sz="1400" dirty="0">
              <a:latin typeface="Segoe UI Variable Small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E8AF23-C569-7957-AD71-6F10167D8003}"/>
              </a:ext>
            </a:extLst>
          </p:cNvPr>
          <p:cNvSpPr txBox="1"/>
          <p:nvPr/>
        </p:nvSpPr>
        <p:spPr>
          <a:xfrm>
            <a:off x="698283" y="56913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Segoe UI Variable Small" pitchFamily="2" charset="0"/>
              </a:rPr>
              <a:t>Advisor: </a:t>
            </a:r>
            <a:r>
              <a:rPr lang="en-US" altLang="ko-KR" sz="1400" dirty="0" err="1">
                <a:latin typeface="Segoe UI Variable Small" pitchFamily="2" charset="0"/>
              </a:rPr>
              <a:t>Seongchan</a:t>
            </a:r>
            <a:r>
              <a:rPr lang="en-US" altLang="ko-KR" sz="1400" dirty="0">
                <a:latin typeface="Segoe UI Variable Small" pitchFamily="2" charset="0"/>
              </a:rPr>
              <a:t> Kim</a:t>
            </a:r>
          </a:p>
          <a:p>
            <a:r>
              <a:rPr lang="en-US" altLang="ko-KR" sz="1400" dirty="0">
                <a:latin typeface="Segoe UI Variable Small" pitchFamily="2" charset="0"/>
              </a:rPr>
              <a:t>Presenter: Seo-Jin Kang</a:t>
            </a:r>
            <a:endParaRPr lang="ko-KR" altLang="en-US" sz="1400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60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Outline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338A-92E1-21B0-3B85-BCC09BFA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903E-588E-D08E-DBA4-6372BCEB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035624-5359-6BF0-04F3-B95C881E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43C3-5507-5A3A-EF85-22B8107A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EFA7A-8914-EC36-C234-245A3049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Increased Risk of Viral Infection During Outbreaks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451BA-1943-E150-033F-2EDC43C8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0B16A1F-DEBA-8020-051E-B6D0847E3A6F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1190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dirty="0">
                <a:latin typeface="Segoe UI Variable Small" pitchFamily="2" charset="0"/>
              </a:rPr>
              <a:t>The risk of viral infection is strongly associated with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en-US" altLang="ko-KR" dirty="0">
                <a:latin typeface="Segoe UI Variable Small" pitchFamily="2" charset="0"/>
              </a:rPr>
              <a:t>the proportion of infected individuals in the community.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18F0884-3203-BBD7-724C-CB792540F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311981"/>
            <a:ext cx="3189681" cy="177898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2B97805-C32E-67CE-2D0F-92F2A48CF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119" y="3311981"/>
            <a:ext cx="3189682" cy="179654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9B439D5-CA8B-963D-03EF-A42B48BDC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159" y="3473007"/>
            <a:ext cx="3189681" cy="21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A3C82-537F-CF41-1A79-FE776F07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A93C1-6A95-8BAA-BEEC-E5A4FD49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Challenges: Existing Infectious Disease Surveillance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D5B2-3856-910B-42DC-0A19C0A8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A9B40FF-72ED-B8ED-4B79-86EB00D0F737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195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dirty="0">
                <a:latin typeface="Segoe UI Variable Small" pitchFamily="2" charset="0"/>
              </a:rPr>
              <a:t>Robust clinical testing infrastructure.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Segoe UI Variable Small" pitchFamily="2" charset="0"/>
              </a:rPr>
              <a:t>Cutting-edge Wastewater-based Epidemiology.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en-US" altLang="ko-KR" dirty="0">
                <a:latin typeface="Segoe UI Variable Small" pitchFamily="2" charset="0"/>
              </a:rPr>
              <a:t>Faster than clinical.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755CE7-8F81-9BD8-DD54-17E9C08E6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911" y="3536739"/>
            <a:ext cx="3369814" cy="21818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576CEC-A4A7-08DC-A65D-405CDD014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067" y="3156341"/>
            <a:ext cx="4341172" cy="314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0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454A-B13C-0060-01CB-E591FFEC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4BCC6-453B-9BA4-F0C8-57173692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Challenges: Existing Infectious Disease Surveillance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ED938-BCF3-9D97-F947-20E98065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BDFD985-FEAE-3AED-AE75-AA41D36CB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21316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ko-KR" dirty="0">
                    <a:latin typeface="Segoe UI Variable Small" pitchFamily="2" charset="0"/>
                  </a:rPr>
                  <a:t>Despite robust clinical testing infrastructure,</a:t>
                </a:r>
                <a:br>
                  <a:rPr lang="en-US" altLang="ko-KR" b="1" dirty="0">
                    <a:solidFill>
                      <a:srgbClr val="FF0000"/>
                    </a:solidFill>
                    <a:latin typeface="Segoe UI Variable Small" pitchFamily="2" charset="0"/>
                  </a:rPr>
                </a:br>
                <a:r>
                  <a:rPr lang="en-US" altLang="ko-KR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clinical data remain limited</a:t>
                </a:r>
                <a:r>
                  <a:rPr lang="en-US" altLang="ko-KR" b="1" dirty="0">
                    <a:latin typeface="Segoe UI Variable Small" pitchFamily="2" charset="0"/>
                  </a:rPr>
                  <a:t>.</a:t>
                </a:r>
                <a:endParaRPr lang="en-US" altLang="ko-KR" dirty="0"/>
              </a:p>
              <a:p>
                <a:pPr>
                  <a:lnSpc>
                    <a:spcPct val="100000"/>
                  </a:lnSpc>
                </a:pPr>
                <a:r>
                  <a:rPr lang="en-US" altLang="ko-KR" dirty="0">
                    <a:latin typeface="Segoe UI Variable Small" pitchFamily="2" charset="0"/>
                  </a:rPr>
                  <a:t>Wastewater-Based Epidemiology,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en-US" altLang="ko-KR" b="1" dirty="0">
                    <a:solidFill>
                      <a:srgbClr val="FF0000"/>
                    </a:solidFill>
                    <a:latin typeface="Segoe UI Variable Small" pitchFamily="2" charset="0"/>
                  </a:rPr>
                  <a:t>the high cost associated with advanced technology</a:t>
                </a:r>
                <a:r>
                  <a:rPr lang="en-US" altLang="ko-KR" b="1" dirty="0">
                    <a:latin typeface="Segoe UI Variable Small" pitchFamily="2" charset="0"/>
                  </a:rPr>
                  <a:t>.</a:t>
                </a:r>
                <a:br>
                  <a:rPr lang="en-US" altLang="ko-KR" b="1" dirty="0">
                    <a:latin typeface="Segoe UI Variable Small" pitchFamily="2" charset="0"/>
                  </a:rPr>
                </a:b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b="1" dirty="0">
                    <a:latin typeface="Segoe UI Variable Small" pitchFamily="2" charset="0"/>
                  </a:rPr>
                  <a:t> not available in many parts of the world.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BDFD985-FEAE-3AED-AE75-AA41D36CB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2131607"/>
              </a:xfrm>
              <a:prstGeom prst="rect">
                <a:avLst/>
              </a:prstGeom>
              <a:blipFill>
                <a:blip r:embed="rId3"/>
                <a:stretch>
                  <a:fillRect l="-862" t="-4571" b="-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7B0D9EE-E1AB-A430-2B91-D7BB950A7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136" y="3717751"/>
            <a:ext cx="3369814" cy="218184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28A6C29-2081-609C-A27C-E3360A1D03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4392333" cy="317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94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2CE3-D69F-FE22-FFA6-32BB7B8A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54D5E-89D8-6BB2-EA94-E351F881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Solution: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Using Google Trends data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54F309-4BDB-7237-D547-6CEF5406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B4E0193E-2FD7-2860-7859-219F23DE5A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4"/>
                <a:ext cx="10613463" cy="22479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ko-KR" dirty="0">
                    <a:latin typeface="Segoe UI Variable Small" pitchFamily="2" charset="0"/>
                  </a:rPr>
                  <a:t>The systems using Google Trends data are low cost and easy to implement.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dirty="0">
                    <a:latin typeface="Segoe UI Variable Small" pitchFamily="2" charset="0"/>
                  </a:rPr>
                  <a:t>But these are often sensitive to media biases, leading to overestimations if not updated.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ko-KR" b="1" dirty="0">
                    <a:latin typeface="Segoe UI Variable Small" pitchFamily="2" charset="0"/>
                  </a:rPr>
                  <a:t>Key Challenge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B4E0193E-2FD7-2860-7859-219F23DE5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4"/>
                <a:ext cx="10613463" cy="2247901"/>
              </a:xfrm>
              <a:prstGeom prst="rect">
                <a:avLst/>
              </a:prstGeom>
              <a:blipFill>
                <a:blip r:embed="rId3"/>
                <a:stretch>
                  <a:fillRect l="-1034" t="-4607" b="-27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B1A7CE4A-509F-85E5-10D1-D7649DC9B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212" y="3696421"/>
            <a:ext cx="9227575" cy="316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2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013D0-50F5-6645-A6D0-49AABE5C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7DBF5-754E-8C3C-73E8-E2E0BE53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4E1C98-411B-885A-1845-B88E0523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30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AEBED-21D2-532B-2339-855D7919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7F4B3-CF36-3DF8-4E19-CB9A40132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Previous Works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2DF95-B3E9-6B01-91C9-B63C051B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9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80A29DF-49D1-95D3-3288-D6D27FE117BF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323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dirty="0">
                <a:latin typeface="Segoe UI Variable Small" pitchFamily="2" charset="0"/>
              </a:rPr>
              <a:t>Between search terms and total numbers of influenza.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en-US" altLang="ko-KR" b="1" dirty="0">
                <a:latin typeface="Segoe UI Variable Small" pitchFamily="2" charset="0"/>
              </a:rPr>
              <a:t>significant correlations</a:t>
            </a:r>
          </a:p>
          <a:p>
            <a:pPr lvl="0"/>
            <a:r>
              <a:rPr lang="en-US" altLang="ko-KR" dirty="0">
                <a:latin typeface="Segoe UI Variable Small" pitchFamily="2" charset="0"/>
              </a:rPr>
              <a:t>Similar studies have been performed for RSV, norovirus, and mpox that use Google Trends and other social media trends.</a:t>
            </a:r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185CA2-95F5-CDD0-6A98-CFCBD7606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80845"/>
            <a:ext cx="4394835" cy="22317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6714724-47F9-E2C4-682B-4DB909BD2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165" y="3903615"/>
            <a:ext cx="3322501" cy="1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61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EB2FA-DF23-D34A-8864-099D25BF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2C36B-D912-61C5-2128-DB57E9F1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Previous Works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A4CF7-916F-2529-F09D-A1576272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10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CEAB99A-41B5-206E-C462-9806481F2086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323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dirty="0">
                <a:latin typeface="Segoe UI Variable Small" pitchFamily="2" charset="0"/>
              </a:rPr>
              <a:t>Between search terms and total numbers of influenza.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en-US" altLang="ko-KR" b="1" dirty="0">
                <a:latin typeface="Segoe UI Variable Small" pitchFamily="2" charset="0"/>
              </a:rPr>
              <a:t>significant correlations</a:t>
            </a:r>
          </a:p>
          <a:p>
            <a:pPr lvl="0"/>
            <a:r>
              <a:rPr lang="en-US" altLang="ko-KR" dirty="0">
                <a:latin typeface="Segoe UI Variable Small" pitchFamily="2" charset="0"/>
              </a:rPr>
              <a:t>Similar studies have been performed for RSV, norovirus, and mpox that use Google Trends and other social media trends.</a:t>
            </a:r>
          </a:p>
          <a:p>
            <a:pPr lvl="0"/>
            <a:r>
              <a:rPr lang="en-US" altLang="ko-KR" b="1" dirty="0">
                <a:solidFill>
                  <a:srgbClr val="FF0000"/>
                </a:solidFill>
                <a:latin typeface="Segoe UI Variable Small" pitchFamily="2" charset="0"/>
              </a:rPr>
              <a:t>No prior studies have used wastewater </a:t>
            </a:r>
            <a:r>
              <a:rPr lang="en-US" altLang="ko-KR" dirty="0">
                <a:latin typeface="Segoe UI Variable Small" pitchFamily="2" charset="0"/>
              </a:rPr>
              <a:t>as a predictor and validation signal.</a:t>
            </a:r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022F30-3E78-E448-EB52-546FFBBB9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7067" y="3793254"/>
            <a:ext cx="4394835" cy="22317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D237BE-9C4C-15B8-3D11-BE7018835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140" y="4038794"/>
            <a:ext cx="3322501" cy="198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47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6CC6-EACD-1373-A2CA-24069480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7643B-193E-67B1-1CEA-3A1BF8EDA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Why Wastewater?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1EB30-22D0-CE78-0F3A-1338EF9D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11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46F4895-57FB-2ECB-F277-060577321380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dirty="0">
                <a:latin typeface="Segoe UI Variable Small" pitchFamily="2" charset="0"/>
              </a:rPr>
              <a:t>Provides </a:t>
            </a:r>
            <a:r>
              <a:rPr lang="en-US" altLang="ko-KR" b="1" dirty="0">
                <a:latin typeface="Segoe UI Variable Small" pitchFamily="2" charset="0"/>
              </a:rPr>
              <a:t>unbiased real-time signals</a:t>
            </a:r>
          </a:p>
          <a:p>
            <a:r>
              <a:rPr lang="en-US" altLang="ko-KR" b="1" dirty="0">
                <a:latin typeface="Segoe UI Variable Small" pitchFamily="2" charset="0"/>
              </a:rPr>
              <a:t>Quickly detects deviations </a:t>
            </a:r>
            <a:r>
              <a:rPr lang="en-US" altLang="ko-KR" dirty="0">
                <a:latin typeface="Segoe UI Variable Small" pitchFamily="2" charset="0"/>
              </a:rPr>
              <a:t>and </a:t>
            </a:r>
            <a:r>
              <a:rPr lang="en-US" altLang="ko-KR" b="1" dirty="0">
                <a:latin typeface="Segoe UI Variable Small" pitchFamily="2" charset="0"/>
              </a:rPr>
              <a:t>recalibrates</a:t>
            </a:r>
            <a:r>
              <a:rPr lang="en-US" altLang="ko-KR" dirty="0">
                <a:latin typeface="Segoe UI Variable Small" pitchFamily="2" charset="0"/>
              </a:rPr>
              <a:t> predictive models.</a:t>
            </a:r>
          </a:p>
          <a:p>
            <a:r>
              <a:rPr lang="en-US" altLang="ko-KR" dirty="0">
                <a:latin typeface="Segoe UI Variable Small" pitchFamily="2" charset="0"/>
              </a:rPr>
              <a:t>Highly </a:t>
            </a:r>
            <a:r>
              <a:rPr lang="en-US" altLang="ko-KR" b="1" dirty="0">
                <a:latin typeface="Segoe UI Variable Small" pitchFamily="2" charset="0"/>
              </a:rPr>
              <a:t>effective against poorly reported diseases </a:t>
            </a:r>
            <a:r>
              <a:rPr lang="en-US" altLang="ko-KR" dirty="0">
                <a:latin typeface="Segoe UI Variable Small" pitchFamily="2" charset="0"/>
              </a:rPr>
              <a:t>(e.g., norovirus).</a:t>
            </a:r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0BF03DC-B4DF-4EC5-787B-2B89521A9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087" y="4089980"/>
            <a:ext cx="3009901" cy="20973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03544AE-AAA0-741D-D45B-D348B1CCB3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014" y="4089980"/>
            <a:ext cx="3262124" cy="171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75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B249-CEB6-5F8B-9D4E-7CBAED44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ABB0C-2F2B-67B2-5231-2D20BBE3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55AF999-390E-61DF-8EB2-492F2A25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10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8610-FCB6-F8CE-EBEB-3B3EB918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68DE1-800E-1753-5BFB-FB317774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 Normalization: Min-Max, 0~100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4BB15-46F0-7C05-50C5-EBAA266F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13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0E1B452-9F30-312A-C5C7-6EB0C3FDE758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b="1" dirty="0">
                <a:latin typeface="Segoe UI Variable Small" pitchFamily="2" charset="0"/>
              </a:rPr>
              <a:t>Diseases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Influenza A, RSV A/B, Norovirus, Mpox.</a:t>
            </a:r>
          </a:p>
          <a:p>
            <a:r>
              <a:rPr lang="en-US" altLang="ko-KR" b="1" dirty="0">
                <a:latin typeface="Segoe UI Variable Small" pitchFamily="2" charset="0"/>
              </a:rPr>
              <a:t>Three Types of Data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Wastewater Concentrations, Clinical Cases, Google Trends.</a:t>
            </a:r>
          </a:p>
          <a:p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D2DCA1-FAD3-B8A4-B47E-830E1817C8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69" b="52179"/>
          <a:stretch>
            <a:fillRect/>
          </a:stretch>
        </p:blipFill>
        <p:spPr>
          <a:xfrm>
            <a:off x="962024" y="3619500"/>
            <a:ext cx="5133976" cy="26202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51FDFB-03E2-F024-B117-B809AD141E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447"/>
          <a:stretch>
            <a:fillRect/>
          </a:stretch>
        </p:blipFill>
        <p:spPr>
          <a:xfrm>
            <a:off x="6276977" y="3505200"/>
            <a:ext cx="5298510" cy="292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78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26B4-DFEB-5DED-B4D1-2DC1077C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8B18B0-2BE4-0D34-1EA8-095BEFF0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Data Normalization: Min-Max, 0~100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9D496-410D-9F99-B324-DEEEC9C7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14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1AEE78E-557A-C415-F1D1-9B3547FC37E9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2419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b="1" dirty="0">
                <a:latin typeface="Segoe UI Variable Small" pitchFamily="2" charset="0"/>
              </a:rPr>
              <a:t>Diseases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Influenza A, RSV A/B, Norovirus, Mpox.</a:t>
            </a:r>
          </a:p>
          <a:p>
            <a:r>
              <a:rPr lang="en-US" altLang="ko-KR" b="1" dirty="0">
                <a:latin typeface="Segoe UI Variable Small" pitchFamily="2" charset="0"/>
              </a:rPr>
              <a:t>Three Types of Data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Wastewater Concentrations, Clinical Cases, Google Trends.</a:t>
            </a:r>
          </a:p>
          <a:p>
            <a:endParaRPr lang="ko-KR" altLang="ko-KR" dirty="0">
              <a:latin typeface="Segoe UI Variable Small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131FEC-6CDA-985C-EB9E-1E59789E11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29"/>
          <a:stretch>
            <a:fillRect/>
          </a:stretch>
        </p:blipFill>
        <p:spPr>
          <a:xfrm>
            <a:off x="838202" y="3609395"/>
            <a:ext cx="10410824" cy="27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82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409A-A0A3-2B54-A238-6C387FEA2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C2C9C-1705-FE96-2596-02D142DA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Three Types of Modeling for Norovirus, Mpox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E7615E-CA65-5ACC-46C1-01BEF5EC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15</a:t>
            </a:fld>
            <a:endParaRPr lang="ko-KR" altLang="en-US" dirty="0"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D050527-A50F-C83A-1F0F-D833203ECF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400" dirty="0">
                    <a:latin typeface="Segoe UI Variable Small" pitchFamily="2" charset="0"/>
                  </a:rPr>
                  <a:t>Modeling for Norovirus, Mpox.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ko-KR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 Variable Small" pitchFamily="2" charset="0"/>
                  </a:rPr>
                  <a:t> Focusing Diseases in this Research</a:t>
                </a: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Single Term Modeling: simple linear model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How to select the only term is calculating Pearson Correlation between the term and wastewater concentrations for disease.</a:t>
                </a: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Stepwise Selection Modeling</a:t>
                </a:r>
              </a:p>
              <a:p>
                <a:pPr lvl="1"/>
                <a:r>
                  <a:rPr lang="en-US" altLang="ko-KR" dirty="0"/>
                  <a:t>Incrementally adding variables.</a:t>
                </a:r>
              </a:p>
              <a:p>
                <a:pPr lvl="1"/>
                <a:r>
                  <a:rPr lang="en-US" altLang="ko-KR" dirty="0"/>
                  <a:t>Final Model including Selected Variables.</a:t>
                </a: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Principal Components Modeling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Reducing the number of explanatory variables.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Final Model selecting a few outstanding components.</a:t>
                </a:r>
                <a:endParaRPr lang="ko-KR" altLang="ko-KR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D050527-A50F-C83A-1F0F-D833203EC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  <a:blipFill>
                <a:blip r:embed="rId3"/>
                <a:stretch>
                  <a:fillRect l="-1034" t="-2000" b="-2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21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D04C-894F-C5A9-AD78-87B836C5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C7C7D-FBB6-7B63-3F84-71BFF0E01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FFA93E-FF08-67A8-4321-8C1C69DF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14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3817-3C89-36F1-44AE-3DC47A24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02CD9D7-F258-E977-BE81-CC3F5BCDB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77" y="4290708"/>
            <a:ext cx="4966406" cy="24485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51BE03D-CAF1-06F2-EBB1-38B9A8C5A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025" y="1003709"/>
            <a:ext cx="7855975" cy="32274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6D2679E-0A1E-9A74-0313-4B315994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Single Term Modeling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191E8-B249-B0EC-37E4-3A3F661C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17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811D44D-DB2F-B42C-6B19-9D64B365459E}"/>
              </a:ext>
            </a:extLst>
          </p:cNvPr>
          <p:cNvSpPr/>
          <p:nvPr/>
        </p:nvSpPr>
        <p:spPr>
          <a:xfrm>
            <a:off x="5295335" y="1509692"/>
            <a:ext cx="561975" cy="390525"/>
          </a:xfrm>
          <a:prstGeom prst="ellipse">
            <a:avLst/>
          </a:prstGeom>
          <a:solidFill>
            <a:schemeClr val="accent1">
              <a:alpha val="0"/>
            </a:schemeClr>
          </a:solidFill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99BB41C-2F52-DE1A-60A9-7012F289D7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8172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>
                    <a:latin typeface="Segoe UI Variable Small" pitchFamily="2" charset="0"/>
                  </a:rPr>
                  <a:t>Pearson Correlation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Norovirus: </a:t>
                </a:r>
                <a:r>
                  <a:rPr lang="en-US" altLang="ko-KR" b="1" dirty="0">
                    <a:latin typeface="Segoe UI Variable Small" pitchFamily="2" charset="0"/>
                  </a:rPr>
                  <a:t>stomach bug.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Mpox: didn’t show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en-US" altLang="ko-KR" dirty="0">
                    <a:latin typeface="Segoe UI Variable Small" pitchFamily="2" charset="0"/>
                  </a:rPr>
                  <a:t>any single dominant term.</a:t>
                </a:r>
              </a:p>
              <a:p>
                <a:pPr marL="457200" lvl="1" indent="0">
                  <a:buNone/>
                </a:pPr>
                <a:endParaRPr lang="en-US" altLang="ko-KR" dirty="0">
                  <a:latin typeface="Segoe UI Variable Small" pitchFamily="2" charset="0"/>
                </a:endParaRPr>
              </a:p>
              <a:p>
                <a:pPr lvl="1"/>
                <a:endParaRPr lang="en-US" altLang="ko-KR" dirty="0">
                  <a:latin typeface="Segoe UI Variable Small" pitchFamily="2" charset="0"/>
                </a:endParaRPr>
              </a:p>
              <a:p>
                <a:r>
                  <a:rPr lang="en-US" altLang="ko-KR" b="1" dirty="0">
                    <a:latin typeface="Segoe UI Variable Small" pitchFamily="2" charset="0"/>
                  </a:rPr>
                  <a:t>Single Term Model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Shows the results of this modeling.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The predicted concentrations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en-US" altLang="ko-KR" dirty="0">
                    <a:latin typeface="Segoe UI Variable Small" pitchFamily="2" charset="0"/>
                  </a:rPr>
                  <a:t>closely matching observed values.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dirty="0">
                    <a:latin typeface="Segoe UI Variable Small" pitchFamily="2" charset="0"/>
                  </a:rPr>
                  <a:t>: 0.59,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>
                    <a:latin typeface="Segoe UI Variable Small" pitchFamily="2" charset="0"/>
                  </a:rPr>
                  <a:t> &lt; 0.001</a:t>
                </a:r>
                <a:endParaRPr lang="ko-KR" altLang="ko-KR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E99BB41C-2F52-DE1A-60A9-7012F289D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817246"/>
              </a:xfrm>
              <a:prstGeom prst="rect">
                <a:avLst/>
              </a:prstGeom>
              <a:blipFill>
                <a:blip r:embed="rId5"/>
                <a:stretch>
                  <a:fillRect l="-1034" t="-2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2573372-5FFF-8398-1DA2-6BB7DF8C0EE1}"/>
              </a:ext>
            </a:extLst>
          </p:cNvPr>
          <p:cNvSpPr txBox="1"/>
          <p:nvPr/>
        </p:nvSpPr>
        <p:spPr>
          <a:xfrm>
            <a:off x="5925041" y="697368"/>
            <a:ext cx="1114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Segoe UI Variable Small" pitchFamily="2" charset="0"/>
              </a:rPr>
              <a:t>Norovirus</a:t>
            </a:r>
            <a:endParaRPr lang="ko-KR" altLang="en-US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05A4E-2A2A-07E7-4C6F-999AD3402811}"/>
              </a:ext>
            </a:extLst>
          </p:cNvPr>
          <p:cNvSpPr txBox="1"/>
          <p:nvPr/>
        </p:nvSpPr>
        <p:spPr>
          <a:xfrm>
            <a:off x="10081627" y="697729"/>
            <a:ext cx="1114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Segoe UI Variable Small" pitchFamily="2" charset="0"/>
              </a:rPr>
              <a:t>Mpox</a:t>
            </a:r>
            <a:endParaRPr lang="ko-KR" altLang="en-US" sz="1400" b="1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00FD150-E61C-81BA-32F3-E15598CD9D8E}"/>
              </a:ext>
            </a:extLst>
          </p:cNvPr>
          <p:cNvCxnSpPr/>
          <p:nvPr/>
        </p:nvCxnSpPr>
        <p:spPr>
          <a:xfrm>
            <a:off x="4662331" y="1816282"/>
            <a:ext cx="5384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203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190C-D4C7-CA30-84F2-DBD60C68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47C2F3-817B-491C-062D-A121605F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Stepwise Selection Modeling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C6B5095-EF7E-D3C8-6481-9F0F6F91EF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>
                    <a:latin typeface="Segoe UI Variable Small" pitchFamily="2" charset="0"/>
                  </a:rPr>
                  <a:t>Stepwise Selection Modeling</a:t>
                </a:r>
              </a:p>
              <a:p>
                <a:pPr lvl="1"/>
                <a:r>
                  <a:rPr lang="en-US" altLang="ko-KR" b="1" dirty="0"/>
                  <a:t>Started with no variables </a:t>
                </a:r>
                <a:r>
                  <a:rPr lang="en-US" altLang="ko-KR" dirty="0"/>
                  <a:t>(i.e., Google Trend search terms) and tested the addition of each variable.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Norovirus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0.66,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</a:t>
                </a:r>
              </a:p>
              <a:p>
                <a:pPr lvl="2"/>
                <a:r>
                  <a:rPr lang="en-US" altLang="ko-KR" dirty="0">
                    <a:latin typeface="Segoe UI Variable Small" pitchFamily="2" charset="0"/>
                  </a:rPr>
                  <a:t>The final model included </a:t>
                </a:r>
                <a:r>
                  <a:rPr lang="en-US" altLang="ko-KR" b="1" dirty="0">
                    <a:latin typeface="Segoe UI Variable Small" pitchFamily="2" charset="0"/>
                  </a:rPr>
                  <a:t>7 variables</a:t>
                </a:r>
                <a:r>
                  <a:rPr lang="en-US" altLang="ko-KR" dirty="0">
                    <a:latin typeface="Segoe UI Variable Small" pitchFamily="2" charset="0"/>
                  </a:rPr>
                  <a:t>:</a:t>
                </a:r>
                <a:br>
                  <a:rPr lang="en-US" altLang="ko-KR" dirty="0">
                    <a:latin typeface="Segoe UI Variable Small" pitchFamily="2" charset="0"/>
                  </a:rPr>
                </a:br>
                <a:r>
                  <a:rPr lang="en-US" altLang="ko-KR" dirty="0">
                    <a:latin typeface="Segoe UI Variable Small" pitchFamily="2" charset="0"/>
                  </a:rPr>
                  <a:t>norovirus, nausea, stomach flu, stomach bug, vomiting, rotavirus, and diarrhea.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Mpox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0.60,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0.001):</a:t>
                </a:r>
                <a:r>
                  <a:rPr lang="en-US" altLang="ko-KR" sz="2000" b="1" dirty="0">
                    <a:latin typeface="Segoe UI Variable Small" pitchFamily="2" charset="0"/>
                  </a:rPr>
                  <a:t> </a:t>
                </a:r>
                <a:r>
                  <a:rPr lang="en-US" altLang="ko-KR" sz="2000" dirty="0">
                    <a:latin typeface="Segoe UI Variable Small" pitchFamily="2" charset="0"/>
                  </a:rPr>
                  <a:t>No mention.</a:t>
                </a:r>
                <a:endParaRPr lang="ko-KR" altLang="ko-KR" sz="2000" dirty="0">
                  <a:latin typeface="Segoe UI Variable Small" pitchFamily="2" charset="0"/>
                </a:endParaRP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9C6B5095-EF7E-D3C8-6481-9F0F6F91E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  <a:blipFill>
                <a:blip r:embed="rId3"/>
                <a:stretch>
                  <a:fillRect l="-1034" t="-2429" r="-5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219B689-6D45-2B41-80BE-2C77CE634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32" y="4178803"/>
            <a:ext cx="5183478" cy="2612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ECAF10-46EF-1E68-7BE3-97F3007E4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090" y="4267069"/>
            <a:ext cx="5183478" cy="242583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C1DBD4-0D18-355E-3265-1C7F3BC9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18</a:t>
            </a:fld>
            <a:endParaRPr lang="ko-KR" altLang="en-US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77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744D-9F49-0BF1-7853-E91453DA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0C93E-362D-3A3E-976F-69A14F6DA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Principal Components Modeling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97F0FA-0989-FCFA-3BEF-A7B1821B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19</a:t>
            </a:fld>
            <a:endParaRPr lang="ko-KR" altLang="en-US" dirty="0">
              <a:latin typeface="Segoe UI Variable Small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521311F7-A3EF-B73D-BCCE-40C9254559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>
                    <a:latin typeface="Segoe UI Variable Small" pitchFamily="2" charset="0"/>
                  </a:rPr>
                  <a:t>Principal Components Modeling</a:t>
                </a:r>
              </a:p>
              <a:p>
                <a:pPr lvl="1"/>
                <a:r>
                  <a:rPr lang="en-US" altLang="ko-KR" dirty="0">
                    <a:latin typeface="Segoe UI Variable Small" pitchFamily="2" charset="0"/>
                  </a:rPr>
                  <a:t>Reducing the number of explanatory variables.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Norovirus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0.59,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</a:t>
                </a:r>
              </a:p>
              <a:p>
                <a:pPr lvl="2"/>
                <a:r>
                  <a:rPr lang="en-US" altLang="ko-KR" dirty="0">
                    <a:latin typeface="Segoe UI Variable Small" pitchFamily="2" charset="0"/>
                  </a:rPr>
                  <a:t>Using the first 2 principal components.</a:t>
                </a:r>
              </a:p>
              <a:p>
                <a:pPr lvl="1"/>
                <a:r>
                  <a:rPr lang="en-US" altLang="ko-KR" b="1" dirty="0">
                    <a:latin typeface="Segoe UI Variable Small" pitchFamily="2" charset="0"/>
                  </a:rPr>
                  <a:t>Mpox </a:t>
                </a:r>
                <a:r>
                  <a:rPr lang="en-US" altLang="ko-KR" sz="2000" dirty="0">
                    <a:latin typeface="Segoe UI Variable Small" pitchFamily="2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: 0.44, </a:t>
                </a:r>
                <a14:m>
                  <m:oMath xmlns:m="http://schemas.openxmlformats.org/officeDocument/2006/math">
                    <m:r>
                      <a:rPr lang="en-US" altLang="ko-KR" sz="20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>
                    <a:latin typeface="Segoe UI Variable Small" pitchFamily="2" charset="0"/>
                  </a:rPr>
                  <a:t> &lt; 0.001)</a:t>
                </a:r>
              </a:p>
              <a:p>
                <a:pPr lvl="2"/>
                <a:r>
                  <a:rPr lang="en-US" altLang="ko-KR" dirty="0">
                    <a:latin typeface="Segoe UI Variable Small" pitchFamily="2" charset="0"/>
                  </a:rPr>
                  <a:t>Missed peaks in August and September.</a:t>
                </a:r>
              </a:p>
              <a:p>
                <a:pPr lvl="2"/>
                <a:r>
                  <a:rPr lang="en-US" altLang="ko-KR" dirty="0">
                    <a:latin typeface="Segoe UI Variable Small" pitchFamily="2" charset="0"/>
                  </a:rPr>
                  <a:t>This may be due to a potential initial media bias in Google Search trends.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521311F7-A3EF-B73D-BCCE-40C925455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336" y="1343025"/>
                <a:ext cx="10613463" cy="4267200"/>
              </a:xfrm>
              <a:prstGeom prst="rect">
                <a:avLst/>
              </a:prstGeom>
              <a:blipFill>
                <a:blip r:embed="rId3"/>
                <a:stretch>
                  <a:fillRect l="-1034" t="-2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D142358B-6552-D01A-EF57-69392D9B8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1" y="4135458"/>
            <a:ext cx="4826000" cy="24367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C5F526D-76D9-1194-C147-E55F2D476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067" y="4338002"/>
            <a:ext cx="4677329" cy="220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15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50CE-6EB5-720D-E048-BD57DC56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6078BA4A-3938-DF5A-FF3C-76713328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904" y="1761545"/>
            <a:ext cx="7442096" cy="49072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82B575-2271-8004-A520-AEBAD0ED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Application: Prior Foodborne Outbreak of Norovirus GII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7F611D-EDD0-1333-01D5-A6760634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20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50D228E-BE03-A9DE-ED46-8706FC4A90FE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Segoe UI Variable Small" pitchFamily="2" charset="0"/>
              </a:rPr>
              <a:t>PC Model &amp; SS Model identify this acute outbreak event.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Mainly based on the</a:t>
            </a:r>
            <a:br>
              <a:rPr lang="en-US" altLang="ko-KR" dirty="0">
                <a:latin typeface="Segoe UI Variable Small" pitchFamily="2" charset="0"/>
              </a:rPr>
            </a:br>
            <a:r>
              <a:rPr lang="en-US" altLang="ko-KR" dirty="0">
                <a:latin typeface="Segoe UI Variable Small" pitchFamily="2" charset="0"/>
              </a:rPr>
              <a:t>“stomach bug”.</a:t>
            </a:r>
          </a:p>
        </p:txBody>
      </p:sp>
    </p:spTree>
    <p:extLst>
      <p:ext uri="{BB962C8B-B14F-4D97-AF65-F5344CB8AC3E}">
        <p14:creationId xmlns:p14="http://schemas.microsoft.com/office/powerpoint/2010/main" val="2235607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E1F1-4E0B-B536-BC22-F0DFB17F8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CB44B-1B2C-EDFB-8E5B-6E1E6D30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7E56F4B-BFB3-86D5-4E6F-0E844217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148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665F-3FEE-9B50-9D06-0CD833A5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1883D-A2D3-AFFB-C5E3-D1C98ED74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46" y="285752"/>
            <a:ext cx="11825754" cy="729668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Conclusion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0A381-703A-6D45-0ADA-F35CDBD9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>
                <a:latin typeface="Segoe UI Variable Small" pitchFamily="2" charset="0"/>
              </a:rPr>
              <a:t>22</a:t>
            </a:fld>
            <a:endParaRPr lang="ko-KR" altLang="en-US" dirty="0">
              <a:latin typeface="Segoe UI Variable Small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FD718F9-4D1D-77CF-C89D-D623AD32BF0F}"/>
              </a:ext>
            </a:extLst>
          </p:cNvPr>
          <p:cNvSpPr txBox="1">
            <a:spLocks/>
          </p:cNvSpPr>
          <p:nvPr/>
        </p:nvSpPr>
        <p:spPr>
          <a:xfrm>
            <a:off x="740336" y="1343025"/>
            <a:ext cx="10613463" cy="426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ko-KR" b="1" dirty="0">
                <a:latin typeface="Segoe UI Variable Small" pitchFamily="2" charset="0"/>
              </a:rPr>
              <a:t>Benefits of Google Trends Model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Provides </a:t>
            </a:r>
            <a:r>
              <a:rPr lang="en-US" altLang="ko-KR" b="1" dirty="0">
                <a:latin typeface="Segoe UI Variable Small" pitchFamily="2" charset="0"/>
              </a:rPr>
              <a:t>faster notification </a:t>
            </a:r>
            <a:r>
              <a:rPr lang="en-US" altLang="ko-KR" dirty="0">
                <a:latin typeface="Segoe UI Variable Small" pitchFamily="2" charset="0"/>
              </a:rPr>
              <a:t>than clinical case data.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Enables </a:t>
            </a:r>
            <a:r>
              <a:rPr lang="en-US" altLang="ko-KR" b="1" dirty="0">
                <a:latin typeface="Segoe UI Variable Small" pitchFamily="2" charset="0"/>
              </a:rPr>
              <a:t>early</a:t>
            </a:r>
            <a:r>
              <a:rPr lang="en-US" altLang="ko-KR" dirty="0">
                <a:latin typeface="Segoe UI Variable Small" pitchFamily="2" charset="0"/>
              </a:rPr>
              <a:t> nonpharmaceutical interventions </a:t>
            </a:r>
            <a:r>
              <a:rPr lang="en-US" altLang="ko-KR" b="1" dirty="0">
                <a:latin typeface="Segoe UI Variable Small" pitchFamily="2" charset="0"/>
              </a:rPr>
              <a:t>to prevent disease spread.</a:t>
            </a:r>
          </a:p>
          <a:p>
            <a:pPr lvl="0"/>
            <a:r>
              <a:rPr lang="en-US" altLang="ko-KR" b="1" dirty="0">
                <a:latin typeface="Segoe UI Variable Small" pitchFamily="2" charset="0"/>
              </a:rPr>
              <a:t>Future Challenge</a:t>
            </a:r>
          </a:p>
          <a:p>
            <a:pPr lvl="1"/>
            <a:r>
              <a:rPr lang="en-US" altLang="ko-KR" b="1" dirty="0">
                <a:latin typeface="Segoe UI Variable Small" pitchFamily="2" charset="0"/>
              </a:rPr>
              <a:t>Needs further validation and refinement </a:t>
            </a:r>
            <a:r>
              <a:rPr lang="en-US" altLang="ko-KR" dirty="0">
                <a:latin typeface="Segoe UI Variable Small" pitchFamily="2" charset="0"/>
              </a:rPr>
              <a:t>for diseases with limited clinical surveillance.</a:t>
            </a:r>
          </a:p>
          <a:p>
            <a:pPr lvl="0"/>
            <a:r>
              <a:rPr lang="en-US" altLang="ko-KR" b="1" dirty="0">
                <a:latin typeface="Segoe UI Variable Small" pitchFamily="2" charset="0"/>
              </a:rPr>
              <a:t>Role of Wastewater Surveillance</a:t>
            </a:r>
          </a:p>
          <a:p>
            <a:pPr lvl="1"/>
            <a:r>
              <a:rPr lang="en-US" altLang="ko-KR" b="1" dirty="0">
                <a:latin typeface="Segoe UI Variable Small" pitchFamily="2" charset="0"/>
              </a:rPr>
              <a:t>Addresses the validation gap </a:t>
            </a:r>
            <a:r>
              <a:rPr lang="en-US" altLang="ko-KR" dirty="0">
                <a:latin typeface="Segoe UI Variable Small" pitchFamily="2" charset="0"/>
              </a:rPr>
              <a:t>through environmental surveillance.</a:t>
            </a:r>
          </a:p>
          <a:p>
            <a:pPr lvl="1"/>
            <a:r>
              <a:rPr lang="en-US" altLang="ko-KR" dirty="0">
                <a:latin typeface="Segoe UI Variable Small" pitchFamily="2" charset="0"/>
              </a:rPr>
              <a:t>Validates predictive models even </a:t>
            </a:r>
            <a:r>
              <a:rPr lang="en-US" altLang="ko-KR" b="1" dirty="0">
                <a:latin typeface="Segoe UI Variable Small" pitchFamily="2" charset="0"/>
              </a:rPr>
              <a:t>without expansive clinical testing</a:t>
            </a:r>
            <a:r>
              <a:rPr lang="en-US" altLang="ko-KR" dirty="0">
                <a:latin typeface="Segoe UI Variable Small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7871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6C9F4-71C2-86DA-C2EF-29E982FC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044BD-983B-9D95-E64D-F2A1E9D1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0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Reference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6CB4C-6F28-8C83-6317-2FF35382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5FEF3BB-FE2B-C4F6-BBFB-79458157FF69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039C530-49B6-3CD2-E598-7E3CF884F0B8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Segoe UI Variable Small" pitchFamily="2" charset="0"/>
                <a:cs typeface="Times New Roman" panose="02020603050405020304" pitchFamily="18" charset="0"/>
              </a:rPr>
              <a:t>Image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https://www.sciencenews.org/article/double-mask-fit-reduce-coronavirus-exposure-covid-19-pandemic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https://www.dongascience.com/ko/news/76408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https://www.antidote.me/blog/curious-about-clinical-studies-heres-what-you-can-expect-as-a-participant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https://pubs.acs.org/esthag/article-abstract/54/13/7754/1416684/Wastewater-Based-Epidemiology-Global-Collaborative?redirectedFrom=fulltext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https://www.magnific.com/kr/free-photos-vectors/%ED%95%98%EC%88%98-%EC%B2%98%EB%A6%AC%EC%9E%A5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Segoe UI Variable Small" pitchFamily="2" charset="0"/>
                <a:cs typeface="Times New Roman" panose="02020603050405020304" pitchFamily="18" charset="0"/>
              </a:rPr>
              <a:t>https://staedean.com/data/blog/signs-bad-data-quality-data-governance</a:t>
            </a:r>
          </a:p>
          <a:p>
            <a:pPr>
              <a:lnSpc>
                <a:spcPct val="100000"/>
              </a:lnSpc>
            </a:pPr>
            <a:r>
              <a:rPr lang="en-US" altLang="ko-KR" sz="1600" dirty="0">
                <a:latin typeface="Segoe UI Variable Small" pitchFamily="2" charset="0"/>
                <a:cs typeface="Times New Roman" panose="02020603050405020304" pitchFamily="18" charset="0"/>
              </a:rPr>
              <a:t>Utilizing Internet Search Trends and Wastewater Surveillance to Identify Infectious Disease Outbreaks in Communities</a:t>
            </a:r>
          </a:p>
          <a:p>
            <a:pPr lvl="1">
              <a:lnSpc>
                <a:spcPct val="100000"/>
              </a:lnSpc>
            </a:pPr>
            <a:endParaRPr lang="en-US" altLang="ko-KR" sz="1200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200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200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902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1FA7-4051-EB8E-0A7A-D443BCDA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3A865-E3CB-73BC-7116-E3C4C6DBD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Thank You.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5C9E0B-7BBE-75E8-73F5-15DB43EB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53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3276-E507-796F-632E-483BD3DD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FCE51-5178-7023-D503-69320EED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0"/>
            <a:ext cx="11928049" cy="1131815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발표 코멘트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48637-481E-9D43-A985-1680FA22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0D8F2A-3248-2FB9-FE8E-E45D3E9B1BD3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B3BF1B7-6AFA-2259-757C-0CB0E0DC1E09}"/>
              </a:ext>
            </a:extLst>
          </p:cNvPr>
          <p:cNvSpPr txBox="1">
            <a:spLocks/>
          </p:cNvSpPr>
          <p:nvPr/>
        </p:nvSpPr>
        <p:spPr>
          <a:xfrm>
            <a:off x="740336" y="1343024"/>
            <a:ext cx="10613463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/>
              <a:t>감염병별 키워드는 매우 복잡하다</a:t>
            </a:r>
            <a:r>
              <a:rPr lang="en-US" altLang="ko-KR" sz="2000" dirty="0"/>
              <a:t>. (</a:t>
            </a:r>
            <a:r>
              <a:rPr lang="ko-KR" altLang="en-US" sz="2000" dirty="0"/>
              <a:t>선정</a:t>
            </a:r>
            <a:r>
              <a:rPr lang="en-US" altLang="ko-KR" sz="2000" dirty="0"/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/>
              <a:t>그래프 잘 보이게</a:t>
            </a:r>
            <a:r>
              <a:rPr lang="en-US" altLang="ko-KR" sz="2000" dirty="0"/>
              <a:t>, Ahead </a:t>
            </a:r>
            <a:r>
              <a:rPr lang="ko-KR" altLang="en-US" sz="2000" dirty="0"/>
              <a:t>시간 순서 조정</a:t>
            </a:r>
            <a:r>
              <a:rPr lang="en-US" altLang="ko-KR" sz="2000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/>
              <a:t>데이터 정규화 후 결과 </a:t>
            </a:r>
            <a:r>
              <a:rPr lang="ko-KR" altLang="en-US" sz="2000" dirty="0" err="1"/>
              <a:t>재추출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1616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4C5D-EB1B-1AB9-CE2D-184ACBB6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7E9C7-A5ED-C248-649D-C09E3C36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0"/>
            <a:ext cx="11928049" cy="1131815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논문 제출 리스트업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EA63D9-21F3-5DFB-A3EC-11C09160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0F9C4B1-FCA5-BE22-AAE7-BBABED0F465B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20C2FCC-C560-3D5D-9755-C01C2391D771}"/>
              </a:ext>
            </a:extLst>
          </p:cNvPr>
          <p:cNvSpPr txBox="1">
            <a:spLocks/>
          </p:cNvSpPr>
          <p:nvPr/>
        </p:nvSpPr>
        <p:spPr>
          <a:xfrm>
            <a:off x="740336" y="1343024"/>
            <a:ext cx="10613463" cy="4486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/>
              <a:t>CONFERENCE</a:t>
            </a:r>
          </a:p>
          <a:p>
            <a:r>
              <a:rPr lang="en-US" altLang="ko-KR" sz="1400" b="1" dirty="0"/>
              <a:t>WSDM 2027</a:t>
            </a:r>
          </a:p>
          <a:p>
            <a:r>
              <a:rPr lang="en-US" altLang="ko-KR" sz="1400" dirty="0"/>
              <a:t>https://wsdm-conference.org/2027/index.html</a:t>
            </a:r>
          </a:p>
          <a:p>
            <a:r>
              <a:rPr lang="en-US" altLang="ko-KR" sz="1400" dirty="0"/>
              <a:t>Aug. 17, 2026, Abstract Deadline</a:t>
            </a:r>
          </a:p>
          <a:p>
            <a:pPr marL="0" indent="0">
              <a:buNone/>
            </a:pPr>
            <a:endParaRPr lang="ko-KR" altLang="en-US" sz="1400" dirty="0"/>
          </a:p>
          <a:p>
            <a:r>
              <a:rPr lang="en-US" altLang="ko-KR" sz="1400" b="1" dirty="0"/>
              <a:t>IEEE </a:t>
            </a:r>
            <a:r>
              <a:rPr lang="en-US" altLang="ko-KR" sz="1400" b="1" dirty="0" err="1"/>
              <a:t>BigData</a:t>
            </a:r>
            <a:r>
              <a:rPr lang="en-US" altLang="ko-KR" sz="1400" b="1" dirty="0"/>
              <a:t> 2026</a:t>
            </a:r>
          </a:p>
          <a:p>
            <a:r>
              <a:rPr lang="en-US" altLang="ko-KR" sz="1400" dirty="0"/>
              <a:t>https://bigdataieee.org/BigData2026/important-dates/</a:t>
            </a:r>
          </a:p>
          <a:p>
            <a:r>
              <a:rPr lang="ko-KR" altLang="ko-KR" sz="1400" dirty="0" err="1"/>
              <a:t>Aug</a:t>
            </a:r>
            <a:r>
              <a:rPr lang="ko-KR" altLang="ko-KR" sz="1400" dirty="0"/>
              <a:t>. 21, 2026</a:t>
            </a:r>
            <a:r>
              <a:rPr lang="en-US" altLang="ko-KR" sz="1400" dirty="0"/>
              <a:t>, Full Paper</a:t>
            </a:r>
          </a:p>
          <a:p>
            <a:endParaRPr lang="ko-KR" altLang="en-US" sz="1400" dirty="0"/>
          </a:p>
          <a:p>
            <a:r>
              <a:rPr lang="en-US" altLang="ko-KR" sz="1400" b="1" dirty="0"/>
              <a:t>SC 2026</a:t>
            </a:r>
          </a:p>
          <a:p>
            <a:r>
              <a:rPr lang="en-US" altLang="ko-KR" sz="1400" dirty="0"/>
              <a:t>https://sc26.supercomputing.org/all-dates-deadlines/</a:t>
            </a:r>
          </a:p>
          <a:p>
            <a:endParaRPr lang="ko-KR" altLang="en-US" sz="2000" dirty="0"/>
          </a:p>
          <a:p>
            <a:pPr marL="0" indent="0">
              <a:buNone/>
            </a:pPr>
            <a:r>
              <a:rPr lang="en-US" altLang="ko-KR" sz="2000" b="1" dirty="0"/>
              <a:t>JOUNRAL</a:t>
            </a:r>
          </a:p>
          <a:p>
            <a:r>
              <a:rPr lang="en-US" altLang="ko-KR" sz="1400" b="1" dirty="0"/>
              <a:t>JMIR</a:t>
            </a:r>
          </a:p>
          <a:p>
            <a:r>
              <a:rPr lang="en-US" altLang="ko-KR" sz="1400" dirty="0"/>
              <a:t>https://www.jmir.org/</a:t>
            </a:r>
          </a:p>
        </p:txBody>
      </p:sp>
    </p:spTree>
    <p:extLst>
      <p:ext uri="{BB962C8B-B14F-4D97-AF65-F5344CB8AC3E}">
        <p14:creationId xmlns:p14="http://schemas.microsoft.com/office/powerpoint/2010/main" val="367780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981</Words>
  <Application>Microsoft Office PowerPoint</Application>
  <PresentationFormat>와이드스크린</PresentationFormat>
  <Paragraphs>169</Paragraphs>
  <Slides>26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Cambria Math</vt:lpstr>
      <vt:lpstr>Segoe UI Variable Small</vt:lpstr>
      <vt:lpstr>Office 테마</vt:lpstr>
      <vt:lpstr>Utilizing Internet Search Trends and Wastewater Surveillance to Identify Infectious Disease Outbreaks in Communities</vt:lpstr>
      <vt:lpstr>Outline</vt:lpstr>
      <vt:lpstr>Introduction</vt:lpstr>
      <vt:lpstr>Increased Risk of Viral Infection During Outbreaks</vt:lpstr>
      <vt:lpstr>Challenges: Existing Infectious Disease Surveillance</vt:lpstr>
      <vt:lpstr>Challenges: Existing Infectious Disease Surveillance</vt:lpstr>
      <vt:lpstr>Solution: Using Google Trends data</vt:lpstr>
      <vt:lpstr>Related Works</vt:lpstr>
      <vt:lpstr>Previous Works</vt:lpstr>
      <vt:lpstr>Previous Works</vt:lpstr>
      <vt:lpstr>Why Wastewater?</vt:lpstr>
      <vt:lpstr>Method</vt:lpstr>
      <vt:lpstr>Data Normalization: Min-Max, 0~100</vt:lpstr>
      <vt:lpstr>Data Normalization: Min-Max, 0~100</vt:lpstr>
      <vt:lpstr>Three Types of Modeling for Norovirus, Mpox</vt:lpstr>
      <vt:lpstr>Experimental Results</vt:lpstr>
      <vt:lpstr>Single Term Modeling</vt:lpstr>
      <vt:lpstr>Stepwise Selection Modeling</vt:lpstr>
      <vt:lpstr>Principal Components Modeling</vt:lpstr>
      <vt:lpstr>Application: Prior Foodborne Outbreak of Norovirus GII</vt:lpstr>
      <vt:lpstr>Conclusion</vt:lpstr>
      <vt:lpstr>Conclusion</vt:lpstr>
      <vt:lpstr>Reference</vt:lpstr>
      <vt:lpstr>Thank You.</vt:lpstr>
      <vt:lpstr>발표 코멘트</vt:lpstr>
      <vt:lpstr>논문 제출 리스트업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11</cp:revision>
  <dcterms:created xsi:type="dcterms:W3CDTF">2026-08-02T09:21:13Z</dcterms:created>
  <dcterms:modified xsi:type="dcterms:W3CDTF">2026-08-05T10:57:16Z</dcterms:modified>
</cp:coreProperties>
</file>