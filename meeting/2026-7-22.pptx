
<file path=[Content_Types].xml><?xml version="1.0" encoding="utf-8"?>
<Types xmlns="http://schemas.openxmlformats.org/package/2006/content-types">
  <Default Extension="jpeg" ContentType="image/jpeg"/>
  <Default Extension="KFbSAOsr-tW90Kk8Ul9FiVaD0xofuBWHUTnO6q0OoOgdsc8pzKII_Ou0AumwNTbZDLTAkdaWFqrGSdkzQeLBPw&amp;response-cache-control=public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7" r:id="rId2"/>
    <p:sldId id="258" r:id="rId3"/>
    <p:sldId id="311" r:id="rId4"/>
    <p:sldId id="312" r:id="rId5"/>
    <p:sldId id="313" r:id="rId6"/>
    <p:sldId id="314" r:id="rId7"/>
    <p:sldId id="277" r:id="rId8"/>
    <p:sldId id="309" r:id="rId9"/>
    <p:sldId id="310" r:id="rId10"/>
    <p:sldId id="292" r:id="rId11"/>
    <p:sldId id="281" r:id="rId12"/>
    <p:sldId id="284" r:id="rId13"/>
    <p:sldId id="287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4" r:id="rId22"/>
    <p:sldId id="305" r:id="rId23"/>
    <p:sldId id="306" r:id="rId24"/>
    <p:sldId id="307" r:id="rId25"/>
    <p:sldId id="265" r:id="rId26"/>
    <p:sldId id="276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84" autoAdjust="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5872F-D8E6-4376-85E7-8E0BE66BD76B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9DBCA-738F-45AD-B1D5-0651DCA924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9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174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968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75E50-E121-B746-AC44-16DC3EC9A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4BC4CD-CA89-1251-3572-5606EEDF0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9D2029-BCE8-9C86-CDB8-EECF4089E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BE217E-4931-D644-3704-2AD44AC74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448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FE024-5D48-C60C-D88B-53DA780D2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699F5-F2BC-7E86-DB9B-957F02F49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093381-4B81-FC2D-A9CF-45AF2093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11B6B-B3A5-4681-B069-0930B2E9C66D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F8858-D393-9D6A-82F2-1AE4E1E0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3F02EA-5113-923D-FAD1-A40610AFC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73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0D5D5-4101-DA56-ED4B-BC203986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CA382-DE4C-3AF7-9815-2CC51DBE6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327E2F-827A-1D3F-0E16-D7052D53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9EF5-6D34-4524-AC8C-23C4BD746617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4739F8-A319-311E-2F0F-09A8C6E6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3C2162-EFFD-200A-F1C1-912FAFFE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60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C1114-1FF5-E637-361F-772CC3B0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FBB6F5-E57C-ABEE-9A39-0B4544EA1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25442-8996-638A-1769-ACCAAA13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55E96-8569-4028-A024-39AF353DC455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2C807-6F82-A15B-A00C-552E2565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41B9BC-2C7A-43B3-BFA4-45094D37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9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3AC28-4B39-3B0E-2D56-A5A299DF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D4F61-9914-6FE1-F564-988DFE83A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E46CDF-4BA0-81B9-76F0-F62076A40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6AF448-1EBA-8A79-12BE-A4442DFBB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4EDC-7878-4CBA-A4CC-810471BFCE4E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BDF8FE-AB59-D53C-004D-854B4330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7CC34F-86F6-ADDD-A54A-8B8A423B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6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66E92-C521-19E3-0C56-60438D81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0EE006-008D-A109-F2DB-81E8DF56F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B5330E-BB4E-2039-2E80-94162918D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C39A94-87EE-0B5C-5483-72B48A7E5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0430ED-962E-D416-32EB-CEDBB6F24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AF16F2-4443-1FD2-F497-011309CF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5E517-9A32-4B00-810C-24D0935D3CA4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E34A60-7169-9094-5433-32D0BCCA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79D0453-0517-8F75-58CA-00C55209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77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A7B4A-ED11-2942-6C3C-B7F82338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B72845-1856-8B67-75BF-08804847D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CADE-41C4-41D7-8A6C-C8521C341E19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7A5A44-338D-2E0B-D018-509F6DFA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CA93D6-A7AD-D07D-3649-58593A8D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87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D2B586-25D8-7945-2DE2-6506D8847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C2F52-0B74-434F-825D-2594E8957160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24AC61-4C89-95DF-F019-7F4848283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56A90-B6F6-E6E9-C022-1346435A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81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901ED-6E81-111E-9DF6-17A29F9B3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19B601-D96F-7169-307F-726FEA7E5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D1B1AF-E00C-823E-AF03-D9C090593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AFBB6B-C925-ECED-0946-0DA29FB20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3B00-CAE1-4D6A-A760-9C0B5BD1D7E4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16F16A-3058-5EA7-E0A9-9AAB3A32C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B36AD1-6D43-4AA0-E15D-C3BE87EE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86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319C9-BCC8-5D4A-2B27-8DBF32BD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5259AB-C17E-1E5D-0AAC-3EF048DB3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CB3C06-F9CD-43EC-0BD3-BD31FD076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9BE135-A847-9399-8ABD-D1902C5BB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885D3-B783-4B9B-8D89-64FEE799EDE4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FC813E-00FB-91F1-ACA4-1CD31DA5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EE87F2-5EAC-D696-885E-541CC9D3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81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5AA1B-2BCA-FF97-07A8-220DF524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E1D85A-70E4-A271-758C-2DE9F2221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155D5-7544-1BA3-650A-9BC4C968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A01D-2631-421E-B45D-7172839BF98D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C32AF-1DF0-ACB2-E6F8-A6DF58ED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F6DB62-CEEA-9562-7C2D-F2AA5558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40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A3DBE5-40CA-2631-DFAC-9E1071A92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864FFE-7AE9-7310-26AD-DF1217884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9A6FB4-57C9-9EDE-C0A5-CC1AA42D7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C288-609C-4775-89D0-D87D2656BA3B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49B39-3E29-DCE8-771F-E9FD5D5E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DC9DE7-2C29-8E60-7F1E-54EF1260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12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AC1BBA-9F43-9881-65E3-10AE0651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0EC44E-013C-C495-82E1-C2AA56417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FF63C0-829E-217B-AEC3-EE9A66619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9D3BE-D6F2-4D9B-9032-30F3C513E17E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26AF4B-A809-3C54-2FA1-020C94EB8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70BD93-4D9C-A538-FEA9-348D7CA1D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01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0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KFbSAOsr-tW90Kk8Ul9FiVaD0xofuBWHUTnO6q0OoOgdsc8pzKII_Ou0AumwNTbZDLTAkdaWFqrGSdkzQeLBPw&amp;response-cache-control=public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6488AA-510F-DCB1-8BFB-176195E940A6}"/>
              </a:ext>
            </a:extLst>
          </p:cNvPr>
          <p:cNvSpPr txBox="1"/>
          <p:nvPr/>
        </p:nvSpPr>
        <p:spPr>
          <a:xfrm>
            <a:off x="604015" y="5967091"/>
            <a:ext cx="2876150" cy="4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학생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강서진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A4E972B-3437-24CA-81C5-3C9178A85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015" y="1964362"/>
            <a:ext cx="10159235" cy="2124075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진행사항 보고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D00E97C-BAC9-2F9A-6244-0BF79AAA073C}"/>
              </a:ext>
            </a:extLst>
          </p:cNvPr>
          <p:cNvCxnSpPr/>
          <p:nvPr/>
        </p:nvCxnSpPr>
        <p:spPr>
          <a:xfrm>
            <a:off x="678378" y="4204508"/>
            <a:ext cx="9720000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74984EA7-0D6F-1540-BACD-13A41E344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695" y="204458"/>
            <a:ext cx="2603686" cy="595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CF0A89-D5DF-88EA-78E8-F622DA7FA90F}"/>
              </a:ext>
            </a:extLst>
          </p:cNvPr>
          <p:cNvSpPr txBox="1"/>
          <p:nvPr/>
        </p:nvSpPr>
        <p:spPr>
          <a:xfrm>
            <a:off x="10158115" y="6014540"/>
            <a:ext cx="142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2026. 7.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22.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67962-551A-ABD9-AF22-68E0C1FDAACB}"/>
              </a:ext>
            </a:extLst>
          </p:cNvPr>
          <p:cNvSpPr txBox="1"/>
          <p:nvPr/>
        </p:nvSpPr>
        <p:spPr>
          <a:xfrm>
            <a:off x="604015" y="5633561"/>
            <a:ext cx="2876150" cy="4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지도교수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김성찬 교수님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DA7415-3F62-A0B0-6F44-77BB9EDAB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01" y="152400"/>
            <a:ext cx="2878648" cy="5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2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0FC69-2C96-4827-DCAB-E433AFE4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45FAB-07CB-0C57-A0D0-DECC0A90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피어슨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상관관계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논문 결제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93FA1-0C81-9A18-59C3-C2BCBFBA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</a:t>
            </a:fld>
            <a:r>
              <a:rPr lang="en-US" altLang="ko-KR" dirty="0"/>
              <a:t>/20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25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EA5DE-37B1-3FC0-076B-CFA8A9E6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5B296-D519-2287-E791-2D57E5DC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1. </a:t>
            </a:r>
            <a:r>
              <a:rPr lang="ko-KR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피어슨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 상관관계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CFFCD9-2ED3-3F8C-E3F0-F08BDFB78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1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F8F4E-E9E0-BABD-49BC-FE727362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05743E-0522-04F7-62F4-C9A5F4EAA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코로나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DC52FD-B659-57F1-090D-3BC52986C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A8D2B98-B5DD-183A-2044-140FBBDB6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901" y="1599182"/>
            <a:ext cx="6464899" cy="4848674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D7B80C8-5864-031F-72F2-535B20EE4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209" cy="466725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>
                <a:latin typeface="times new"/>
                <a:cs typeface="Times New Roman" panose="02020603050405020304" pitchFamily="18" charset="0"/>
              </a:rPr>
              <a:t>결과</a:t>
            </a:r>
            <a:endParaRPr lang="en-US" altLang="ko-KR" sz="2000" b="1">
              <a:latin typeface="times new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2000" b="1" dirty="0">
              <a:latin typeface="times new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351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6988D-4FC7-14BC-AF85-E7BA4D3FB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2C20F-7EF1-8BC8-3013-CB36170A1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인플루엔자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A9FA9F-163A-E5D5-E6F5-8844E078E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047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F79BA-7573-8A01-C115-2BB8DE728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97AC3-6F1E-BAF0-9152-462F021B4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노로바이러스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0A4A75-91C9-1A66-0C3A-E0C6EEEE4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034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D857F-500D-4E41-FF81-04C6D8B6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BC8A0-7CF9-775D-0CC5-D02D3D5F0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1.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지역별 </a:t>
            </a:r>
            <a:r>
              <a:rPr lang="ko-KR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검색량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 데이터 검증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F8CF7A1-606F-6D0C-FB60-30C4DF76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916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B6A0B-ED2D-D907-6655-47457734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32F8B9-8776-E7A8-7493-8B5E1B191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664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전국적 주별 절대값 </a:t>
            </a:r>
            <a: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A(</a:t>
            </a:r>
            <a:r>
              <a:rPr lang="ko-K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월별 절대값</a:t>
            </a:r>
            <a: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주별 </a:t>
            </a:r>
            <a:r>
              <a:rPr lang="ko-KR" alt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상대값</a:t>
            </a:r>
            <a: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816735-721B-2DB2-2BB7-EC557FD4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B4708F-72F9-1F77-2106-8D0E89FC61D3}"/>
              </a:ext>
            </a:extLst>
          </p:cNvPr>
          <p:cNvSpPr txBox="1"/>
          <p:nvPr/>
        </p:nvSpPr>
        <p:spPr>
          <a:xfrm>
            <a:off x="2282871" y="4171353"/>
            <a:ext cx="21084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>
                <a:effectLst/>
              </a:rPr>
              <a:t>월별 </a:t>
            </a:r>
            <a:r>
              <a:rPr lang="en-US" altLang="ko-KR" sz="1200" b="1" dirty="0">
                <a:effectLst/>
              </a:rPr>
              <a:t>(</a:t>
            </a:r>
            <a:r>
              <a:rPr lang="ko-KR" altLang="en-US" sz="1200" b="1" dirty="0" err="1">
                <a:effectLst/>
              </a:rPr>
              <a:t>검색량</a:t>
            </a:r>
            <a:r>
              <a:rPr lang="en-US" altLang="ko-KR" sz="1200" b="1" dirty="0">
                <a:effectLst/>
              </a:rPr>
              <a:t>)</a:t>
            </a:r>
            <a:r>
              <a:rPr lang="ko-KR" altLang="en-US" sz="1200" b="1" dirty="0">
                <a:effectLst/>
              </a:rPr>
              <a:t> 절대값</a:t>
            </a:r>
            <a:endParaRPr lang="en-US" altLang="ko-KR" sz="1200" b="1" dirty="0">
              <a:effectLst/>
            </a:endParaRPr>
          </a:p>
          <a:p>
            <a:pPr algn="ctr">
              <a:buNone/>
            </a:pPr>
            <a:r>
              <a:rPr lang="ko-KR" altLang="en-US" sz="1200" b="1" dirty="0"/>
              <a:t>네이버 광고주센터</a:t>
            </a:r>
            <a:endParaRPr lang="ko-KR" altLang="ko-KR" sz="1200" b="1" dirty="0">
              <a:effectLst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A240002-17F0-D9A2-3A5A-77F832217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902" y="1363399"/>
            <a:ext cx="2181937" cy="48790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F719C5-F590-08A4-63D2-57930FC45D77}"/>
              </a:ext>
            </a:extLst>
          </p:cNvPr>
          <p:cNvSpPr txBox="1"/>
          <p:nvPr/>
        </p:nvSpPr>
        <p:spPr>
          <a:xfrm>
            <a:off x="6897632" y="6215872"/>
            <a:ext cx="21084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>
                <a:effectLst/>
              </a:rPr>
              <a:t>주별 </a:t>
            </a:r>
            <a:r>
              <a:rPr lang="ko-KR" altLang="en-US" sz="1200" b="1" dirty="0" err="1">
                <a:effectLst/>
              </a:rPr>
              <a:t>상대값</a:t>
            </a:r>
            <a:endParaRPr lang="en-US" altLang="ko-KR" sz="1200" b="1" dirty="0">
              <a:effectLst/>
            </a:endParaRPr>
          </a:p>
          <a:p>
            <a:pPr algn="ctr">
              <a:buNone/>
            </a:pPr>
            <a:r>
              <a:rPr lang="ko-KR" altLang="en-US" sz="1200" b="1" dirty="0"/>
              <a:t>네이버 </a:t>
            </a:r>
            <a:r>
              <a:rPr lang="ko-KR" altLang="en-US" sz="1200" b="1" dirty="0" err="1"/>
              <a:t>데이터랩</a:t>
            </a:r>
            <a:endParaRPr lang="en-US" altLang="ko-KR" sz="1200" b="1" dirty="0">
              <a:effectLst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17A5A67-5989-DFA4-C078-758A1088419E}"/>
              </a:ext>
            </a:extLst>
          </p:cNvPr>
          <p:cNvCxnSpPr>
            <a:cxnSpLocks/>
          </p:cNvCxnSpPr>
          <p:nvPr/>
        </p:nvCxnSpPr>
        <p:spPr>
          <a:xfrm flipV="1">
            <a:off x="5884948" y="1458463"/>
            <a:ext cx="975954" cy="312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AD206AD-67F5-903D-EA7A-F66A952B60C0}"/>
              </a:ext>
            </a:extLst>
          </p:cNvPr>
          <p:cNvCxnSpPr>
            <a:cxnSpLocks/>
          </p:cNvCxnSpPr>
          <p:nvPr/>
        </p:nvCxnSpPr>
        <p:spPr>
          <a:xfrm flipV="1">
            <a:off x="5884948" y="1924050"/>
            <a:ext cx="975954" cy="46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227759B-3673-7A1C-73D6-C16DEB918FE3}"/>
              </a:ext>
            </a:extLst>
          </p:cNvPr>
          <p:cNvSpPr txBox="1"/>
          <p:nvPr/>
        </p:nvSpPr>
        <p:spPr>
          <a:xfrm>
            <a:off x="6221808" y="1283142"/>
            <a:ext cx="8257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200" b="1" dirty="0">
                <a:effectLst/>
              </a:rPr>
              <a:t>27</a:t>
            </a:r>
            <a:r>
              <a:rPr lang="ko-KR" altLang="en-US" sz="1200" b="1" dirty="0">
                <a:effectLst/>
              </a:rPr>
              <a:t>주</a:t>
            </a:r>
            <a:endParaRPr lang="en-US" altLang="ko-KR" sz="1200" b="1" dirty="0">
              <a:effectLst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358C06-C391-05C3-0835-918334B78B15}"/>
              </a:ext>
            </a:extLst>
          </p:cNvPr>
          <p:cNvSpPr txBox="1"/>
          <p:nvPr/>
        </p:nvSpPr>
        <p:spPr>
          <a:xfrm>
            <a:off x="6227814" y="1727509"/>
            <a:ext cx="8257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200" b="1" dirty="0"/>
              <a:t>31</a:t>
            </a:r>
            <a:r>
              <a:rPr lang="ko-KR" altLang="en-US" sz="1200" b="1" dirty="0">
                <a:effectLst/>
              </a:rPr>
              <a:t>주</a:t>
            </a:r>
            <a:endParaRPr lang="en-US" altLang="ko-KR" sz="1200" b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92ECA4-17A7-07B1-FB9A-35A29D9C5616}"/>
                  </a:ext>
                </a:extLst>
              </p:cNvPr>
              <p:cNvSpPr txBox="1"/>
              <p:nvPr/>
            </p:nvSpPr>
            <p:spPr>
              <a:xfrm>
                <a:off x="311261" y="6214325"/>
                <a:ext cx="2035109" cy="3728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b="0" dirty="0"/>
                  <a:t>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200" b="0" dirty="0"/>
                  <a:t> </a:t>
                </a:r>
                <a:r>
                  <a:rPr lang="ko-KR" altLang="en-US" sz="1200" b="0" dirty="0"/>
                  <a:t>상대 </a:t>
                </a:r>
                <a:r>
                  <a:rPr lang="ko-KR" altLang="en-US" sz="1200" b="0" dirty="0" err="1"/>
                  <a:t>검색량</a:t>
                </a:r>
                <a:endParaRPr lang="en-US" altLang="ko-KR" sz="12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b="0" dirty="0"/>
                  <a:t>월 </a:t>
                </a:r>
                <a:r>
                  <a:rPr lang="en-US" altLang="ko-KR" sz="1200" b="0" dirty="0"/>
                  <a:t>m</a:t>
                </a:r>
                <a:r>
                  <a:rPr lang="ko-KR" altLang="en-US" sz="1200" b="0" dirty="0"/>
                  <a:t>의 상대 </a:t>
                </a:r>
                <a:r>
                  <a:rPr lang="ko-KR" altLang="en-US" sz="1200" b="0" dirty="0" err="1"/>
                  <a:t>검색량</a:t>
                </a:r>
                <a:r>
                  <a:rPr lang="ko-KR" altLang="en-US" sz="1200" b="0" dirty="0"/>
                  <a:t> 합계</a:t>
                </a:r>
                <a:endParaRPr lang="en-US" altLang="ko-KR" sz="12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92ECA4-17A7-07B1-FB9A-35A29D9C5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61" y="6214325"/>
                <a:ext cx="2035109" cy="372859"/>
              </a:xfrm>
              <a:prstGeom prst="rect">
                <a:avLst/>
              </a:prstGeom>
              <a:blipFill>
                <a:blip r:embed="rId4"/>
                <a:stretch>
                  <a:fillRect l="-2695" t="-12903" r="-3892" b="-225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2B28BF-A3B3-C26E-B62D-B13EA5330417}"/>
                  </a:ext>
                </a:extLst>
              </p:cNvPr>
              <p:cNvSpPr txBox="1"/>
              <p:nvPr/>
            </p:nvSpPr>
            <p:spPr>
              <a:xfrm>
                <a:off x="3054817" y="5424202"/>
                <a:ext cx="870943" cy="5041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16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2B28BF-A3B3-C26E-B62D-B13EA5330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817" y="5424202"/>
                <a:ext cx="870943" cy="5041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E346BE-AA89-1EDA-C252-CB9191B46854}"/>
                  </a:ext>
                </a:extLst>
              </p:cNvPr>
              <p:cNvSpPr txBox="1"/>
              <p:nvPr/>
            </p:nvSpPr>
            <p:spPr>
              <a:xfrm>
                <a:off x="655584" y="5494063"/>
                <a:ext cx="1211164" cy="597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16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E346BE-AA89-1EDA-C252-CB9191B46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84" y="5494063"/>
                <a:ext cx="1211164" cy="5974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8E1C97-DA5E-867B-7170-561D800D56F8}"/>
                  </a:ext>
                </a:extLst>
              </p:cNvPr>
              <p:cNvSpPr txBox="1"/>
              <p:nvPr/>
            </p:nvSpPr>
            <p:spPr>
              <a:xfrm>
                <a:off x="2596058" y="5988546"/>
                <a:ext cx="203510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dirty="0"/>
                  <a:t>월별 절대 </a:t>
                </a:r>
                <a:r>
                  <a:rPr lang="ko-KR" altLang="en-US" sz="1200" dirty="0" err="1"/>
                  <a:t>검색량</a:t>
                </a:r>
                <a:endParaRPr lang="en-US" altLang="ko-KR" sz="12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b="0" dirty="0"/>
                  <a:t>월 </a:t>
                </a:r>
                <a:r>
                  <a:rPr lang="en-US" altLang="ko-KR" sz="1200" b="0" dirty="0"/>
                  <a:t>m</a:t>
                </a:r>
                <a:r>
                  <a:rPr lang="ko-KR" altLang="en-US" sz="1200" b="0" dirty="0"/>
                  <a:t>의 상대 </a:t>
                </a:r>
                <a:r>
                  <a:rPr lang="ko-KR" altLang="en-US" sz="1200" b="0" dirty="0" err="1"/>
                  <a:t>검색량</a:t>
                </a:r>
                <a:r>
                  <a:rPr lang="ko-KR" altLang="en-US" sz="1200" b="0" dirty="0"/>
                  <a:t> </a:t>
                </a:r>
                <a:r>
                  <a:rPr lang="ko-KR" altLang="en-US" sz="1200" dirty="0"/>
                  <a:t>합계</a:t>
                </a:r>
                <a:endParaRPr lang="en-US" altLang="ko-KR" sz="1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b="0" dirty="0"/>
                  <a:t>보정계수</a:t>
                </a:r>
                <a:endParaRPr lang="en-US" altLang="ko-KR" sz="1200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8E1C97-DA5E-867B-7170-561D800D5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058" y="5988546"/>
                <a:ext cx="2035109" cy="553998"/>
              </a:xfrm>
              <a:prstGeom prst="rect">
                <a:avLst/>
              </a:prstGeom>
              <a:blipFill>
                <a:blip r:embed="rId7"/>
                <a:stretch>
                  <a:fillRect l="-2695" t="-9890" r="-3593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B639A2-A277-9EC6-EA2A-ACC2CF47CB9D}"/>
                  </a:ext>
                </a:extLst>
              </p:cNvPr>
              <p:cNvSpPr txBox="1"/>
              <p:nvPr/>
            </p:nvSpPr>
            <p:spPr>
              <a:xfrm>
                <a:off x="5131473" y="5785232"/>
                <a:ext cx="1304139" cy="2607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altLang="ko-KR" sz="1600" b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B639A2-A277-9EC6-EA2A-ACC2CF47C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473" y="5785232"/>
                <a:ext cx="1304139" cy="260712"/>
              </a:xfrm>
              <a:prstGeom prst="rect">
                <a:avLst/>
              </a:prstGeom>
              <a:blipFill>
                <a:blip r:embed="rId8"/>
                <a:stretch>
                  <a:fillRect l="-2336" t="-20930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24D49B-2510-6036-31C0-31807799E4EF}"/>
                  </a:ext>
                </a:extLst>
              </p:cNvPr>
              <p:cNvSpPr txBox="1"/>
              <p:nvPr/>
            </p:nvSpPr>
            <p:spPr>
              <a:xfrm>
                <a:off x="4681762" y="6138432"/>
                <a:ext cx="2508441" cy="287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r>
                  <a:rPr lang="en-US" altLang="ko-KR" sz="1200" dirty="0"/>
                  <a:t>: </a:t>
                </a:r>
                <a:r>
                  <a:rPr lang="ko-KR" altLang="en-US" sz="1200" dirty="0"/>
                  <a:t>추정된 주별 절대 </a:t>
                </a:r>
                <a:r>
                  <a:rPr lang="ko-KR" altLang="en-US" sz="1200" dirty="0" err="1"/>
                  <a:t>검색량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24D49B-2510-6036-31C0-31807799E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762" y="6138432"/>
                <a:ext cx="2508441" cy="287836"/>
              </a:xfrm>
              <a:prstGeom prst="rect">
                <a:avLst/>
              </a:prstGeom>
              <a:blipFill>
                <a:blip r:embed="rId9"/>
                <a:stretch>
                  <a:fillRect t="-4255" b="-148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그림 29">
            <a:extLst>
              <a:ext uri="{FF2B5EF4-FFF2-40B4-BE49-F238E27FC236}">
                <a16:creationId xmlns:a16="http://schemas.microsoft.com/office/drawing/2014/main" id="{2855FDA8-7C6D-C087-11BC-8BF89CC9C5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3684" y="1363399"/>
            <a:ext cx="2076057" cy="480427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C09DFA3-0976-6BA5-26ED-778FD5109F64}"/>
              </a:ext>
            </a:extLst>
          </p:cNvPr>
          <p:cNvSpPr txBox="1"/>
          <p:nvPr/>
        </p:nvSpPr>
        <p:spPr>
          <a:xfrm>
            <a:off x="9787473" y="6171562"/>
            <a:ext cx="21084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>
                <a:effectLst/>
              </a:rPr>
              <a:t>전국적 주별 </a:t>
            </a:r>
            <a:r>
              <a:rPr lang="ko-KR" altLang="en-US" sz="1200" b="1" dirty="0"/>
              <a:t>절대</a:t>
            </a:r>
            <a:r>
              <a:rPr lang="ko-KR" altLang="en-US" sz="1200" b="1" dirty="0">
                <a:effectLst/>
              </a:rPr>
              <a:t>값</a:t>
            </a:r>
            <a:endParaRPr lang="en-US" altLang="ko-KR" sz="1200" b="1" dirty="0">
              <a:effectLst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E8141B-C4C2-7818-D310-900C395BDC8B}"/>
              </a:ext>
            </a:extLst>
          </p:cNvPr>
          <p:cNvSpPr txBox="1"/>
          <p:nvPr/>
        </p:nvSpPr>
        <p:spPr>
          <a:xfrm>
            <a:off x="3770169" y="5153115"/>
            <a:ext cx="6851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dirty="0"/>
              <a:t>133000</a:t>
            </a:r>
            <a:endParaRPr lang="ko-KR" altLang="en-US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948C02-5EB5-455C-E545-12361BCC07EB}"/>
              </a:ext>
            </a:extLst>
          </p:cNvPr>
          <p:cNvSpPr txBox="1"/>
          <p:nvPr/>
        </p:nvSpPr>
        <p:spPr>
          <a:xfrm>
            <a:off x="108931" y="5191079"/>
            <a:ext cx="325548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dirty="0"/>
              <a:t>29.2452+26.58908+24.58085+</a:t>
            </a:r>
            <a:r>
              <a:rPr lang="ko-KR" altLang="ko-KR" sz="1050" dirty="0">
                <a:solidFill>
                  <a:srgbClr val="000000"/>
                </a:solidFill>
                <a:latin typeface="맑은 고딕" panose="020B0503020000020004" pitchFamily="50" charset="-127"/>
              </a:rPr>
              <a:t>25.95181</a:t>
            </a:r>
            <a:r>
              <a: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</a:rPr>
              <a:t>+</a:t>
            </a:r>
            <a:r>
              <a:rPr lang="ko-KR" altLang="ko-KR" sz="1050" dirty="0">
                <a:solidFill>
                  <a:srgbClr val="000000"/>
                </a:solidFill>
                <a:latin typeface="맑은 고딕" panose="020B0503020000020004" pitchFamily="50" charset="-127"/>
              </a:rPr>
              <a:t>45.64079</a:t>
            </a:r>
            <a:endParaRPr lang="ko-KR" altLang="en-US" sz="105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F3766C-DE20-6E50-3B30-7C217A39C548}"/>
              </a:ext>
            </a:extLst>
          </p:cNvPr>
          <p:cNvSpPr txBox="1"/>
          <p:nvPr/>
        </p:nvSpPr>
        <p:spPr>
          <a:xfrm>
            <a:off x="168238" y="5891882"/>
            <a:ext cx="883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152.00773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6A548F-0758-D7D8-A2D8-DC495169483F}"/>
              </a:ext>
            </a:extLst>
          </p:cNvPr>
          <p:cNvSpPr txBox="1"/>
          <p:nvPr/>
        </p:nvSpPr>
        <p:spPr>
          <a:xfrm>
            <a:off x="3862615" y="5739833"/>
            <a:ext cx="883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152.00773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6ED8EA-DBBC-D6B0-5AB3-FDEB9EDB540F}"/>
              </a:ext>
            </a:extLst>
          </p:cNvPr>
          <p:cNvSpPr txBox="1"/>
          <p:nvPr/>
        </p:nvSpPr>
        <p:spPr>
          <a:xfrm>
            <a:off x="2418165" y="5445521"/>
            <a:ext cx="10857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874.9555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F0425D-B538-4451-9A7A-89A4C49AA223}"/>
              </a:ext>
            </a:extLst>
          </p:cNvPr>
          <p:cNvSpPr txBox="1"/>
          <p:nvPr/>
        </p:nvSpPr>
        <p:spPr>
          <a:xfrm>
            <a:off x="6085488" y="5526820"/>
            <a:ext cx="10857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874.9555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291FA2-640A-D7C0-FC7E-E418D06E36E8}"/>
              </a:ext>
            </a:extLst>
          </p:cNvPr>
          <p:cNvSpPr txBox="1"/>
          <p:nvPr/>
        </p:nvSpPr>
        <p:spPr>
          <a:xfrm>
            <a:off x="5425025" y="5473512"/>
            <a:ext cx="7679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dirty="0"/>
              <a:t>29.2452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7B07A9-B6B3-32B5-9D53-7A21823BC58A}"/>
              </a:ext>
            </a:extLst>
          </p:cNvPr>
          <p:cNvSpPr txBox="1"/>
          <p:nvPr/>
        </p:nvSpPr>
        <p:spPr>
          <a:xfrm>
            <a:off x="4607249" y="5609477"/>
            <a:ext cx="817776" cy="26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/>
              <a:t>25588.2</a:t>
            </a:r>
            <a:r>
              <a:rPr lang="en-US" altLang="ko-KR" sz="1050" b="1" dirty="0"/>
              <a:t>5</a:t>
            </a:r>
            <a:endParaRPr lang="ko-KR" altLang="en-US" sz="105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0476A91-C531-BD27-C6D5-12142028AB6D}"/>
                  </a:ext>
                </a:extLst>
              </p:cNvPr>
              <p:cNvSpPr txBox="1"/>
              <p:nvPr/>
            </p:nvSpPr>
            <p:spPr>
              <a:xfrm>
                <a:off x="6372925" y="3571216"/>
                <a:ext cx="61132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800" b="1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0476A91-C531-BD27-C6D5-12142028A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925" y="3571216"/>
                <a:ext cx="611328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B6770970-2FE0-CCE7-8058-A60E2BBBB2BE}"/>
              </a:ext>
            </a:extLst>
          </p:cNvPr>
          <p:cNvSpPr txBox="1"/>
          <p:nvPr/>
        </p:nvSpPr>
        <p:spPr>
          <a:xfrm>
            <a:off x="9460855" y="1148638"/>
            <a:ext cx="817776" cy="26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/>
              <a:t>25588.2</a:t>
            </a:r>
            <a:r>
              <a:rPr lang="en-US" altLang="ko-KR" sz="1050" b="1" dirty="0"/>
              <a:t>5</a:t>
            </a:r>
            <a:endParaRPr lang="ko-KR" altLang="en-US" sz="105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4A2AD08-3185-78E4-825F-CE96DE39D3BF}"/>
                  </a:ext>
                </a:extLst>
              </p:cNvPr>
              <p:cNvSpPr txBox="1"/>
              <p:nvPr/>
            </p:nvSpPr>
            <p:spPr>
              <a:xfrm>
                <a:off x="1160045" y="4814635"/>
                <a:ext cx="1472029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=7, </m:t>
                    </m:r>
                    <m:r>
                      <m:rPr>
                        <m:sty m:val="p"/>
                      </m:rPr>
                      <a:rPr lang="en-US" altLang="ko-KR" sz="1600" b="0" i="1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 27</m:t>
                    </m:r>
                  </m:oMath>
                </a14:m>
                <a:r>
                  <a:rPr lang="en-US" altLang="ko-KR" sz="1600" b="0" dirty="0"/>
                  <a:t> ?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4A2AD08-3185-78E4-825F-CE96DE39D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045" y="4814635"/>
                <a:ext cx="1472029" cy="246221"/>
              </a:xfrm>
              <a:prstGeom prst="rect">
                <a:avLst/>
              </a:prstGeom>
              <a:blipFill>
                <a:blip r:embed="rId12"/>
                <a:stretch>
                  <a:fillRect l="-3306" t="-27500" r="-14463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" name="그림 57">
            <a:extLst>
              <a:ext uri="{FF2B5EF4-FFF2-40B4-BE49-F238E27FC236}">
                <a16:creationId xmlns:a16="http://schemas.microsoft.com/office/drawing/2014/main" id="{1BC7D5D9-5E48-241F-A75B-DD321DB9EF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4513" y="1553257"/>
            <a:ext cx="4890435" cy="260778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DD7BB4BB-7E72-7A73-FE4D-88D44826C238}"/>
              </a:ext>
            </a:extLst>
          </p:cNvPr>
          <p:cNvSpPr txBox="1"/>
          <p:nvPr/>
        </p:nvSpPr>
        <p:spPr>
          <a:xfrm>
            <a:off x="-43325" y="6606777"/>
            <a:ext cx="23896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월별 상대 </a:t>
            </a:r>
            <a:r>
              <a:rPr lang="ko-KR" altLang="ko-KR" sz="1400" b="1" dirty="0" err="1"/>
              <a:t>검색량</a:t>
            </a:r>
            <a:r>
              <a:rPr lang="ko-KR" altLang="ko-KR" sz="1400" b="1" dirty="0"/>
              <a:t> 합계 계산</a:t>
            </a:r>
            <a:endParaRPr lang="ko-KR" altLang="en-US" sz="14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4CF517-44F8-D826-5EDD-DA91568C64CE}"/>
              </a:ext>
            </a:extLst>
          </p:cNvPr>
          <p:cNvSpPr txBox="1"/>
          <p:nvPr/>
        </p:nvSpPr>
        <p:spPr>
          <a:xfrm>
            <a:off x="2632074" y="6602712"/>
            <a:ext cx="17592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월별 보정계수 계산</a:t>
            </a:r>
            <a:endParaRPr lang="ko-KR" altLang="en-US" sz="14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D382AC-9461-3139-4F40-253F803D1AD5}"/>
              </a:ext>
            </a:extLst>
          </p:cNvPr>
          <p:cNvSpPr txBox="1"/>
          <p:nvPr/>
        </p:nvSpPr>
        <p:spPr>
          <a:xfrm>
            <a:off x="4666373" y="6535160"/>
            <a:ext cx="20583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주별 절대 </a:t>
            </a:r>
            <a:r>
              <a:rPr lang="ko-KR" altLang="ko-KR" sz="1400" b="1" dirty="0" err="1"/>
              <a:t>검색량</a:t>
            </a:r>
            <a:r>
              <a:rPr lang="ko-KR" altLang="ko-KR" sz="1400" b="1" dirty="0"/>
              <a:t> 추정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7585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5BC59-13E8-98C6-9130-CEC34573B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F1672-A59B-4133-9854-A2BCB3FE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664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지역별 절대값</a:t>
            </a:r>
            <a:b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B(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지역별 인구수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전국적 주별 절대값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지역별 </a:t>
            </a:r>
            <a:r>
              <a:rPr lang="ko-KR" alt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상대값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CFAEB09-E89B-4A0F-8DC3-AE00C9019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9814" y="1537421"/>
            <a:ext cx="1997195" cy="46217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F1D407-0E5A-982F-39C8-A3445C09C836}"/>
              </a:ext>
            </a:extLst>
          </p:cNvPr>
          <p:cNvSpPr txBox="1"/>
          <p:nvPr/>
        </p:nvSpPr>
        <p:spPr>
          <a:xfrm>
            <a:off x="10028625" y="6196558"/>
            <a:ext cx="2028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>
                <a:effectLst/>
              </a:rPr>
              <a:t>전국적 주별 </a:t>
            </a:r>
            <a:r>
              <a:rPr lang="ko-KR" altLang="en-US" sz="1200" b="1" dirty="0"/>
              <a:t>절대</a:t>
            </a:r>
            <a:r>
              <a:rPr lang="ko-KR" altLang="en-US" sz="1200" b="1" dirty="0">
                <a:effectLst/>
              </a:rPr>
              <a:t>값</a:t>
            </a:r>
            <a:endParaRPr lang="en-US" altLang="ko-KR" sz="1200" b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024401-1EF3-4BC8-770C-564FCC1AC20D}"/>
                  </a:ext>
                </a:extLst>
              </p:cNvPr>
              <p:cNvSpPr txBox="1"/>
              <p:nvPr/>
            </p:nvSpPr>
            <p:spPr>
              <a:xfrm>
                <a:off x="480374" y="5407056"/>
                <a:ext cx="1106008" cy="5484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5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024401-1EF3-4BC8-770C-564FCC1AC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74" y="5407056"/>
                <a:ext cx="1106008" cy="5484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그림 25">
            <a:extLst>
              <a:ext uri="{FF2B5EF4-FFF2-40B4-BE49-F238E27FC236}">
                <a16:creationId xmlns:a16="http://schemas.microsoft.com/office/drawing/2014/main" id="{1C44AC1B-7E9A-8C33-43E4-5FD5FFF29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086" y="1656695"/>
            <a:ext cx="4744175" cy="196262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81648CA-9E80-56E2-5C51-6A17178D095D}"/>
              </a:ext>
            </a:extLst>
          </p:cNvPr>
          <p:cNvSpPr txBox="1"/>
          <p:nvPr/>
        </p:nvSpPr>
        <p:spPr>
          <a:xfrm>
            <a:off x="1612934" y="3625250"/>
            <a:ext cx="21084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/>
              <a:t>지역별 인구수</a:t>
            </a:r>
            <a:endParaRPr lang="en-US" altLang="ko-KR" sz="1200" b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440D44A-9779-C06B-D345-7FE66291A016}"/>
                  </a:ext>
                </a:extLst>
              </p:cNvPr>
              <p:cNvSpPr txBox="1"/>
              <p:nvPr/>
            </p:nvSpPr>
            <p:spPr>
              <a:xfrm>
                <a:off x="207881" y="6106180"/>
                <a:ext cx="19990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dirty="0"/>
                  <a:t>지역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ko-KR" altLang="en-US" sz="1200" b="0" dirty="0"/>
                  <a:t>의 기간 평균 인구수</a:t>
                </a:r>
                <a:endParaRPr lang="en-US" altLang="ko-KR" sz="12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dirty="0"/>
                  <a:t>지역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i="1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ko-KR" altLang="en-US" sz="1200" b="0" dirty="0"/>
                  <a:t>의</a:t>
                </a:r>
                <a:r>
                  <a:rPr lang="en-US" altLang="ko-KR" sz="1200" b="0" dirty="0"/>
                  <a:t> </a:t>
                </a:r>
                <a:r>
                  <a:rPr lang="ko-KR" altLang="en-US" sz="1200" b="0" dirty="0"/>
                  <a:t>인구 가중치</a:t>
                </a:r>
                <a:endParaRPr lang="en-US" altLang="ko-KR" sz="1200" b="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440D44A-9779-C06B-D345-7FE66291A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81" y="6106180"/>
                <a:ext cx="1999073" cy="369332"/>
              </a:xfrm>
              <a:prstGeom prst="rect">
                <a:avLst/>
              </a:prstGeom>
              <a:blipFill>
                <a:blip r:embed="rId6"/>
                <a:stretch>
                  <a:fillRect l="-2744" t="-15000" r="-3963" b="-2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4CE5FD05-8277-E1E6-397A-79EFB0218043}"/>
              </a:ext>
            </a:extLst>
          </p:cNvPr>
          <p:cNvSpPr txBox="1"/>
          <p:nvPr/>
        </p:nvSpPr>
        <p:spPr>
          <a:xfrm>
            <a:off x="0" y="6550161"/>
            <a:ext cx="2212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지역별 인구 가중치 계산</a:t>
            </a:r>
            <a:endParaRPr lang="ko-KR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2388F6C-536E-D3F8-7CAE-2B521C16AD95}"/>
                  </a:ext>
                </a:extLst>
              </p:cNvPr>
              <p:cNvSpPr txBox="1"/>
              <p:nvPr/>
            </p:nvSpPr>
            <p:spPr>
              <a:xfrm>
                <a:off x="2514474" y="5627693"/>
                <a:ext cx="1075551" cy="2682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ko-KR" alt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2388F6C-536E-D3F8-7CAE-2B521C16A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474" y="5627693"/>
                <a:ext cx="1075551" cy="268215"/>
              </a:xfrm>
              <a:prstGeom prst="rect">
                <a:avLst/>
              </a:prstGeom>
              <a:blipFill>
                <a:blip r:embed="rId7"/>
                <a:stretch>
                  <a:fillRect l="-565" r="-565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1EC36B-B577-F662-532E-3D5D22819780}"/>
                  </a:ext>
                </a:extLst>
              </p:cNvPr>
              <p:cNvSpPr txBox="1"/>
              <p:nvPr/>
            </p:nvSpPr>
            <p:spPr>
              <a:xfrm>
                <a:off x="2350996" y="6059821"/>
                <a:ext cx="2610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dirty="0"/>
                  <a:t>지역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ko-KR" altLang="en-US" sz="1200" b="0" dirty="0"/>
                  <a:t>의 상대</a:t>
                </a:r>
                <a:r>
                  <a:rPr lang="en-US" altLang="ko-KR" sz="1200" b="0" dirty="0"/>
                  <a:t> </a:t>
                </a:r>
                <a:r>
                  <a:rPr lang="ko-KR" altLang="en-US" sz="1200" b="0" dirty="0" err="1"/>
                  <a:t>검색량</a:t>
                </a:r>
                <a:endParaRPr lang="en-US" altLang="ko-KR" sz="1200" b="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dirty="0"/>
                  <a:t>인구 가중치가 반영된 상대 </a:t>
                </a:r>
                <a:r>
                  <a:rPr lang="ko-KR" altLang="en-US" sz="1200" dirty="0" err="1"/>
                  <a:t>검색량</a:t>
                </a:r>
                <a:endParaRPr lang="en-US" altLang="ko-KR" sz="1200" b="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1EC36B-B577-F662-532E-3D5D22819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996" y="6059821"/>
                <a:ext cx="2610908" cy="369332"/>
              </a:xfrm>
              <a:prstGeom prst="rect">
                <a:avLst/>
              </a:prstGeom>
              <a:blipFill>
                <a:blip r:embed="rId8"/>
                <a:stretch>
                  <a:fillRect l="-1636" t="-14754" r="-2570" b="-229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46AD7FB-685D-8B0B-3C4A-50E5104907D4}"/>
                  </a:ext>
                </a:extLst>
              </p:cNvPr>
              <p:cNvSpPr txBox="1"/>
              <p:nvPr/>
            </p:nvSpPr>
            <p:spPr>
              <a:xfrm>
                <a:off x="4150944" y="5041080"/>
                <a:ext cx="1131335" cy="5178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5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ko-KR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nary>
                          <m:r>
                            <m:rPr>
                              <m:nor/>
                            </m:rPr>
                            <a:rPr lang="ko-KR" altLang="en-US" sz="1600" i="0" dirty="0"/>
                            <m:t> </m:t>
                          </m:r>
                        </m:den>
                      </m:f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46AD7FB-685D-8B0B-3C4A-50E510490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944" y="5041080"/>
                <a:ext cx="1131335" cy="5178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850C2C3-5D77-56E4-3352-5EF5CA9E9424}"/>
                  </a:ext>
                </a:extLst>
              </p:cNvPr>
              <p:cNvSpPr txBox="1"/>
              <p:nvPr/>
            </p:nvSpPr>
            <p:spPr>
              <a:xfrm>
                <a:off x="4468239" y="5747747"/>
                <a:ext cx="1732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b="0" dirty="0"/>
                  <a:t>전국 주별 절대 </a:t>
                </a:r>
                <a:r>
                  <a:rPr lang="ko-KR" altLang="en-US" sz="1200" b="0" dirty="0" err="1"/>
                  <a:t>검색량</a:t>
                </a:r>
                <a:endParaRPr lang="en-US" altLang="ko-KR" sz="1200" b="0" dirty="0"/>
              </a:p>
              <a:p>
                <a:r>
                  <a:rPr lang="en-US" altLang="ko-KR" sz="1200" b="0" dirty="0"/>
                  <a:t>k: </a:t>
                </a:r>
                <a:r>
                  <a:rPr lang="ko-KR" altLang="en-US" sz="1200" dirty="0"/>
                  <a:t>환산계수</a:t>
                </a:r>
                <a:endParaRPr lang="en-US" altLang="ko-KR" sz="1200" b="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850C2C3-5D77-56E4-3352-5EF5CA9E9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239" y="5747747"/>
                <a:ext cx="1732847" cy="369332"/>
              </a:xfrm>
              <a:prstGeom prst="rect">
                <a:avLst/>
              </a:prstGeom>
              <a:blipFill>
                <a:blip r:embed="rId10"/>
                <a:stretch>
                  <a:fillRect l="-5634" t="-15000" r="-4577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51831F2-6239-00F7-9C35-80ED12C05C25}"/>
                  </a:ext>
                </a:extLst>
              </p:cNvPr>
              <p:cNvSpPr txBox="1"/>
              <p:nvPr/>
            </p:nvSpPr>
            <p:spPr>
              <a:xfrm>
                <a:off x="6517774" y="6277931"/>
                <a:ext cx="1027781" cy="265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ko-KR" alt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ko-KR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51831F2-6239-00F7-9C35-80ED12C05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774" y="6277931"/>
                <a:ext cx="1027781" cy="265265"/>
              </a:xfrm>
              <a:prstGeom prst="rect">
                <a:avLst/>
              </a:prstGeom>
              <a:blipFill>
                <a:blip r:embed="rId11"/>
                <a:stretch>
                  <a:fillRect l="-2367" t="-23256" r="-2367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28FDBB71-513D-87D1-DFE6-21F7E0097B67}"/>
              </a:ext>
            </a:extLst>
          </p:cNvPr>
          <p:cNvSpPr txBox="1"/>
          <p:nvPr/>
        </p:nvSpPr>
        <p:spPr>
          <a:xfrm>
            <a:off x="6201086" y="6550223"/>
            <a:ext cx="2212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지역별 절대 </a:t>
            </a:r>
            <a:r>
              <a:rPr lang="ko-KR" altLang="ko-KR" sz="1400" b="1" dirty="0" err="1"/>
              <a:t>검색량</a:t>
            </a:r>
            <a:r>
              <a:rPr lang="ko-KR" altLang="ko-KR" sz="1400" b="1" dirty="0"/>
              <a:t> 추정</a:t>
            </a:r>
            <a:endParaRPr lang="ko-KR" altLang="en-US" sz="14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8489DC-9732-592C-AEDC-8C36DFD7B0E0}"/>
              </a:ext>
            </a:extLst>
          </p:cNvPr>
          <p:cNvSpPr txBox="1"/>
          <p:nvPr/>
        </p:nvSpPr>
        <p:spPr>
          <a:xfrm>
            <a:off x="4968599" y="6117079"/>
            <a:ext cx="1435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환산계수 계산</a:t>
            </a:r>
            <a:endParaRPr lang="ko-KR" altLang="en-US" sz="14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7618CF-CB87-9E5A-D224-788B6B81EBBE}"/>
              </a:ext>
            </a:extLst>
          </p:cNvPr>
          <p:cNvSpPr txBox="1"/>
          <p:nvPr/>
        </p:nvSpPr>
        <p:spPr>
          <a:xfrm>
            <a:off x="2166505" y="6481447"/>
            <a:ext cx="21893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지역별 상대 </a:t>
            </a:r>
            <a:r>
              <a:rPr lang="ko-KR" altLang="ko-KR" sz="1400" b="1" dirty="0" err="1"/>
              <a:t>검색량</a:t>
            </a:r>
            <a:r>
              <a:rPr lang="ko-KR" altLang="ko-KR" sz="1400" b="1" dirty="0"/>
              <a:t> 보정</a:t>
            </a:r>
            <a:endParaRPr lang="ko-KR" altLang="en-US" sz="1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B2928A-9E34-8F04-C9BD-E5C3DDBC10E7}"/>
              </a:ext>
            </a:extLst>
          </p:cNvPr>
          <p:cNvSpPr txBox="1"/>
          <p:nvPr/>
        </p:nvSpPr>
        <p:spPr>
          <a:xfrm>
            <a:off x="5249055" y="4866619"/>
            <a:ext cx="169388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/>
              <a:t>27</a:t>
            </a:r>
            <a:r>
              <a:rPr lang="ko-KR" altLang="en-US" sz="1050" dirty="0"/>
              <a:t>주 코로나 절대 검색량</a:t>
            </a:r>
            <a:r>
              <a:rPr lang="ko-KR" altLang="ko-KR" sz="1050" dirty="0"/>
              <a:t>25588.25</a:t>
            </a:r>
            <a:endParaRPr lang="ko-KR" alt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ECF3F1-8E9A-4CD1-D433-428219BD22A1}"/>
                  </a:ext>
                </a:extLst>
              </p:cNvPr>
              <p:cNvSpPr txBox="1"/>
              <p:nvPr/>
            </p:nvSpPr>
            <p:spPr>
              <a:xfrm>
                <a:off x="735292" y="5046546"/>
                <a:ext cx="1162369" cy="2048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서울</m:t>
                          </m:r>
                        </m:sub>
                      </m:sSub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≈9,308,700</m:t>
                      </m:r>
                    </m:oMath>
                  </m:oMathPara>
                </a14:m>
                <a:endParaRPr lang="en-US" altLang="ko-KR" sz="1050" b="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ECF3F1-8E9A-4CD1-D433-428219BD2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92" y="5046546"/>
                <a:ext cx="1162369" cy="204800"/>
              </a:xfrm>
              <a:prstGeom prst="rect">
                <a:avLst/>
              </a:prstGeom>
              <a:blipFill>
                <a:blip r:embed="rId12"/>
                <a:stretch>
                  <a:fillRect l="-1579" r="-2105" b="-363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EA475DD-740E-2750-67C8-F532BAC14C34}"/>
                  </a:ext>
                </a:extLst>
              </p:cNvPr>
              <p:cNvSpPr txBox="1"/>
              <p:nvPr/>
            </p:nvSpPr>
            <p:spPr>
              <a:xfrm>
                <a:off x="108253" y="5357170"/>
                <a:ext cx="925125" cy="2048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서울</m:t>
                          </m:r>
                        </m:sub>
                      </m:sSub>
                      <m:r>
                        <a:rPr lang="en-US" altLang="ko-KR" sz="10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0.179</m:t>
                      </m:r>
                    </m:oMath>
                  </m:oMathPara>
                </a14:m>
                <a:endParaRPr lang="en-US" altLang="ko-KR" sz="1050" b="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EA475DD-740E-2750-67C8-F532BAC14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3" y="5357170"/>
                <a:ext cx="925125" cy="204800"/>
              </a:xfrm>
              <a:prstGeom prst="rect">
                <a:avLst/>
              </a:prstGeom>
              <a:blipFill>
                <a:blip r:embed="rId13"/>
                <a:stretch>
                  <a:fillRect l="-658" r="-1974" b="-363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4D9A838-33FE-9773-42C8-4C19522AEC45}"/>
                  </a:ext>
                </a:extLst>
              </p:cNvPr>
              <p:cNvSpPr txBox="1"/>
              <p:nvPr/>
            </p:nvSpPr>
            <p:spPr>
              <a:xfrm>
                <a:off x="2750945" y="5354179"/>
                <a:ext cx="705514" cy="2048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서울</m:t>
                          </m:r>
                        </m:sub>
                      </m:sSub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=47</m:t>
                      </m:r>
                    </m:oMath>
                  </m:oMathPara>
                </a14:m>
                <a:endParaRPr lang="en-US" altLang="ko-KR" sz="1050" b="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4D9A838-33FE-9773-42C8-4C19522AE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45" y="5354179"/>
                <a:ext cx="705514" cy="204800"/>
              </a:xfrm>
              <a:prstGeom prst="rect">
                <a:avLst/>
              </a:prstGeom>
              <a:blipFill>
                <a:blip r:embed="rId14"/>
                <a:stretch>
                  <a:fillRect l="-862" r="-2586" b="-323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7754E83B-64A0-88D1-810E-E8241A24AB64}"/>
              </a:ext>
            </a:extLst>
          </p:cNvPr>
          <p:cNvSpPr txBox="1"/>
          <p:nvPr/>
        </p:nvSpPr>
        <p:spPr>
          <a:xfrm>
            <a:off x="295086" y="4428869"/>
            <a:ext cx="19118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/>
              <a:t>서울의 </a:t>
            </a:r>
            <a:r>
              <a:rPr lang="en-US" altLang="ko-KR" sz="1050" b="1" dirty="0"/>
              <a:t>27</a:t>
            </a:r>
            <a:r>
              <a:rPr lang="ko-KR" altLang="en-US" sz="1050" b="1" dirty="0"/>
              <a:t>주 코로나 절대값 </a:t>
            </a:r>
            <a:r>
              <a:rPr lang="en-US" altLang="ko-KR" sz="1050" b="1" dirty="0"/>
              <a:t>?</a:t>
            </a:r>
            <a:r>
              <a:rPr lang="ko-KR" altLang="en-US" sz="1050" b="1" dirty="0"/>
              <a:t> </a:t>
            </a:r>
            <a:endParaRPr lang="ko-KR" altLang="en-US" b="1" dirty="0"/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50D57644-AAC4-182A-B0EC-99A4DE1B1B0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b="77523"/>
          <a:stretch>
            <a:fillRect/>
          </a:stretch>
        </p:blipFill>
        <p:spPr>
          <a:xfrm>
            <a:off x="5086773" y="1764718"/>
            <a:ext cx="4714428" cy="1070257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11D29EE2-8CF6-EF76-E1C3-2E71D966EF2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81077"/>
          <a:stretch>
            <a:fillRect/>
          </a:stretch>
        </p:blipFill>
        <p:spPr>
          <a:xfrm>
            <a:off x="5086772" y="3436066"/>
            <a:ext cx="4714429" cy="901047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013F846F-FB05-D78D-350F-B109D3223A83}"/>
              </a:ext>
            </a:extLst>
          </p:cNvPr>
          <p:cNvSpPr txBox="1"/>
          <p:nvPr/>
        </p:nvSpPr>
        <p:spPr>
          <a:xfrm>
            <a:off x="7412208" y="2816333"/>
            <a:ext cx="27465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315588-50A1-35C1-8AC2-D441253F2C88}"/>
              </a:ext>
            </a:extLst>
          </p:cNvPr>
          <p:cNvSpPr txBox="1"/>
          <p:nvPr/>
        </p:nvSpPr>
        <p:spPr>
          <a:xfrm>
            <a:off x="6491316" y="4356374"/>
            <a:ext cx="21084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/>
              <a:t>지역별 </a:t>
            </a:r>
            <a:r>
              <a:rPr lang="ko-KR" altLang="en-US" sz="1200" b="1" dirty="0" err="1"/>
              <a:t>상대값</a:t>
            </a:r>
            <a:endParaRPr lang="en-US" altLang="ko-KR" sz="12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5197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EB5D7-34F0-ABA0-4ECC-9621DD70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7458E-A5FF-A2D4-C449-7E171FD6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가중치에 도달하기까지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(3/3)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70130-A7B7-757E-B4F7-5E04536F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553E60-8211-0048-09DA-05EFC1467D9A}"/>
              </a:ext>
            </a:extLst>
          </p:cNvPr>
          <p:cNvSpPr txBox="1"/>
          <p:nvPr/>
        </p:nvSpPr>
        <p:spPr>
          <a:xfrm>
            <a:off x="4882696" y="6185098"/>
            <a:ext cx="24266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</a:rPr>
              <a:t>최종 코로나 </a:t>
            </a:r>
            <a:r>
              <a:rPr lang="ko-KR" altLang="en-US" sz="1400" b="1" dirty="0" err="1">
                <a:effectLst/>
              </a:rPr>
              <a:t>검색량</a:t>
            </a:r>
            <a:r>
              <a:rPr lang="ko-KR" altLang="en-US" sz="1400" b="1" dirty="0">
                <a:effectLst/>
              </a:rPr>
              <a:t> 절대값</a:t>
            </a:r>
            <a:endParaRPr lang="ko-KR" altLang="ko-KR" sz="1400" b="1" dirty="0">
              <a:effectLst/>
            </a:endParaRPr>
          </a:p>
        </p:txBody>
      </p:sp>
      <p:pic>
        <p:nvPicPr>
          <p:cNvPr id="3" name="그림 2" descr="image.png">
            <a:extLst>
              <a:ext uri="{FF2B5EF4-FFF2-40B4-BE49-F238E27FC236}">
                <a16:creationId xmlns:a16="http://schemas.microsoft.com/office/drawing/2014/main" id="{B575B2B5-432F-45F0-1188-AB10FF7869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049"/>
          <a:stretch>
            <a:fillRect/>
          </a:stretch>
        </p:blipFill>
        <p:spPr>
          <a:xfrm>
            <a:off x="838200" y="1690688"/>
            <a:ext cx="10515600" cy="435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727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7621-B855-DD51-7F3C-33B6F83D6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B6849D-EDA1-84EF-26C8-CF2AB6476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논문 정리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29FBAC6-A4AA-4ACC-E66C-B88A8BB1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293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EE038-C77E-D932-94C0-2BC258D58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A86C0C-7493-D01E-B9EC-042BA772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ED99193-4A4A-93FE-BFCF-B4EEBD67D3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</p:spPr>
            <p:txBody>
              <a:bodyPr numCol="1"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Title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ko-KR" sz="1600" dirty="0">
                    <a:latin typeface="times new"/>
                  </a:rPr>
                  <a:t>Google </a:t>
                </a:r>
                <a:r>
                  <a:rPr lang="ko-KR" altLang="ko-KR" sz="1600" dirty="0" err="1">
                    <a:latin typeface="times new"/>
                  </a:rPr>
                  <a:t>search</a:t>
                </a:r>
                <a:r>
                  <a:rPr lang="ko-KR" altLang="ko-KR" sz="1600" dirty="0">
                    <a:latin typeface="times new"/>
                  </a:rPr>
                  <a:t> </a:t>
                </a:r>
                <a:r>
                  <a:rPr lang="ko-KR" altLang="ko-KR" sz="1600" dirty="0" err="1">
                    <a:latin typeface="times new"/>
                  </a:rPr>
                  <a:t>volume</a:t>
                </a:r>
                <a:r>
                  <a:rPr lang="ko-KR" altLang="ko-KR" sz="1600" dirty="0">
                    <a:latin typeface="times new"/>
                  </a:rPr>
                  <a:t> </a:t>
                </a:r>
                <a:r>
                  <a:rPr lang="ko-KR" altLang="ko-KR" sz="1600" dirty="0" err="1">
                    <a:latin typeface="times new"/>
                  </a:rPr>
                  <a:t>predicts</a:t>
                </a:r>
                <a:r>
                  <a:rPr lang="ko-KR" altLang="ko-KR" sz="1600" dirty="0">
                    <a:latin typeface="times new"/>
                  </a:rPr>
                  <a:t> </a:t>
                </a:r>
                <a:r>
                  <a:rPr lang="ko-KR" altLang="ko-KR" sz="1600" dirty="0" err="1">
                    <a:latin typeface="times new"/>
                  </a:rPr>
                  <a:t>the</a:t>
                </a:r>
                <a:r>
                  <a:rPr lang="ko-KR" altLang="ko-KR" sz="1600" dirty="0">
                    <a:latin typeface="times new"/>
                  </a:rPr>
                  <a:t> </a:t>
                </a:r>
                <a:r>
                  <a:rPr lang="ko-KR" altLang="ko-KR" sz="1600" dirty="0" err="1">
                    <a:latin typeface="times new"/>
                  </a:rPr>
                  <a:t>emergence</a:t>
                </a:r>
                <a:r>
                  <a:rPr lang="ko-KR" altLang="ko-KR" sz="1600" dirty="0">
                    <a:latin typeface="times new"/>
                  </a:rPr>
                  <a:t> of COVID-19 </a:t>
                </a:r>
                <a:r>
                  <a:rPr lang="ko-KR" altLang="ko-KR" sz="1600" dirty="0" err="1">
                    <a:latin typeface="times new"/>
                  </a:rPr>
                  <a:t>outbreaks</a:t>
                </a:r>
                <a:r>
                  <a:rPr lang="en-US" altLang="ko-KR" sz="1600" dirty="0">
                    <a:latin typeface="times new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ko-KR" altLang="ko-KR" sz="1600" i="0" dirty="0" smtClean="0">
                            <a:latin typeface="Cambria Math" panose="02040503050406030204" pitchFamily="18" charset="0"/>
                          </a:rPr>
                          <m:t>GiuseppeLippi</m:t>
                        </m:r>
                      </m:e>
                      <m:sup>
                        <m:r>
                          <a:rPr lang="en-US" altLang="ko-KR" sz="160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ko-KR" altLang="ko-KR" sz="1600" i="0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ko-KR" alt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ko-KR" altLang="en-US" sz="1600" i="0" dirty="0" smtClean="0">
                            <a:latin typeface="Cambria Math" panose="02040503050406030204" pitchFamily="18" charset="0"/>
                          </a:rPr>
                          <m:t>CamillaMattiuzz</m:t>
                        </m:r>
                        <m:r>
                          <m:rPr>
                            <m:sty m:val="p"/>
                          </m:rPr>
                          <a:rPr lang="ko-KR" altLang="ko-KR" sz="160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a:rPr lang="en-US" altLang="ko-KR" sz="16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ko-KR" altLang="ko-KR" sz="1600" i="0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ko-KR" alt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ko-KR" altLang="ko-KR" sz="1600" i="0" dirty="0" smtClean="0">
                            <a:latin typeface="Cambria Math" panose="02040503050406030204" pitchFamily="18" charset="0"/>
                          </a:rPr>
                          <m:t>GianfrancoCervellin</m:t>
                        </m:r>
                      </m:e>
                      <m:sup>
                        <m:r>
                          <a:rPr lang="en-US" altLang="ko-KR" sz="160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ko-KR" sz="1600" dirty="0">
                    <a:latin typeface="times new"/>
                  </a:rPr>
                  <a:t>, </a:t>
                </a:r>
                <a:r>
                  <a:rPr lang="ko-KR" altLang="ko-KR" sz="1600" dirty="0" err="1">
                    <a:latin typeface="times new"/>
                  </a:rPr>
                  <a:t>Acta</a:t>
                </a:r>
                <a:r>
                  <a:rPr lang="ko-KR" altLang="ko-KR" sz="1600" dirty="0">
                    <a:latin typeface="times new"/>
                  </a:rPr>
                  <a:t> </a:t>
                </a:r>
                <a:r>
                  <a:rPr lang="ko-KR" altLang="ko-KR" sz="1600" dirty="0" err="1">
                    <a:latin typeface="times new"/>
                  </a:rPr>
                  <a:t>Biomedica</a:t>
                </a:r>
                <a:r>
                  <a:rPr lang="ko-KR" altLang="ko-KR" sz="1600" dirty="0">
                    <a:latin typeface="times new"/>
                  </a:rPr>
                  <a:t> 2020; </a:t>
                </a:r>
                <a:r>
                  <a:rPr lang="ko-KR" altLang="ko-KR" sz="1600" dirty="0" err="1">
                    <a:latin typeface="times new"/>
                  </a:rPr>
                  <a:t>Vol</a:t>
                </a:r>
                <a:r>
                  <a:rPr lang="ko-KR" altLang="ko-KR" sz="1600" dirty="0">
                    <a:latin typeface="times new"/>
                  </a:rPr>
                  <a:t>. 91, </a:t>
                </a:r>
                <a:r>
                  <a:rPr lang="ko-KR" altLang="ko-KR" sz="1600" dirty="0" err="1">
                    <a:latin typeface="times new"/>
                  </a:rPr>
                  <a:t>N</a:t>
                </a:r>
                <a:r>
                  <a:rPr lang="ko-KR" altLang="ko-KR" sz="1600" dirty="0">
                    <a:latin typeface="times new"/>
                  </a:rPr>
                  <a:t>. 3: e2020006</a:t>
                </a:r>
                <a:endParaRPr lang="en-US" altLang="ko-KR" sz="1800" b="1" dirty="0">
                  <a:latin typeface="times new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What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구글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검색량이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이탈리아에서 발생한 코로나 유행의 추이를 예측하는데 유용한가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Why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코로나는 치명적인 전염병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급속하고 대규모 확산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효율적인 진단 도구 도입을 통해 감염 곡선 예측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대비해야 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디지털 역학이 전통적인 역학을 보완하는 귀중한 수단으로 간주될 수 있다는 여러 증거가 제시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구글 트렌드가 가장 널리 사용되고 있다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ED99193-4A4A-93FE-BFCF-B4EEBD67D3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  <a:blipFill>
                <a:blip r:embed="rId2"/>
                <a:stretch>
                  <a:fillRect l="-569" t="-653" b="-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B09DF2-C054-2350-36D8-DAF002191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227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920F8-B959-FE4D-9C67-73CDC59BE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CC9D8-19A4-048B-03AE-6F3DDA30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79AFAB-83F7-F2FF-DE32-17CDD1ED3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209" cy="466725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times new"/>
                <a:cs typeface="Times New Roman" panose="02020603050405020304" pitchFamily="18" charset="0"/>
              </a:rPr>
              <a:t>How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구글트렌드에서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이탈리아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3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가지 키워드 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tosse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기침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), 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febbre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발열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),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dispnea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호흡곤란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사용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코로나 환자들이 빈번히 보고하는 증상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기간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2020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2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월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~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2020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5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월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주단위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이탈리아의 주간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COVID-19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신규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확진자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수 이용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국립보건원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IstitutoSuperiore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 di Sanità)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의 공식 웹사이트에서 수집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Spearman’s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상관관계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신뢰구간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코로나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19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신규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확진자에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대한 구글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검색량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통계 분석 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Analyse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-it(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Analyse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-it Software Ltd,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영국 리즈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을 사용하여 수행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081CF4-B4F3-2F02-D093-03DCA1683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289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E93DC-FA10-EF8D-A741-CDCC003A8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9BD8021-D31E-0AE2-6D25-3238F08F07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2" r="3709"/>
          <a:stretch>
            <a:fillRect/>
          </a:stretch>
        </p:blipFill>
        <p:spPr>
          <a:xfrm>
            <a:off x="6096000" y="852455"/>
            <a:ext cx="5995448" cy="395818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72B2781-AEC3-C5D0-0E1A-1DE1BFA9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2F049AA-5646-A456-2674-A02D2A4AE0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</p:spPr>
            <p:txBody>
              <a:bodyPr numCol="1"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Results &amp; Discussion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기침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호흡곤란 </a:t>
                </a:r>
                <a:r>
                  <a:rPr lang="ko-KR" altLang="en-US" sz="1600" b="1" dirty="0" err="1">
                    <a:latin typeface="times new"/>
                    <a:cs typeface="Times New Roman" panose="02020603050405020304" pitchFamily="18" charset="0"/>
                  </a:rPr>
                  <a:t>검색량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vs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신규 코로나 </a:t>
                </a:r>
                <a:r>
                  <a:rPr lang="ko-KR" altLang="en-US" sz="1600" b="1" dirty="0" err="1">
                    <a:latin typeface="times new"/>
                    <a:cs typeface="Times New Roman" panose="02020603050405020304" pitchFamily="18" charset="0"/>
                  </a:rPr>
                  <a:t>확진자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 수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전자의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Peak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3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 빠름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기침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호흡곤란 </a:t>
                </a:r>
                <a:r>
                  <a:rPr lang="ko-KR" altLang="en-US" sz="1600" b="1" dirty="0" err="1">
                    <a:latin typeface="times new"/>
                    <a:cs typeface="Times New Roman" panose="02020603050405020304" pitchFamily="18" charset="0"/>
                  </a:rPr>
                  <a:t>검색량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첫 번째 확진</a:t>
                </a:r>
                <a:r>
                  <a:rPr lang="ko-KR" altLang="ko-KR" sz="1400" dirty="0"/>
                  <a:t>(</a:t>
                </a:r>
                <a:r>
                  <a:rPr lang="ko-KR" altLang="ko-KR" sz="1400" dirty="0" err="1"/>
                  <a:t>Feb</a:t>
                </a:r>
                <a:r>
                  <a:rPr lang="en-US" altLang="ko-KR" sz="1400" dirty="0"/>
                  <a:t>.</a:t>
                </a:r>
                <a:r>
                  <a:rPr lang="ko-KR" altLang="ko-KR" sz="1400" dirty="0"/>
                  <a:t> 19, 2020)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전주와 비교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Peak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시점에 각각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1.7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2.2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7.7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배 증가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+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2~3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주전부터 이미 증가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(2.3%, 4.7%)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이미 유행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계절성 인플루엔자는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월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말에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Peak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를 기록함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 </m:t>
                    </m:r>
                  </m:oMath>
                </a14:m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감염병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검색량의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증가는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Flu Epidemic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으로만 볼 수 없음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2F049AA-5646-A456-2674-A02D2A4AE0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  <a:blipFill>
                <a:blip r:embed="rId3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42F220-91BD-F952-2F49-363ED8C92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14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678D001-0FA9-299D-1EDA-D7CF8362497B}"/>
              </a:ext>
            </a:extLst>
          </p:cNvPr>
          <p:cNvCxnSpPr>
            <a:cxnSpLocks/>
          </p:cNvCxnSpPr>
          <p:nvPr/>
        </p:nvCxnSpPr>
        <p:spPr>
          <a:xfrm flipV="1">
            <a:off x="7327770" y="852455"/>
            <a:ext cx="0" cy="3252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6EB6674-B499-D939-82EB-E8552A78376E}"/>
              </a:ext>
            </a:extLst>
          </p:cNvPr>
          <p:cNvCxnSpPr>
            <a:cxnSpLocks/>
          </p:cNvCxnSpPr>
          <p:nvPr/>
        </p:nvCxnSpPr>
        <p:spPr>
          <a:xfrm flipV="1">
            <a:off x="7074817" y="852455"/>
            <a:ext cx="0" cy="3252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914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E3484-BF53-2E26-3624-AF8CE6D27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6FF141-6FE4-404E-7B24-34FAF52F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6044187-D430-4053-7AC6-6EA9E3C81F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</p:spPr>
            <p:txBody>
              <a:bodyPr numCol="1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유의미하지 않은 상관관계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(p=0.852),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기침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(p=0.277)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다른 감염병들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or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비감염성 질환들과 연관이 깊음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그러나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3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지연시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유의미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(r=0.69, p=0.004),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기침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(r=0.65, p=0.008).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유의미한  상관관계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호흡곤란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(r=0.5, p=0.034)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호흡곤란은 감염 후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1~3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 후에 나타나는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중증 폐침범의 진행을 반영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기침에 비해 더 심각한 병변을 반영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Google Search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를 통해 호흡곤란의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Peak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를 초기에 파악했다면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제한 조치나 사회적 거리두기를 미리 준비할 수 있었음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6044187-D430-4053-7AC6-6EA9E3C81F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  <a:blipFill>
                <a:blip r:embed="rId2"/>
                <a:stretch>
                  <a:fillRect l="-171" r="-1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02F8D-A183-76B0-F2CD-0339CDBFD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443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020E3-BECE-9AC4-4682-F56459AD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E168E-49D0-6E88-E14C-F0D8F9B6D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C5AEC-A3E9-15D6-76AB-DA6013402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00209" cy="5032375"/>
          </a:xfrm>
        </p:spPr>
        <p:txBody>
          <a:bodyPr numCol="1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"/>
                <a:cs typeface="Times New Roman" panose="02020603050405020304" pitchFamily="18" charset="0"/>
              </a:rPr>
              <a:t>Spearman’s correlations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증상 간의 상관관계 분석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기침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&amp;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발열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(S=0.94, p&lt;0.001)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기침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&amp;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호흡곤란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(S=0.49, p&lt;0.041)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발열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&amp;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호흡곤란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(S=0.61, p&lt;0.007)</a:t>
            </a:r>
            <a:endParaRPr lang="en-US" altLang="ko-KR" dirty="0">
              <a:latin typeface="times new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증상 상호간의 연관이 있음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동일한 병리에 의해 유발 가설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times new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times new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E093D-47D0-70CC-2DD8-E94DF66A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EA9B78-1B71-02E1-3021-4BD0DD9D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289" y="587324"/>
            <a:ext cx="6878622" cy="553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72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5258E-D727-79C5-B2BD-C09A205F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38FDB-35D5-2B19-3EAC-E73A7CD72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B7A617F-6A89-1AC2-97A1-818DE6DD2B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</p:spPr>
            <p:txBody>
              <a:bodyPr numCol="1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다른 연구들과 비교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결과가 전부 일치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Yuan et al.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연구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Google Trends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사용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지역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미국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키워드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: COVID, COVID Pneumonia, COVID heart.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키워드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검색량과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일일 코로나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발생율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사망률과 유의미한 상관관계 보임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그러나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12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일과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19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일의 지연이 있음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914400" lvl="2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이는 발열과 기침에 대해 관찰된 기간과 거의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유사함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B7A617F-6A89-1AC2-97A1-818DE6DD2B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  <a:blipFill>
                <a:blip r:embed="rId2"/>
                <a:stretch>
                  <a:fillRect l="-1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8DC03D-94A9-2AAF-8BFF-2E5F5F906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364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A00F8-6378-F3DF-0C7C-149204F2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5CB77-7457-F19E-21FE-220A832C9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466909D-2F06-BF34-517C-D2A84728C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</p:spPr>
            <p:txBody>
              <a:bodyPr numCol="1">
                <a:norm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Panuganti et al.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연구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Google search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사용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지역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미국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키워드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: fever(r=0.749), cough(r=0.629), shortness of breath(r=0.732).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키워드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검색량과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코로나 발생률에 대한 높은 상관관계가 확인됨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3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주간의 지연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914400" lvl="2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이는 발열과 기침에 대해 관찰된 기간과 유사함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466909D-2F06-BF34-517C-D2A84728C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24435A-E961-F6BA-301A-F68FD36B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047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21D71-02C0-3446-FCAF-DC8A90351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DE92F-50CF-A701-E48B-AC675CFAB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9A563D3-B84E-FC1A-1AEC-A211395F6F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</p:spPr>
            <p:txBody>
              <a:bodyPr numCol="1">
                <a:norm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en-US" altLang="ko-KR" sz="1600" b="1" dirty="0" err="1">
                    <a:latin typeface="times new"/>
                    <a:cs typeface="Times New Roman" panose="02020603050405020304" pitchFamily="18" charset="0"/>
                  </a:rPr>
                  <a:t>Ciaffi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 et al.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연구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Google search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사용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지역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이탈리아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키워드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600" dirty="0" err="1">
                    <a:latin typeface="times new"/>
                    <a:cs typeface="Times New Roman" panose="02020603050405020304" pitchFamily="18" charset="0"/>
                  </a:rPr>
                  <a:t>tosse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기침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), </a:t>
                </a:r>
                <a:r>
                  <a:rPr lang="en-US" altLang="ko-KR" sz="1600" dirty="0" err="1">
                    <a:latin typeface="times new"/>
                    <a:cs typeface="Times New Roman" panose="02020603050405020304" pitchFamily="18" charset="0"/>
                  </a:rPr>
                  <a:t>febbre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키워드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검색량과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중환자실 입원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or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사망에 대한 유의미한 상관관계가 확인됨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1~2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주간의 지연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이 이후의 모든 유의미한 상관관계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(r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≥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0.71).</a:t>
                </a:r>
              </a:p>
              <a:p>
                <a:pPr marL="914400" lvl="2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이는 발열과 기침에 대해 관찰된 기간과 거의 유사함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9A563D3-B84E-FC1A-1AEC-A211395F6F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6C04-D9E7-4456-A5AA-E2CB6EA7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665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464B4-4B3B-EC92-259E-30EFBCF9E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323E8-1B32-DC37-530D-137B795E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9568F9-D06F-423F-6684-4F1545EA4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00209" cy="5032375"/>
          </a:xfrm>
        </p:spPr>
        <p:txBody>
          <a:bodyPr numCol="1"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altLang="ko-KR" sz="1600" b="1" dirty="0">
                <a:latin typeface="times new"/>
                <a:cs typeface="Times New Roman" panose="02020603050405020304" pitchFamily="18" charset="0"/>
              </a:rPr>
              <a:t>Higgins et al. </a:t>
            </a:r>
            <a:r>
              <a:rPr lang="ko-KR" altLang="en-US" sz="1600" b="1" dirty="0">
                <a:latin typeface="times new"/>
                <a:cs typeface="Times New Roman" panose="02020603050405020304" pitchFamily="18" charset="0"/>
              </a:rPr>
              <a:t>연구</a:t>
            </a:r>
            <a:endParaRPr lang="en-US" altLang="ko-KR" sz="1600" b="1" dirty="0">
              <a:latin typeface="times new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Google &amp; Baidu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사용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지역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: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중국으로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추청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키워드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: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많은 코로나 감염병의 증상들 대상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증상들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검색량이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전세계 일일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확진자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수와 사망자 수를 모두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12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일 전에 예측 가능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latin typeface="times new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구글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검색량을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지속적으로 모니터링하고 지역성을 추가한다면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지역적 재유행과 제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2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의 코로나 식별하는 데 유용한 수단으로 간주될 것이다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11072F-FF3A-AA80-EDBD-68B640F1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35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EF3C-FCC0-DDD4-4A2F-787B2F4A6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16B8F-AFF9-5CED-34B5-577965B3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국내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91DF21-8E14-C8B5-11F6-947BC7E93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209" cy="466725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times new"/>
                <a:cs typeface="Times New Roman" panose="02020603050405020304" pitchFamily="18" charset="0"/>
              </a:rPr>
              <a:t>Title</a:t>
            </a:r>
          </a:p>
          <a:p>
            <a:pPr>
              <a:lnSpc>
                <a:spcPct val="100000"/>
              </a:lnSpc>
            </a:pPr>
            <a:r>
              <a:rPr lang="ko-KR" altLang="ko-KR" sz="1600" dirty="0"/>
              <a:t>울산지역 하수기반역학을 이용한 코로나19 감시 연구</a:t>
            </a:r>
            <a:r>
              <a:rPr lang="en-US" altLang="ko-KR" sz="1600" dirty="0">
                <a:latin typeface="times new"/>
              </a:rPr>
              <a:t>, </a:t>
            </a:r>
            <a:br>
              <a:rPr lang="en-US" altLang="ko-KR" sz="1600" dirty="0">
                <a:latin typeface="times new"/>
              </a:rPr>
            </a:br>
            <a:r>
              <a:rPr lang="ko-KR" altLang="ko-KR" sz="1400" dirty="0"/>
              <a:t>김경남*· </a:t>
            </a:r>
            <a:r>
              <a:rPr lang="ko-KR" altLang="ko-KR" sz="1400" dirty="0" err="1"/>
              <a:t>최재선</a:t>
            </a:r>
            <a:r>
              <a:rPr lang="ko-KR" altLang="ko-KR" sz="1400" dirty="0"/>
              <a:t> · 이연수 · </a:t>
            </a:r>
            <a:r>
              <a:rPr lang="ko-KR" altLang="ko-KR" sz="1400" dirty="0" err="1"/>
              <a:t>김대교</a:t>
            </a:r>
            <a:r>
              <a:rPr lang="ko-KR" altLang="ko-KR" sz="1400" dirty="0"/>
              <a:t> · 박준영 · 김영민 · </a:t>
            </a:r>
            <a:r>
              <a:rPr lang="ko-KR" altLang="ko-KR" sz="1400" dirty="0" err="1"/>
              <a:t>최영선</a:t>
            </a:r>
            <a:r>
              <a:rPr lang="en-US" altLang="ko-KR" sz="1600" dirty="0">
                <a:latin typeface="times new"/>
              </a:rPr>
              <a:t>, Journal of Food Hygiene and Safety</a:t>
            </a:r>
            <a:endParaRPr lang="en-US" altLang="ko-KR" sz="1800" b="1" dirty="0">
              <a:latin typeface="times new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times new"/>
                <a:cs typeface="Times New Roman" panose="02020603050405020304" pitchFamily="18" charset="0"/>
              </a:rPr>
              <a:t>What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코로나 감염병의 조기 발견 및 확산 예측 가능성을 알아보고 대응체계 구축에 필요한 자료 제공</a:t>
            </a:r>
            <a:endParaRPr lang="en-US" altLang="ko-KR" sz="1600" dirty="0">
              <a:latin typeface="times new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times new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DCAF7D-B136-F150-B123-9ABF8A22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487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D93B-715A-1094-026E-E738456A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59A20-843C-8BC7-AF61-26A9C573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국내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44013B1-4DA7-4F60-13B5-98081E0E51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</p:spPr>
            <p:txBody>
              <a:bodyPr numCol="1"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How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울산 내 하수처리장 선정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각각 다른 특성 선정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A(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굴화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 (Aug. 2022 ~)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인구밀집도가 높은 신도시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인구특성 파악 가능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B(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용연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 (Aug. 2022 ~)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온산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공단 밀집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공업폐수 유입 多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인구특성 반영 불가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C(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농소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), D(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방어진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 (Feb. 2023 ~ )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생활 풍족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인구밀집 높음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각 하수처리장에서 유입수를 시료로 채취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A, B(Grab), C, D(Composite)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방법 사용</a:t>
                </a:r>
                <a:endParaRPr lang="en-US" altLang="ko-KR" sz="1200" dirty="0">
                  <a:latin typeface="times new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44013B1-4DA7-4F60-13B5-98081E0E51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58933C-F743-624B-DC50-D561566DA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95E57C-DBE7-E068-0F17-A348F287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879" y="574508"/>
            <a:ext cx="8213889" cy="152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507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59E64-88E9-33ED-924C-E4E1484F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014B4-5952-F46A-73B5-289519500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국내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1D858F-91B0-B80D-586E-9073755938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</p:spPr>
            <p:txBody>
              <a:bodyPr numCol="1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PEG-NaCl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농축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바이러스 침전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RNA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핵산 추출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RT-PCE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유전자 분석 실시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Next Generation Sequencing (NGS).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최종 감염병 하수 농도 추출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구역별 인구수 가중치 적용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Pearson Correlation Coefficient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실시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바이러스 농도와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확진자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수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1D858F-91B0-B80D-586E-9073755938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  <a:blipFill>
                <a:blip r:embed="rId2"/>
                <a:stretch>
                  <a:fillRect l="-1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59E0D3-BB68-D9F5-3838-7A1C85F9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3A67C9-112C-74E1-57C7-022E52803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017" y="1597025"/>
            <a:ext cx="7510918" cy="425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87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57858-9E39-4086-BCF4-7332C17DD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A1A446D-CC62-BB2A-88BC-5822F29F2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03" y="3599233"/>
            <a:ext cx="5666819" cy="30237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5642262-843B-0086-20D6-A7B3FCBB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국내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7053C97-67E6-8F35-7E95-819BCC378B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</p:spPr>
            <p:txBody>
              <a:bodyPr numCol="1"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000" b="1" dirty="0">
                    <a:latin typeface="times new"/>
                    <a:cs typeface="Times New Roman" panose="02020603050405020304" pitchFamily="18" charset="0"/>
                  </a:rPr>
                  <a:t>하수 내 코로나 농도와 </a:t>
                </a:r>
                <a:r>
                  <a:rPr lang="ko-KR" altLang="en-US" sz="2000" b="1" dirty="0" err="1">
                    <a:latin typeface="times new"/>
                    <a:cs typeface="Times New Roman" panose="02020603050405020304" pitchFamily="18" charset="0"/>
                  </a:rPr>
                  <a:t>확진자</a:t>
                </a:r>
                <a:r>
                  <a:rPr lang="ko-KR" altLang="en-US" sz="2000" b="1" dirty="0">
                    <a:latin typeface="times new"/>
                    <a:cs typeface="Times New Roman" panose="02020603050405020304" pitchFamily="18" charset="0"/>
                  </a:rPr>
                  <a:t> 수와의 상관분석</a:t>
                </a:r>
                <a:endParaRPr lang="en-US" altLang="ko-KR" sz="2000" b="1" dirty="0">
                  <a:latin typeface="times new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r = 0.914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매우 높은 상관관계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000" b="1" dirty="0">
                    <a:latin typeface="times new"/>
                    <a:cs typeface="Times New Roman" panose="02020603050405020304" pitchFamily="18" charset="0"/>
                  </a:rPr>
                  <a:t>코로나 농도와 </a:t>
                </a:r>
                <a:r>
                  <a:rPr lang="ko-KR" altLang="en-US" sz="2000" b="1" dirty="0" err="1">
                    <a:latin typeface="times new"/>
                    <a:cs typeface="Times New Roman" panose="02020603050405020304" pitchFamily="18" charset="0"/>
                  </a:rPr>
                  <a:t>확진자</a:t>
                </a:r>
                <a:r>
                  <a:rPr lang="ko-KR" altLang="en-US" sz="2000" b="1" dirty="0">
                    <a:latin typeface="times new"/>
                    <a:cs typeface="Times New Roman" panose="02020603050405020304" pitchFamily="18" charset="0"/>
                  </a:rPr>
                  <a:t> 수의 경향성</a:t>
                </a:r>
                <a:endParaRPr lang="en-US" altLang="ko-KR" sz="2000" b="1" dirty="0">
                  <a:latin typeface="times new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전반적으로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비슷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Conclusion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감염병에 하수감시를 통한 역학조사 방법 활용 가능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식품 분야에도 활용하여 마약류 및 식품분석에도</a:t>
                </a:r>
                <a:b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</a:b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도움을 줄 것으로 사료됨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7053C97-67E6-8F35-7E95-819BCC378B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  <a:blipFill>
                <a:blip r:embed="rId3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1C6502-5341-5BEF-710A-9BE89E3D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6CCAF4-B444-61C1-D8E6-37B695E90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076" y="125901"/>
            <a:ext cx="5422902" cy="347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058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46DB-5DC0-066F-EA40-EB483AF56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5C8D7-3CD6-6B57-43C4-755113B3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앞으로의 진행 단계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C33ABB7-735A-F44D-1B37-976289A93D7A}"/>
              </a:ext>
            </a:extLst>
          </p:cNvPr>
          <p:cNvSpPr/>
          <p:nvPr/>
        </p:nvSpPr>
        <p:spPr>
          <a:xfrm>
            <a:off x="2357120" y="2230120"/>
            <a:ext cx="680720" cy="6705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900A3C4-1EC0-8270-D517-61201F39DE5A}"/>
              </a:ext>
            </a:extLst>
          </p:cNvPr>
          <p:cNvSpPr/>
          <p:nvPr/>
        </p:nvSpPr>
        <p:spPr>
          <a:xfrm>
            <a:off x="6868160" y="223012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5DDE6A0-9D01-D020-FA3F-136872FE49B7}"/>
              </a:ext>
            </a:extLst>
          </p:cNvPr>
          <p:cNvSpPr/>
          <p:nvPr/>
        </p:nvSpPr>
        <p:spPr>
          <a:xfrm>
            <a:off x="9123680" y="223012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CB8BE9C-061C-5B49-2F3D-D96AABAF4E3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498600" y="2565400"/>
            <a:ext cx="858520" cy="25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C544DF7-8875-6FBE-37B7-995E7D5AA168}"/>
              </a:ext>
            </a:extLst>
          </p:cNvPr>
          <p:cNvCxnSpPr>
            <a:cxnSpLocks/>
          </p:cNvCxnSpPr>
          <p:nvPr/>
        </p:nvCxnSpPr>
        <p:spPr>
          <a:xfrm>
            <a:off x="3037840" y="256032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0D34187-9166-A2D6-BE4B-5858ED3BB772}"/>
              </a:ext>
            </a:extLst>
          </p:cNvPr>
          <p:cNvCxnSpPr>
            <a:cxnSpLocks/>
          </p:cNvCxnSpPr>
          <p:nvPr/>
        </p:nvCxnSpPr>
        <p:spPr>
          <a:xfrm>
            <a:off x="5308600" y="255524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120289F-B70F-67CA-9D51-3672A5397A06}"/>
              </a:ext>
            </a:extLst>
          </p:cNvPr>
          <p:cNvCxnSpPr>
            <a:cxnSpLocks/>
          </p:cNvCxnSpPr>
          <p:nvPr/>
        </p:nvCxnSpPr>
        <p:spPr>
          <a:xfrm>
            <a:off x="7533640" y="256286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A8B9DED-D16A-DC89-67BD-939907AD0BCA}"/>
              </a:ext>
            </a:extLst>
          </p:cNvPr>
          <p:cNvCxnSpPr>
            <a:cxnSpLocks/>
          </p:cNvCxnSpPr>
          <p:nvPr/>
        </p:nvCxnSpPr>
        <p:spPr>
          <a:xfrm>
            <a:off x="9804400" y="2560320"/>
            <a:ext cx="985520" cy="25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E24486-2719-E19A-824D-B25966A0DFD0}"/>
              </a:ext>
            </a:extLst>
          </p:cNvPr>
          <p:cNvSpPr txBox="1"/>
          <p:nvPr/>
        </p:nvSpPr>
        <p:spPr>
          <a:xfrm>
            <a:off x="1402079" y="3060960"/>
            <a:ext cx="2578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1</a:t>
            </a:r>
            <a:r>
              <a:rPr lang="ko-KR" altLang="en-US" sz="1600" b="1" dirty="0"/>
              <a:t>주차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235CA-56F9-0638-AFBC-432BB1ED4710}"/>
              </a:ext>
            </a:extLst>
          </p:cNvPr>
          <p:cNvSpPr txBox="1"/>
          <p:nvPr/>
        </p:nvSpPr>
        <p:spPr>
          <a:xfrm>
            <a:off x="3846556" y="30565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2</a:t>
            </a:r>
            <a:r>
              <a:rPr lang="ko-KR" altLang="en-US" sz="1600" b="1" dirty="0"/>
              <a:t>주차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4A446D5-7BC4-5ABB-49B1-2C234E30F78B}"/>
              </a:ext>
            </a:extLst>
          </p:cNvPr>
          <p:cNvSpPr/>
          <p:nvPr/>
        </p:nvSpPr>
        <p:spPr>
          <a:xfrm>
            <a:off x="6868160" y="463804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1421F58-F052-7617-F8E8-554A01A8B392}"/>
              </a:ext>
            </a:extLst>
          </p:cNvPr>
          <p:cNvSpPr/>
          <p:nvPr/>
        </p:nvSpPr>
        <p:spPr>
          <a:xfrm>
            <a:off x="9123680" y="463804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65888C5-AD3F-88FE-D79D-A87A74679EA4}"/>
              </a:ext>
            </a:extLst>
          </p:cNvPr>
          <p:cNvCxnSpPr>
            <a:cxnSpLocks/>
          </p:cNvCxnSpPr>
          <p:nvPr/>
        </p:nvCxnSpPr>
        <p:spPr>
          <a:xfrm>
            <a:off x="7533640" y="497078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0388D61-738E-52B0-9C65-98D3328652E6}"/>
              </a:ext>
            </a:extLst>
          </p:cNvPr>
          <p:cNvCxnSpPr>
            <a:cxnSpLocks/>
          </p:cNvCxnSpPr>
          <p:nvPr/>
        </p:nvCxnSpPr>
        <p:spPr>
          <a:xfrm flipV="1">
            <a:off x="9804400" y="4963160"/>
            <a:ext cx="98552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4BC22B6-0D67-A875-C767-E2E4983018F2}"/>
              </a:ext>
            </a:extLst>
          </p:cNvPr>
          <p:cNvCxnSpPr>
            <a:cxnSpLocks/>
          </p:cNvCxnSpPr>
          <p:nvPr/>
        </p:nvCxnSpPr>
        <p:spPr>
          <a:xfrm>
            <a:off x="10789920" y="2562860"/>
            <a:ext cx="0" cy="24079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AF02127-A9E4-AFB4-EF9C-ED969C2FC374}"/>
              </a:ext>
            </a:extLst>
          </p:cNvPr>
          <p:cNvSpPr txBox="1"/>
          <p:nvPr/>
        </p:nvSpPr>
        <p:spPr>
          <a:xfrm>
            <a:off x="6421120" y="3056523"/>
            <a:ext cx="157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3</a:t>
            </a:r>
            <a:r>
              <a:rPr lang="ko-KR" altLang="en-US" sz="1600" b="1" dirty="0"/>
              <a:t>주차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AC415A-AEF9-23C5-ACFA-06F2ED144DA8}"/>
              </a:ext>
            </a:extLst>
          </p:cNvPr>
          <p:cNvSpPr txBox="1"/>
          <p:nvPr/>
        </p:nvSpPr>
        <p:spPr>
          <a:xfrm>
            <a:off x="8357596" y="30565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4</a:t>
            </a:r>
            <a:r>
              <a:rPr lang="ko-KR" altLang="en-US" sz="1600" b="1" dirty="0"/>
              <a:t>주차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094DEA-26A4-2FFA-3D51-ECDF459D3272}"/>
              </a:ext>
            </a:extLst>
          </p:cNvPr>
          <p:cNvSpPr txBox="1"/>
          <p:nvPr/>
        </p:nvSpPr>
        <p:spPr>
          <a:xfrm>
            <a:off x="8357596" y="54568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8</a:t>
            </a:r>
            <a:r>
              <a:rPr lang="ko-KR" altLang="en-US" sz="1600" b="1" dirty="0"/>
              <a:t>월</a:t>
            </a:r>
            <a:r>
              <a:rPr lang="en-US" altLang="ko-KR" sz="1600" b="1" dirty="0"/>
              <a:t>3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~8</a:t>
            </a:r>
            <a:r>
              <a:rPr lang="ko-KR" altLang="en-US" sz="1600" b="1" dirty="0"/>
              <a:t>월</a:t>
            </a:r>
            <a:r>
              <a:rPr lang="en-US" altLang="ko-KR" sz="1600" b="1" dirty="0"/>
              <a:t>7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(5</a:t>
            </a:r>
            <a:r>
              <a:rPr lang="ko-KR" altLang="en-US" sz="1600" b="1" dirty="0"/>
              <a:t>주차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968923-56E4-6F84-AC23-809D8B77AB31}"/>
              </a:ext>
            </a:extLst>
          </p:cNvPr>
          <p:cNvSpPr txBox="1"/>
          <p:nvPr/>
        </p:nvSpPr>
        <p:spPr>
          <a:xfrm>
            <a:off x="6421120" y="5464443"/>
            <a:ext cx="157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장기인턴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71A6BBA-BF8B-0495-F4D0-6E89464894DB}"/>
              </a:ext>
            </a:extLst>
          </p:cNvPr>
          <p:cNvCxnSpPr/>
          <p:nvPr/>
        </p:nvCxnSpPr>
        <p:spPr>
          <a:xfrm flipH="1">
            <a:off x="5409886" y="4970780"/>
            <a:ext cx="147351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5B1A412-72C5-DA9A-02ED-07632164B263}"/>
              </a:ext>
            </a:extLst>
          </p:cNvPr>
          <p:cNvSpPr txBox="1"/>
          <p:nvPr/>
        </p:nvSpPr>
        <p:spPr>
          <a:xfrm>
            <a:off x="1565933" y="3458487"/>
            <a:ext cx="2250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데이터 수집 마무리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+ 3</a:t>
            </a:r>
            <a:r>
              <a:rPr lang="ko-KR" altLang="en-US" sz="1600" b="1" dirty="0"/>
              <a:t>주 이동평균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리딩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202B23-450E-D2F8-EA88-BA5C138A1691}"/>
              </a:ext>
            </a:extLst>
          </p:cNvPr>
          <p:cNvSpPr txBox="1"/>
          <p:nvPr/>
        </p:nvSpPr>
        <p:spPr>
          <a:xfrm>
            <a:off x="3893256" y="3447257"/>
            <a:ext cx="2026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상관계수 이해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코드 작성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리딩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40CE45-690A-12CA-0C46-A2328C557FAA}"/>
              </a:ext>
            </a:extLst>
          </p:cNvPr>
          <p:cNvSpPr txBox="1"/>
          <p:nvPr/>
        </p:nvSpPr>
        <p:spPr>
          <a:xfrm>
            <a:off x="6249842" y="3420108"/>
            <a:ext cx="17763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0F4C1F-D091-A1DE-8A12-CADB85F7E0D4}"/>
              </a:ext>
            </a:extLst>
          </p:cNvPr>
          <p:cNvSpPr txBox="1"/>
          <p:nvPr/>
        </p:nvSpPr>
        <p:spPr>
          <a:xfrm>
            <a:off x="8630841" y="3458487"/>
            <a:ext cx="17763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4FD642-B7B5-F009-FE77-0917671A4629}"/>
              </a:ext>
            </a:extLst>
          </p:cNvPr>
          <p:cNvSpPr txBox="1"/>
          <p:nvPr/>
        </p:nvSpPr>
        <p:spPr>
          <a:xfrm>
            <a:off x="8575863" y="5797183"/>
            <a:ext cx="17763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마무리</a:t>
            </a:r>
            <a:endParaRPr lang="en-US" altLang="ko-KR" sz="16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E8D4EB-ECE5-0CEA-35D8-F4498D7A9DF1}"/>
              </a:ext>
            </a:extLst>
          </p:cNvPr>
          <p:cNvSpPr txBox="1"/>
          <p:nvPr/>
        </p:nvSpPr>
        <p:spPr>
          <a:xfrm>
            <a:off x="6211668" y="5802262"/>
            <a:ext cx="18526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다음 연구 진행</a:t>
            </a:r>
            <a:endParaRPr lang="en-US" altLang="ko-KR" sz="1600" b="1" dirty="0"/>
          </a:p>
        </p:txBody>
      </p:sp>
      <p:sp>
        <p:nvSpPr>
          <p:cNvPr id="48" name="슬라이드 번호 개체 틀 47">
            <a:extLst>
              <a:ext uri="{FF2B5EF4-FFF2-40B4-BE49-F238E27FC236}">
                <a16:creationId xmlns:a16="http://schemas.microsoft.com/office/drawing/2014/main" id="{F251A3CD-8941-A08C-D4B2-6B2247C2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C2B9409-1EE1-0E0F-2AA1-B464D056A99E}"/>
              </a:ext>
            </a:extLst>
          </p:cNvPr>
          <p:cNvSpPr/>
          <p:nvPr/>
        </p:nvSpPr>
        <p:spPr>
          <a:xfrm>
            <a:off x="4620260" y="2232660"/>
            <a:ext cx="680720" cy="67056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616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32B5D-2E70-FDA5-B9BC-3E50AEC1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37967-141C-7AFF-F867-1C59EEA4D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감사합니다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786A503-D5FC-042F-9907-0C113C7D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335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4499</TotalTime>
  <Words>1261</Words>
  <Application>Microsoft Office PowerPoint</Application>
  <PresentationFormat>와이드스크린</PresentationFormat>
  <Paragraphs>236</Paragraphs>
  <Slides>26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times new</vt:lpstr>
      <vt:lpstr>맑은 고딕</vt:lpstr>
      <vt:lpstr>Arial</vt:lpstr>
      <vt:lpstr>Cambria Math</vt:lpstr>
      <vt:lpstr>times</vt:lpstr>
      <vt:lpstr>Times New Roman</vt:lpstr>
      <vt:lpstr>Office 테마</vt:lpstr>
      <vt:lpstr>진행사항 보고</vt:lpstr>
      <vt:lpstr>Outline</vt:lpstr>
      <vt:lpstr>1. 피어슨 상관관계</vt:lpstr>
      <vt:lpstr>코로나</vt:lpstr>
      <vt:lpstr>인플루엔자</vt:lpstr>
      <vt:lpstr>노로바이러스</vt:lpstr>
      <vt:lpstr>1. 지역별 검색량 데이터 검증</vt:lpstr>
      <vt:lpstr>전국적 주별 절대값 = A(월별 절대값, 주별 상대값)</vt:lpstr>
      <vt:lpstr>지역별 절대값 = B(지역별 인구수, 전국적 주별 절대값, 지역별 상대값)</vt:lpstr>
      <vt:lpstr>가중치에 도달하기까지(3/3)</vt:lpstr>
      <vt:lpstr>2. 논문 정리</vt:lpstr>
      <vt:lpstr>해외 연구</vt:lpstr>
      <vt:lpstr>해외 연구</vt:lpstr>
      <vt:lpstr>해외 연구</vt:lpstr>
      <vt:lpstr>해외 연구</vt:lpstr>
      <vt:lpstr>해외 연구</vt:lpstr>
      <vt:lpstr>해외 연구</vt:lpstr>
      <vt:lpstr>해외 연구</vt:lpstr>
      <vt:lpstr>해외 연구</vt:lpstr>
      <vt:lpstr>해외 연구</vt:lpstr>
      <vt:lpstr>국내 연구</vt:lpstr>
      <vt:lpstr>국내 연구</vt:lpstr>
      <vt:lpstr>국내 연구</vt:lpstr>
      <vt:lpstr>국내 연구</vt:lpstr>
      <vt:lpstr>앞으로의 진행 단계</vt:lpstr>
      <vt:lpstr>감사합니다!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Kang</dc:creator>
  <cp:lastModifiedBy>SeoJin Kang</cp:lastModifiedBy>
  <cp:revision>29</cp:revision>
  <dcterms:created xsi:type="dcterms:W3CDTF">2026-07-03T09:13:49Z</dcterms:created>
  <dcterms:modified xsi:type="dcterms:W3CDTF">2026-07-22T01:08:57Z</dcterms:modified>
</cp:coreProperties>
</file>