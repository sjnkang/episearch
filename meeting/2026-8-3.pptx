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80" r:id="rId4"/>
    <p:sldId id="285" r:id="rId5"/>
    <p:sldId id="299" r:id="rId6"/>
    <p:sldId id="291" r:id="rId7"/>
    <p:sldId id="281" r:id="rId8"/>
    <p:sldId id="300" r:id="rId9"/>
    <p:sldId id="316" r:id="rId10"/>
    <p:sldId id="282" r:id="rId11"/>
    <p:sldId id="289" r:id="rId12"/>
    <p:sldId id="293" r:id="rId13"/>
    <p:sldId id="279" r:id="rId14"/>
    <p:sldId id="283" r:id="rId15"/>
    <p:sldId id="305" r:id="rId16"/>
    <p:sldId id="306" r:id="rId17"/>
    <p:sldId id="307" r:id="rId18"/>
    <p:sldId id="312" r:id="rId19"/>
    <p:sldId id="303" r:id="rId20"/>
    <p:sldId id="310" r:id="rId21"/>
    <p:sldId id="309" r:id="rId22"/>
    <p:sldId id="311" r:id="rId23"/>
    <p:sldId id="313" r:id="rId24"/>
    <p:sldId id="314" r:id="rId25"/>
    <p:sldId id="284" r:id="rId26"/>
    <p:sldId id="290" r:id="rId27"/>
    <p:sldId id="301" r:id="rId28"/>
    <p:sldId id="302" r:id="rId29"/>
    <p:sldId id="276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3" autoAdjust="0"/>
    <p:restoredTop sz="95172" autoAdjust="0"/>
  </p:normalViewPr>
  <p:slideViewPr>
    <p:cSldViewPr snapToGrid="0">
      <p:cViewPr varScale="1">
        <p:scale>
          <a:sx n="81" d="100"/>
          <a:sy n="81" d="100"/>
        </p:scale>
        <p:origin x="8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F5872F-D8E6-4376-85E7-8E0BE66BD76B}" type="datetimeFigureOut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9DBCA-738F-45AD-B1D5-0651DCA924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5983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4711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25952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P-value</a:t>
            </a:r>
            <a:r>
              <a:rPr lang="ko-KR" altLang="en-US" dirty="0"/>
              <a:t>가 </a:t>
            </a:r>
            <a:r>
              <a:rPr lang="en-GB" altLang="ko-KR" dirty="0"/>
              <a:t>0.05 </a:t>
            </a:r>
            <a:r>
              <a:rPr lang="ko-KR" altLang="en-US" dirty="0"/>
              <a:t>보다 작으지 높은지 직관적으로 파악 가능하게 수치를 바꿀것 </a:t>
            </a:r>
            <a:r>
              <a:rPr lang="en-GB" altLang="ko-KR" dirty="0"/>
              <a:t>(</a:t>
            </a:r>
            <a:r>
              <a:rPr lang="ko-KR" altLang="en-US" dirty="0"/>
              <a:t>뒤쪽 슬라이드 모두</a:t>
            </a:r>
            <a:r>
              <a:rPr lang="en-GB" altLang="ko-KR" dirty="0"/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9531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5710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33200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RA3</a:t>
            </a:r>
            <a:r>
              <a:rPr lang="ko-KR" altLang="en-US" dirty="0"/>
              <a:t>에 어떤 병원체가 </a:t>
            </a:r>
            <a:r>
              <a:rPr lang="ko-KR" altLang="en-US" dirty="0" err="1"/>
              <a:t>몇주가</a:t>
            </a:r>
            <a:r>
              <a:rPr lang="ko-KR" altLang="en-US" dirty="0"/>
              <a:t> 최적인지 구체적으로 </a:t>
            </a:r>
            <a:r>
              <a:rPr lang="ko-KR" altLang="en-US" dirty="0" err="1"/>
              <a:t>적을것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907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79DBCA-738F-45AD-B1D5-0651DCA92466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28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FE024-5D48-C60C-D88B-53DA780D2E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AE699F5-F2BC-7E86-DB9B-957F02F499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093381-4B81-FC2D-A9CF-45AF2093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9C3D4-7727-4006-97BB-8E8D2847228D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4F8858-D393-9D6A-82F2-1AE4E1E0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3F02EA-5113-923D-FAD1-A40610AFC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0735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80D5D5-4101-DA56-ED4B-BC203986F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3CA382-DE4C-3AF7-9815-2CC51DBE65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327E2F-827A-1D3F-0E16-D7052D530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A66F4-A26D-4981-BC23-38EECFA25F08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4739F8-A319-311E-2F0F-09A8C6E62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3C2162-EFFD-200A-F1C1-912FAFFE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609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AC1114-1FF5-E637-361F-772CC3B0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FBB6F5-E57C-ABEE-9A39-0B4544EA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025442-8996-638A-1769-ACCAAA13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66376-9C44-4BC9-8B5C-8ABF494A481A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2C807-6F82-A15B-A00C-552E2565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441B9BC-2C7A-43B3-BFA4-45094D37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794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3AC28-4B39-3B0E-2D56-A5A299D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D4F61-9914-6FE1-F564-988DFE83A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E46CDF-4BA0-81B9-76F0-F62076A40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6AF448-1EBA-8A79-12BE-A4442DFBB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6388B-9F86-4EC9-BF99-A247187CC235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5BDF8FE-AB59-D53C-004D-854B43302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27CC34F-86F6-ADDD-A54A-8B8A423B0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60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166E92-C521-19E3-0C56-60438D81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0EE006-008D-A109-F2DB-81E8DF56FC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AB5330E-BB4E-2039-2E80-94162918D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AC39A94-87EE-0B5C-5483-72B48A7E5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0430ED-962E-D416-32EB-CEDBB6F247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BAF16F2-4443-1FD2-F497-011309CF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50B1E-0A9E-4B45-8DA6-919F1F497CA3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9E34A60-7169-9094-5433-32D0BCCA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79D0453-0517-8F75-58CA-00C55209F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877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7A7B4A-ED11-2942-6C3C-B7F82338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EB72845-1856-8B67-75BF-08804847D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C9069-2C96-41DE-9A4B-8318221B2B51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37A5A44-338D-2E0B-D018-509F6DFA9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CA93D6-A7AD-D07D-3649-58593A8D5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87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D2B586-25D8-7945-2DE2-6506D8847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6FA6D-A437-498E-B525-1590CFEC9658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524AC61-4C89-95DF-F019-7F4848283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556A90-B6F6-E6E9-C022-1346435AC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6810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E901ED-6E81-111E-9DF6-17A29F9B3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19B601-D96F-7169-307F-726FEA7E5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5D1B1AF-E00C-823E-AF03-D9C090593F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9AFBB6B-C925-ECED-0946-0DA29FB20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919068-B6DF-48BD-BA41-106E07FDA509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F16A-3058-5EA7-E0A9-9AAB3A32C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36AD1-6D43-4AA0-E15D-C3BE87EE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86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319C9-BCC8-5D4A-2B27-8DBF32BD8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5259AB-C17E-1E5D-0AAC-3EF048DB3E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CB3C06-F9CD-43EC-0BD3-BD31FD0760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9BE135-A847-9399-8ABD-D1902C5BB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04DD-1E7E-46E1-808F-4A643A5099EB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FC813E-00FB-91F1-ACA4-1CD31DA54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EE87F2-5EAC-D696-885E-541CC9D3A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0814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5AA1B-2BCA-FF97-07A8-220DF524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9E1D85A-70E4-A271-758C-2DE9F22219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9155D5-7544-1BA3-650A-9BC4C968A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E542E-06E0-4F1E-AB90-9629E2D3FD19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6C32AF-1DF0-ACB2-E6F8-A6DF58ED9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F6DB62-CEEA-9562-7C2D-F2AA5558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5405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7A3DBE5-40CA-2631-DFAC-9E1071A92B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9864FFE-7AE9-7310-26AD-DF1217884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9A6FB4-57C9-9EDE-C0A5-CC1AA42D7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88DAC4-DEA3-43AC-A1DC-ECC200CCB2FE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349B39-3E29-DCE8-771F-E9FD5D5E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DC9DE7-2C29-8E60-7F1E-54EF126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912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8AC1BBA-9F43-9881-65E3-10AE06513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0EC44E-013C-C495-82E1-C2AA5641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FF63C0-829E-217B-AEC3-EE9A66619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57681-2555-410E-B89F-5EC1582F1BB9}" type="datetime1">
              <a:rPr lang="ko-KR" altLang="en-US" smtClean="0"/>
              <a:t>2026-08-03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326AF4B-A809-3C54-2FA1-020C94EB8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70BD93-4D9C-A538-FEA9-348D7CA1D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C5530-42F1-47A2-8D67-542376C728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01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4A4E972B-3437-24CA-81C5-3C9178A855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283" y="1427034"/>
            <a:ext cx="11104076" cy="2124075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ko-KR" sz="4000" b="1" dirty="0">
                <a:latin typeface="Segoe UI Variable Small" pitchFamily="2" charset="0"/>
              </a:rPr>
              <a:t>하수기반 감염병 농도와</a:t>
            </a:r>
            <a:r>
              <a:rPr lang="en-US" altLang="ko-KR" sz="4000" b="1" dirty="0">
                <a:latin typeface="Segoe UI Variable Small" pitchFamily="2" charset="0"/>
              </a:rPr>
              <a:t> </a:t>
            </a:r>
            <a:r>
              <a:rPr lang="ko-KR" altLang="ko-KR" sz="4000" b="1" dirty="0" err="1">
                <a:latin typeface="Segoe UI Variable Small" pitchFamily="2" charset="0"/>
              </a:rPr>
              <a:t>검색량</a:t>
            </a:r>
            <a:r>
              <a:rPr lang="ko-KR" altLang="ko-KR" sz="4000" b="1" dirty="0">
                <a:latin typeface="Segoe UI Variable Small" pitchFamily="2" charset="0"/>
              </a:rPr>
              <a:t> 간</a:t>
            </a:r>
            <a:r>
              <a:rPr lang="ko-KR" altLang="en-US" sz="4000" b="1" dirty="0">
                <a:latin typeface="Segoe UI Variable Small" pitchFamily="2" charset="0"/>
              </a:rPr>
              <a:t>의</a:t>
            </a:r>
            <a:br>
              <a:rPr lang="en-US" altLang="ko-KR" sz="4000" b="1" dirty="0">
                <a:latin typeface="Segoe UI Variable Small" pitchFamily="2" charset="0"/>
              </a:rPr>
            </a:br>
            <a:r>
              <a:rPr lang="ko-KR" altLang="ko-KR" sz="4000" b="1" dirty="0">
                <a:latin typeface="Segoe UI Variable Small" pitchFamily="2" charset="0"/>
              </a:rPr>
              <a:t>시차 상관</a:t>
            </a:r>
            <a:r>
              <a:rPr lang="ko-KR" altLang="en-US" sz="4000" b="1" dirty="0">
                <a:latin typeface="Segoe UI Variable Small" pitchFamily="2" charset="0"/>
              </a:rPr>
              <a:t>분석을 이용한 감염병 조기 감시 연구</a:t>
            </a:r>
            <a:endParaRPr lang="ko-KR" altLang="en-US" sz="4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D00E97C-BAC9-2F9A-6244-0BF79AAA073C}"/>
              </a:ext>
            </a:extLst>
          </p:cNvPr>
          <p:cNvCxnSpPr>
            <a:cxnSpLocks/>
          </p:cNvCxnSpPr>
          <p:nvPr/>
        </p:nvCxnSpPr>
        <p:spPr>
          <a:xfrm>
            <a:off x="772646" y="3667180"/>
            <a:ext cx="10586653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74984EA7-0D6F-1540-BACD-13A41E344D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695" y="204458"/>
            <a:ext cx="2603686" cy="5957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6CF0A89-D5DF-88EA-78E8-F622DA7FA90F}"/>
              </a:ext>
            </a:extLst>
          </p:cNvPr>
          <p:cNvSpPr txBox="1"/>
          <p:nvPr/>
        </p:nvSpPr>
        <p:spPr>
          <a:xfrm>
            <a:off x="10158115" y="6014540"/>
            <a:ext cx="1429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ko-KR" dirty="0">
                <a:latin typeface="Segoe UI Variable Small" pitchFamily="2" charset="0"/>
                <a:cs typeface="Times New Roman" panose="02020603050405020304" pitchFamily="18" charset="0"/>
              </a:rPr>
              <a:t>2026. 8.</a:t>
            </a:r>
            <a:r>
              <a:rPr lang="ko-KR" altLang="en-US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dirty="0">
                <a:latin typeface="Segoe UI Variable Small" pitchFamily="2" charset="0"/>
                <a:cs typeface="Times New Roman" panose="02020603050405020304" pitchFamily="18" charset="0"/>
              </a:rPr>
              <a:t>3.</a:t>
            </a:r>
            <a:endParaRPr lang="ko-KR" altLang="en-US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C67962-551A-ABD9-AF22-68E0C1FDAACB}"/>
              </a:ext>
            </a:extLst>
          </p:cNvPr>
          <p:cNvSpPr txBox="1"/>
          <p:nvPr/>
        </p:nvSpPr>
        <p:spPr>
          <a:xfrm>
            <a:off x="772646" y="3667180"/>
            <a:ext cx="4203655" cy="456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Seo-Jin Kang, </a:t>
            </a:r>
            <a:r>
              <a:rPr lang="en-US" altLang="ko-KR" b="1" dirty="0" err="1">
                <a:latin typeface="Segoe UI Variable Small" pitchFamily="2" charset="0"/>
                <a:cs typeface="Times New Roman" panose="02020603050405020304" pitchFamily="18" charset="0"/>
              </a:rPr>
              <a:t>Seongchan</a:t>
            </a: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 Kim*</a:t>
            </a:r>
            <a:endParaRPr lang="ko-KR" altLang="en-US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DA7415-3F62-A0B0-6F44-77BB9EDAB9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401" y="152400"/>
            <a:ext cx="2878648" cy="545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02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0FC69-2C96-4827-DCAB-E433AFE4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Outline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A45FAB-07CB-0C57-A0D0-DECC0A900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093FA1-0C81-9A18-59C3-C2BCBFBA5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5251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9338A-92E1-21B0-3B85-BCC09BFAD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B1903E-588E-D08E-DBA4-6372BCEB9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Introduction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BC035624-5359-6BF0-04F3-B95C881E6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788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143C3-5507-5A3A-EF85-22B8107A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EB1510F5-8095-A7D7-F273-DA4F962599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8" t="7313" r="11231" b="858"/>
          <a:stretch>
            <a:fillRect/>
          </a:stretch>
        </p:blipFill>
        <p:spPr>
          <a:xfrm>
            <a:off x="9273540" y="4606714"/>
            <a:ext cx="645450" cy="757766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9CEFA7A-8914-EC36-C234-245A3049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Background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5C451BA-1943-E150-033F-2EDC43C8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87FD32A-92D0-0CCB-7BB1-C7962C3824EE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37CCF83-B1F1-62B3-97B5-F2882F00E977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C19520A-A14B-9E63-AA71-8267B430C29B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Infectious Disease Surveillance</a:t>
            </a: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COVID-19, </a:t>
            </a:r>
            <a:r>
              <a:rPr lang="en-US" altLang="ko-KR" sz="2000" b="1" dirty="0">
                <a:latin typeface="Segoe UI Variable Small" pitchFamily="2" charset="0"/>
              </a:rPr>
              <a:t>Influenza</a:t>
            </a:r>
            <a:r>
              <a:rPr lang="ko-KR" altLang="ko-KR" sz="2000" b="1" dirty="0">
                <a:latin typeface="Segoe UI Variable Small" pitchFamily="2" charset="0"/>
              </a:rPr>
              <a:t>, </a:t>
            </a:r>
            <a:r>
              <a:rPr lang="en-US" altLang="ko-KR" sz="2000" b="1" dirty="0">
                <a:latin typeface="Segoe UI Variable Small" pitchFamily="2" charset="0"/>
              </a:rPr>
              <a:t>Norovirus</a:t>
            </a:r>
            <a:r>
              <a:rPr lang="ko-KR" altLang="ko-KR" sz="2000" b="1" dirty="0">
                <a:latin typeface="Segoe UI Variable Small" pitchFamily="2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</a:rPr>
              <a:t>등</a:t>
            </a:r>
            <a:r>
              <a:rPr lang="en-US" altLang="ko-KR" sz="2000" b="1" dirty="0">
                <a:latin typeface="Segoe UI Variable Small" pitchFamily="2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</a:rPr>
              <a:t>감염병은</a:t>
            </a:r>
            <a:r>
              <a:rPr lang="en-US" altLang="ko-KR" sz="2000" b="1" dirty="0">
                <a:latin typeface="Segoe UI Variable Small" pitchFamily="2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</a:rPr>
              <a:t>건강에 매우 </a:t>
            </a:r>
            <a:r>
              <a:rPr lang="ko-KR" altLang="en-US" sz="2000" b="1" dirty="0" err="1">
                <a:latin typeface="Segoe UI Variable Small" pitchFamily="2" charset="0"/>
              </a:rPr>
              <a:t>취약적</a:t>
            </a:r>
            <a:endParaRPr lang="en-US" altLang="ko-KR" sz="2000" b="1" dirty="0"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지속적인 모니터링</a:t>
            </a:r>
            <a:r>
              <a:rPr lang="ko-KR" altLang="en-US" sz="2000" b="1" dirty="0">
                <a:latin typeface="Segoe UI Variable Small" pitchFamily="2" charset="0"/>
              </a:rPr>
              <a:t>과</a:t>
            </a:r>
            <a:r>
              <a:rPr lang="ko-KR" altLang="ko-KR" sz="2000" b="1" dirty="0">
                <a:latin typeface="Segoe UI Variable Small" pitchFamily="2" charset="0"/>
              </a:rPr>
              <a:t> 신속하고 효과적인 대응을 위한 조기 탐지 필요</a:t>
            </a:r>
            <a:endParaRPr lang="en-US" altLang="ko-KR" b="1" dirty="0">
              <a:latin typeface="Segoe UI Variable Small" pitchFamily="2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Current Surveillance Methods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Clinical Surveillance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Wastewater-Based Epidemiology (WBE)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10843EDA-CDB2-32AD-A20E-6441FF7F2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8" t="7313" r="11231" b="858"/>
          <a:stretch>
            <a:fillRect/>
          </a:stretch>
        </p:blipFill>
        <p:spPr>
          <a:xfrm>
            <a:off x="8525436" y="4123748"/>
            <a:ext cx="742610" cy="871833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7EA7750-7720-8980-DEA7-1B6A1888E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3513" y="3089263"/>
            <a:ext cx="2940801" cy="294080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E505AF3-A3D1-D9EE-C546-0DD875E4F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70" r="21363" b="30874"/>
          <a:stretch>
            <a:fillRect/>
          </a:stretch>
        </p:blipFill>
        <p:spPr>
          <a:xfrm>
            <a:off x="1397161" y="4916224"/>
            <a:ext cx="5042521" cy="144012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5CD4FF-3547-7F72-97E6-9B212CDB80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435" t="27010" r="2800" b="30851"/>
          <a:stretch>
            <a:fillRect/>
          </a:stretch>
        </p:blipFill>
        <p:spPr>
          <a:xfrm>
            <a:off x="6594150" y="4843384"/>
            <a:ext cx="1114960" cy="150534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3FE031F-BEF5-2388-20AC-F107AC3DE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58" t="7313" r="11231" b="858"/>
          <a:stretch>
            <a:fillRect/>
          </a:stretch>
        </p:blipFill>
        <p:spPr>
          <a:xfrm>
            <a:off x="8743487" y="5176614"/>
            <a:ext cx="320040" cy="37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280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694B0-7711-F779-FB06-C12D7F2B5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D3E796-1C21-6F35-ADC6-753566870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Motivation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11D40B-A65E-6448-660E-75D42BD9C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41659"/>
            <a:ext cx="10515600" cy="472600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Clinical Surveillance</a:t>
            </a:r>
          </a:p>
          <a:p>
            <a:pPr lvl="1">
              <a:lnSpc>
                <a:spcPct val="150000"/>
              </a:lnSpc>
            </a:pPr>
            <a:r>
              <a:rPr lang="ko-KR" altLang="ko-KR" sz="2000" b="1" dirty="0">
                <a:latin typeface="Segoe UI Variable Small" pitchFamily="2" charset="0"/>
              </a:rPr>
              <a:t>실제 환자를 기반으로 하지만 늦</a:t>
            </a:r>
            <a:r>
              <a:rPr lang="ko-KR" altLang="en-US" sz="2000" b="1" dirty="0">
                <a:latin typeface="Segoe UI Variable Small" pitchFamily="2" charset="0"/>
              </a:rPr>
              <a:t>음</a:t>
            </a:r>
            <a:endParaRPr lang="en-US" altLang="ko-KR" sz="2000" b="1" dirty="0">
              <a:latin typeface="Segoe UI Variable Small" pitchFamily="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Wastewater-Based Epidemiology (WBE)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</a:rPr>
              <a:t>임상보다 빠르지만 주기적 시료 채취로 인한 비연속적</a:t>
            </a:r>
            <a:endParaRPr lang="en-US" altLang="ko-KR" sz="2000" b="1" dirty="0">
              <a:latin typeface="Segoe UI Variable Small" pitchFamily="2" charset="0"/>
            </a:endParaRP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Idea: Internet Search Behavior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</a:rPr>
              <a:t>사람들이 감염병에 노출되었을 때 감염병과 증상에 대해 검색하는 경향</a:t>
            </a:r>
            <a:endParaRPr lang="en-US" altLang="ko-KR" sz="2000" b="1" dirty="0">
              <a:latin typeface="Segoe UI Variable Small" pitchFamily="2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→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　</a:t>
            </a:r>
            <a:r>
              <a:rPr lang="ko-KR" altLang="en-US" sz="2000" b="1" dirty="0">
                <a:latin typeface="Segoe UI Variable Small" pitchFamily="2" charset="0"/>
              </a:rPr>
              <a:t>하수기반 감시에 이어 감염병 </a:t>
            </a:r>
            <a:r>
              <a:rPr lang="ko-KR" altLang="en-US" sz="2000" b="1" dirty="0" err="1">
                <a:latin typeface="Segoe UI Variable Small" pitchFamily="2" charset="0"/>
              </a:rPr>
              <a:t>검색량</a:t>
            </a:r>
            <a:r>
              <a:rPr lang="ko-KR" altLang="en-US" sz="2000" b="1" dirty="0">
                <a:latin typeface="Segoe UI Variable Small" pitchFamily="2" charset="0"/>
              </a:rPr>
              <a:t> 또한 보완 지표로 활용 가능한가</a:t>
            </a:r>
            <a:endParaRPr lang="en-US" altLang="ko-KR" sz="2000" b="1" dirty="0">
              <a:latin typeface="Segoe UI Variable Small" pitchFamily="2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47396D-2DAA-DAD6-834E-8939F0EAB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5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8126417-088E-E55A-6185-70DCD5063E3A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06ECC2A4-D1A2-EA44-6983-26E81F35C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1449305"/>
            <a:ext cx="2510118" cy="251011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1E083E6-D2F7-1AAA-E762-83800A10BF89}"/>
              </a:ext>
            </a:extLst>
          </p:cNvPr>
          <p:cNvSpPr txBox="1"/>
          <p:nvPr/>
        </p:nvSpPr>
        <p:spPr>
          <a:xfrm>
            <a:off x="4879257" y="4799954"/>
            <a:ext cx="4361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990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43BAA-0EE5-DE53-7B8D-93DDE0D99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1DEA6D-A822-64C2-3F57-A988E7A26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Objective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85AD39-1440-4527-6309-F2E78557E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039EA7D-A5D0-25A9-0137-1A6F785D6AFC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8904EA2-D958-FC47-ABED-FB981490ADC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2C05D59-16F9-5329-4872-C2A753BFE37C}"/>
              </a:ext>
            </a:extLst>
          </p:cNvPr>
          <p:cNvSpPr txBox="1">
            <a:spLocks/>
          </p:cNvSpPr>
          <p:nvPr/>
        </p:nvSpPr>
        <p:spPr>
          <a:xfrm>
            <a:off x="838200" y="1243739"/>
            <a:ext cx="10515600" cy="5296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Objective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하수 내 감염병 농도와 인터넷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간의 상관관계를 분석한다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상관관계를 극대화하는 최적의 시간 지연을 파악한다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감염병별 병명 관련 검색어와 증상 관련 검색어 간의 상관관계 패턴을 비교한다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검색 트렌드가 감염병 감시 보완 지표로 활용할 수 있는지 확인한다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Research Question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RQ1. </a:t>
            </a:r>
            <a:r>
              <a:rPr lang="ko-KR" altLang="ko-KR" sz="2000" b="1" dirty="0"/>
              <a:t>하수 내 감염병 농도와 인터넷 </a:t>
            </a:r>
            <a:r>
              <a:rPr lang="ko-KR" altLang="ko-KR" sz="2000" b="1" dirty="0" err="1"/>
              <a:t>검색량</a:t>
            </a:r>
            <a:r>
              <a:rPr lang="ko-KR" altLang="ko-KR" sz="2000" b="1" dirty="0"/>
              <a:t> 간에 유의미한 상관관계가 존재하는가?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RQ2. </a:t>
            </a:r>
            <a:r>
              <a:rPr lang="ko-KR" altLang="ko-KR" sz="2000" b="1" dirty="0"/>
              <a:t>감염병별로 병명 검색과 증상 검색 중 어느 검색 유형이 더 높은 상관관계를</a:t>
            </a:r>
            <a:br>
              <a:rPr lang="en-US" altLang="ko-KR" sz="2000" b="1" dirty="0"/>
            </a:br>
            <a:r>
              <a:rPr lang="en-US" altLang="ko-KR" sz="2000" b="1" dirty="0"/>
              <a:t>       </a:t>
            </a:r>
            <a:r>
              <a:rPr lang="ko-KR" altLang="ko-KR" sz="2000" b="1" dirty="0"/>
              <a:t>보이는가?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RQ3. </a:t>
            </a:r>
            <a:r>
              <a:rPr lang="ko-KR" altLang="ko-KR" sz="2000" b="1" dirty="0"/>
              <a:t>상관</a:t>
            </a:r>
            <a:r>
              <a:rPr lang="ko-KR" altLang="en-US" sz="2000" b="1" dirty="0"/>
              <a:t>계수</a:t>
            </a:r>
            <a:r>
              <a:rPr lang="ko-KR" altLang="ko-KR" sz="2000" b="1" dirty="0"/>
              <a:t>를 최대화하는 최적의 시차는 무엇인가?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09797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2CCB0-24CE-C0F1-736D-573E7307A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8DC250-F99E-2F1F-9F3F-BB706906F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Related Works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4E032C7-0389-20DB-90C7-67C7E094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43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2697D-FC3B-7FFE-7293-51A702E8C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7DFFC-82DF-327F-D451-0FF55B5B3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구글 </a:t>
            </a:r>
            <a:r>
              <a:rPr lang="ko-KR" altLang="en-US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검색량으로</a:t>
            </a:r>
            <a:r>
              <a:rPr lang="ko-KR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 코로나 집단 감염 발생 예측 연구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AFDBA55-B5D6-8769-EB3D-941846C5CBAF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A5A0532-9121-CF48-7F9B-04FB84FBF1F0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DEF8FBB0-D3EF-FECD-42ED-67643FCC0C6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199" y="1150070"/>
                <a:ext cx="11219481" cy="57079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10000"/>
                  </a:lnSpc>
                </a:pPr>
                <a:r>
                  <a:rPr lang="en-US" altLang="ko-KR" sz="2400" b="1" dirty="0">
                    <a:latin typeface="Segoe UI Variable Small" pitchFamily="2" charset="0"/>
                    <a:cs typeface="Times New Roman" panose="02020603050405020304" pitchFamily="18" charset="0"/>
                  </a:rPr>
                  <a:t>Title: 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Google search volume predicts the emergence of COVID-19 outbreaks</a:t>
                </a:r>
              </a:p>
              <a:p>
                <a:pPr lvl="1">
                  <a:lnSpc>
                    <a:spcPct val="1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000" b="1" i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𝐆𝐢𝐮𝐬𝐞𝐩𝐩𝐞</m:t>
                        </m:r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𝐋𝐢𝐩𝐩𝐢</m:t>
                        </m:r>
                      </m:e>
                      <m:sup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sup>
                    </m:sSup>
                    <m:r>
                      <a:rPr lang="en-US" altLang="ko-KR" sz="1000" b="1" i="0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000" b="1" i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𝐂𝐚𝐦𝐦𝐢𝐥𝐥𝐚</m:t>
                        </m:r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𝐌𝐚𝐭𝐭𝐢𝐮𝐳𝐳𝐢</m:t>
                        </m:r>
                      </m:e>
                      <m:sup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US" altLang="ko-KR" sz="1000" b="1" i="0" dirty="0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ko-KR" sz="1000" b="1" i="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𝐆𝐢𝐚𝐧𝐟𝐫𝐚𝐧𝐜𝐨</m:t>
                        </m:r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ko-KR" sz="1000" b="1" i="0" dirty="0">
                            <a:latin typeface="Cambria Math" panose="02040503050406030204" pitchFamily="18" charset="0"/>
                          </a:rPr>
                          <m:t>𝐂𝐞𝐫𝐯𝐞𝐥𝐥𝐢𝐧</m:t>
                        </m:r>
                      </m:e>
                      <m:sup>
                        <m:r>
                          <a:rPr lang="en-US" altLang="ko-KR" sz="1000" b="1" i="0" dirty="0" smtClean="0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p>
                  </m:oMath>
                </a14:m>
                <a:endParaRPr lang="en-US" altLang="ko-KR" sz="10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00000"/>
                  </a:lnSpc>
                </a:pPr>
                <a:r>
                  <a:rPr lang="en-US" altLang="ko-KR" sz="1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Acta Biomedica 2020; Vol. 91, N. 3: e2020006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b="1" dirty="0">
                    <a:latin typeface="Segoe UI Variable Small" pitchFamily="2" charset="0"/>
                    <a:cs typeface="Times New Roman" panose="02020603050405020304" pitchFamily="18" charset="0"/>
                  </a:rPr>
                  <a:t>Method: 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Spearman’s Correlation</a:t>
                </a:r>
                <a:endParaRPr lang="en-US" altLang="ko-KR" sz="24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Data: Google Trend, New COVID-19 Cases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Keyword: 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기침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발열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호흡곤란</a:t>
                </a:r>
                <a:endParaRPr lang="en-US" altLang="ko-KR" sz="18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10000"/>
                  </a:lnSpc>
                </a:pPr>
                <a:endParaRPr lang="en-US" altLang="ko-KR" sz="10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b="1" dirty="0">
                    <a:latin typeface="Segoe UI Variable Small" pitchFamily="2" charset="0"/>
                    <a:cs typeface="Times New Roman" panose="02020603050405020304" pitchFamily="18" charset="0"/>
                  </a:rPr>
                  <a:t>Conclusion: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구글 </a:t>
                </a:r>
                <a:r>
                  <a:rPr lang="ko-KR" altLang="en-US" sz="2000" b="1" dirty="0" err="1">
                    <a:latin typeface="Segoe UI Variable Small" pitchFamily="2" charset="0"/>
                    <a:cs typeface="Times New Roman" panose="02020603050405020304" pitchFamily="18" charset="0"/>
                  </a:rPr>
                  <a:t>검색량을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 모니터링한다면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, </a:t>
                </a:r>
                <a:r>
                  <a:rPr lang="ko-KR" altLang="en-US" sz="2000" b="1" dirty="0" err="1">
                    <a:latin typeface="Segoe UI Variable Small" pitchFamily="2" charset="0"/>
                    <a:cs typeface="Times New Roman" panose="02020603050405020304" pitchFamily="18" charset="0"/>
                  </a:rPr>
                  <a:t>재유행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 그리고 제 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2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의 코로나 식별이 가능하다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00000"/>
                  </a:lnSpc>
                </a:pPr>
                <a:endParaRPr lang="en-US" altLang="ko-KR" sz="10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ko-KR" sz="2400" b="1" dirty="0">
                    <a:latin typeface="Segoe UI Variable Small" pitchFamily="2" charset="0"/>
                    <a:cs typeface="Times New Roman" panose="02020603050405020304" pitchFamily="18" charset="0"/>
                  </a:rPr>
                  <a:t>Differentiators:</a:t>
                </a:r>
                <a:endParaRPr lang="en-US" altLang="ko-KR" sz="20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lvl="1">
                  <a:lnSpc>
                    <a:spcPct val="160000"/>
                  </a:lnSpc>
                </a:pP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하수 농도 데이터를 다루지 않았으며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, COVID-19 </a:t>
                </a:r>
                <a:r>
                  <a:rPr lang="ko-KR" altLang="en-US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단일 감염병만을 다루었다</a:t>
                </a:r>
                <a:r>
                  <a:rPr lang="en-US" altLang="ko-KR" sz="2000" b="1" dirty="0">
                    <a:latin typeface="Segoe UI Variable Small" pitchFamily="2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>
                  <a:lnSpc>
                    <a:spcPct val="160000"/>
                  </a:lnSpc>
                </a:pPr>
                <a:r>
                  <a:rPr lang="ko-KR" altLang="ko-KR" sz="2000" b="1" dirty="0"/>
                  <a:t>4개월의 제한적인 데이터 기간</a:t>
                </a:r>
                <a:endParaRPr lang="en-US" altLang="ko-KR" sz="20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내용 개체 틀 2">
                <a:extLst>
                  <a:ext uri="{FF2B5EF4-FFF2-40B4-BE49-F238E27FC236}">
                    <a16:creationId xmlns:a16="http://schemas.microsoft.com/office/drawing/2014/main" id="{DEF8FBB0-D3EF-FECD-42ED-67643FCC0C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199" y="1150070"/>
                <a:ext cx="11219481" cy="5707930"/>
              </a:xfrm>
              <a:prstGeom prst="rect">
                <a:avLst/>
              </a:prstGeom>
              <a:blipFill>
                <a:blip r:embed="rId2"/>
                <a:stretch>
                  <a:fillRect l="-706" t="-641" b="-106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B46C2B8-1885-284C-221A-B5E8B4B6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8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73E3D6-E79C-35F2-6EA2-80AB916F4AB0}"/>
                  </a:ext>
                </a:extLst>
              </p:cNvPr>
              <p:cNvSpPr txBox="1"/>
              <p:nvPr/>
            </p:nvSpPr>
            <p:spPr>
              <a:xfrm>
                <a:off x="6936681" y="2508363"/>
                <a:ext cx="4600298" cy="920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s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R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R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)−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i="1">
                                                  <a:latin typeface="Cambria Math" panose="02040503050406030204" pitchFamily="18" charset="0"/>
                                                </a:rPr>
                                                <m:t>R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073E3D6-E79C-35F2-6EA2-80AB916F4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6681" y="2508363"/>
                <a:ext cx="4600298" cy="9206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418216-2A9E-8D76-F1FB-F5A821F9F68A}"/>
                  </a:ext>
                </a:extLst>
              </p:cNvPr>
              <p:cNvSpPr txBox="1"/>
              <p:nvPr/>
            </p:nvSpPr>
            <p:spPr>
              <a:xfrm>
                <a:off x="9806530" y="2074777"/>
                <a:ext cx="123739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), </m:t>
                      </m:r>
                      <m:r>
                        <m:rPr>
                          <m:sty m:val="p"/>
                        </m:rPr>
                        <a:rPr lang="en-US" altLang="ko-KR" b="0" i="1" smtClean="0"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418216-2A9E-8D76-F1FB-F5A821F9F6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6530" y="2074777"/>
                <a:ext cx="1237390" cy="276999"/>
              </a:xfrm>
              <a:prstGeom prst="rect">
                <a:avLst/>
              </a:prstGeom>
              <a:blipFill>
                <a:blip r:embed="rId4"/>
                <a:stretch>
                  <a:fillRect l="-2956" r="-5419" b="-369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2719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7798-9027-222F-FC12-7A8797386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38C63E-6DA7-C073-AD8E-159343458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 fontScale="90000"/>
          </a:bodyPr>
          <a:lstStyle/>
          <a:p>
            <a:r>
              <a:rPr lang="ko-KR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울산지역 하수기반역학을 이용한 코로나19 감시 연</a:t>
            </a:r>
            <a:r>
              <a:rPr lang="ko-KR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구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6E6DD6F6-5E11-B498-DC3D-4D06772CA727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3C4BA68-6A64-9D64-5A6B-18D8BE8098C8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629632C4-84BD-99B5-E2DE-ACF40162EC17}"/>
              </a:ext>
            </a:extLst>
          </p:cNvPr>
          <p:cNvSpPr txBox="1">
            <a:spLocks/>
          </p:cNvSpPr>
          <p:nvPr/>
        </p:nvSpPr>
        <p:spPr>
          <a:xfrm>
            <a:off x="838199" y="1150070"/>
            <a:ext cx="11219481" cy="5707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ko-KR" sz="1000" b="1" dirty="0"/>
              <a:t>김경남*· </a:t>
            </a:r>
            <a:r>
              <a:rPr lang="ko-KR" altLang="ko-KR" sz="1000" b="1" dirty="0" err="1"/>
              <a:t>최재선</a:t>
            </a:r>
            <a:r>
              <a:rPr lang="ko-KR" altLang="ko-KR" sz="1000" b="1" dirty="0"/>
              <a:t> · 이연수 · </a:t>
            </a:r>
            <a:r>
              <a:rPr lang="ko-KR" altLang="ko-KR" sz="1000" b="1" dirty="0" err="1"/>
              <a:t>김대교</a:t>
            </a:r>
            <a:r>
              <a:rPr lang="ko-KR" altLang="ko-KR" sz="1000" b="1" dirty="0"/>
              <a:t> · 박준영 · 김영민 · </a:t>
            </a:r>
            <a:r>
              <a:rPr lang="ko-KR" altLang="ko-KR" sz="1000" b="1" dirty="0" err="1"/>
              <a:t>최영선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ko-KR" sz="1000" b="1" dirty="0">
                <a:latin typeface="Segoe UI Variable Small" pitchFamily="2" charset="0"/>
              </a:rPr>
              <a:t>Journal of Food Hygiene and Safety</a:t>
            </a: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Method: P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earson Correlation</a:t>
            </a: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Data: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바이러스 하수 농도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확진자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수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울산 지역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감염병에 하수감시를 통한 역학조사 방법 활용 가능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식품 분야에도 활용하여 마약류 및 식품분석에도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도움을 줄 것으로 사료됨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Differentiators: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6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단일 지역으로만 한정되었으며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다소 짧은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1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년의</a:t>
            </a:r>
            <a:r>
              <a:rPr lang="ko-KR" altLang="ko-KR" sz="2000" b="1" dirty="0"/>
              <a:t> 기간</a:t>
            </a:r>
            <a:r>
              <a:rPr lang="ko-KR" altLang="en-US" sz="2000" b="1" dirty="0"/>
              <a:t>을 확인하였음</a:t>
            </a:r>
            <a:endParaRPr lang="en-US" altLang="ko-KR" sz="2000" b="1" dirty="0"/>
          </a:p>
          <a:p>
            <a:pPr lvl="1">
              <a:lnSpc>
                <a:spcPct val="16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시간 지연의 방법을 적용하지 않았음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9BA90E-B015-A21E-31F2-051434F8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9</a:t>
            </a:fld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BF7CE9-4356-05AA-094E-5D9687985A7D}"/>
                  </a:ext>
                </a:extLst>
              </p:cNvPr>
              <p:cNvSpPr txBox="1"/>
              <p:nvPr/>
            </p:nvSpPr>
            <p:spPr>
              <a:xfrm>
                <a:off x="6724186" y="1816920"/>
                <a:ext cx="3772828" cy="660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ABF7CE9-4356-05AA-094E-5D9687985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4186" y="1816920"/>
                <a:ext cx="3772828" cy="6606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596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75A81-D861-193D-DDD1-A42C5B2BC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F28465-AB4C-4A90-A6EB-740A9E231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Method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DB6C1C1-C9F8-7E00-49C7-172DC3B3B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1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14369-24BE-8265-FD5E-1EB869181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57E5A2-18EA-63B3-F1D2-297508636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Data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(1/2)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99FF41-D9B8-70F0-34DC-2A8E6D85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400FED2-828D-488F-0093-33083AE580D7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E44CB6A-03BD-2BFC-2C04-AEA861448FD2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50823642-87B4-CE83-A266-947C476241FC}"/>
              </a:ext>
            </a:extLst>
          </p:cNvPr>
          <p:cNvSpPr txBox="1">
            <a:spLocks/>
          </p:cNvSpPr>
          <p:nvPr/>
        </p:nvSpPr>
        <p:spPr>
          <a:xfrm>
            <a:off x="838200" y="1258538"/>
            <a:ext cx="10515600" cy="5599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Concentrations of Infectious Diseases in Sewage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From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질병관리청 감염병 포털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SARS-CoV-2, Influenza, Norovirus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2024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7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(SARS-CoV-2), 9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(Influenza, Norovirus)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~ 2026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년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6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월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Search Volume for Keyword by Infectious Diseases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From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네이버 광고주센터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데이터랩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키워드 선정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Using Gemini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182D013-A68F-F1BE-4F78-D83DCA66A2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602117"/>
              </p:ext>
            </p:extLst>
          </p:nvPr>
        </p:nvGraphicFramePr>
        <p:xfrm>
          <a:off x="6227975" y="4344352"/>
          <a:ext cx="3357033" cy="219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9011">
                  <a:extLst>
                    <a:ext uri="{9D8B030D-6E8A-4147-A177-3AD203B41FA5}">
                      <a16:colId xmlns:a16="http://schemas.microsoft.com/office/drawing/2014/main" val="3116941755"/>
                    </a:ext>
                  </a:extLst>
                </a:gridCol>
                <a:gridCol w="1119011">
                  <a:extLst>
                    <a:ext uri="{9D8B030D-6E8A-4147-A177-3AD203B41FA5}">
                      <a16:colId xmlns:a16="http://schemas.microsoft.com/office/drawing/2014/main" val="2384693516"/>
                    </a:ext>
                  </a:extLst>
                </a:gridCol>
                <a:gridCol w="1119011">
                  <a:extLst>
                    <a:ext uri="{9D8B030D-6E8A-4147-A177-3AD203B41FA5}">
                      <a16:colId xmlns:a16="http://schemas.microsoft.com/office/drawing/2014/main" val="2450881449"/>
                    </a:ext>
                  </a:extLst>
                </a:gridCol>
              </a:tblGrid>
              <a:tr h="2239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감염병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병명 키워드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>
                          <a:latin typeface="Segoe UI Variable Small" pitchFamily="2" charset="0"/>
                        </a:rPr>
                        <a:t>증상 키워드</a:t>
                      </a:r>
                      <a:endParaRPr lang="ko-KR" altLang="en-US" sz="1200" b="1" dirty="0">
                        <a:latin typeface="Segoe UI Variable Small" pitchFamily="2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599672"/>
                  </a:ext>
                </a:extLst>
              </a:tr>
              <a:tr h="522595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SARS-CoV-2</a:t>
                      </a:r>
                      <a:endParaRPr lang="ko-KR" altLang="en-US" sz="1200" b="1" dirty="0">
                        <a:latin typeface="Segoe UI Variable Sma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코로나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발열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기침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호흡곤란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780615"/>
                  </a:ext>
                </a:extLst>
              </a:tr>
              <a:tr h="522595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Influenza</a:t>
                      </a:r>
                      <a:endParaRPr lang="ko-KR" altLang="en-US" sz="1200" b="1" dirty="0">
                        <a:latin typeface="Segoe UI Variable Sma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인플루엔자</a:t>
                      </a:r>
                      <a:br>
                        <a:rPr lang="en-US" altLang="ko-KR" sz="1200" b="1" dirty="0">
                          <a:latin typeface="Segoe UI Variable Small" pitchFamily="2" charset="0"/>
                        </a:rPr>
                      </a:br>
                      <a:r>
                        <a:rPr lang="ko-KR" altLang="en-US" sz="1200" b="1" dirty="0">
                          <a:latin typeface="Segoe UI Variable Small" pitchFamily="2" charset="0"/>
                        </a:rPr>
                        <a:t>독감</a:t>
                      </a:r>
                      <a:br>
                        <a:rPr lang="en-US" altLang="ko-KR" sz="1200" b="1" dirty="0">
                          <a:latin typeface="Segoe UI Variable Small" pitchFamily="2" charset="0"/>
                        </a:rPr>
                      </a:br>
                      <a:r>
                        <a:rPr lang="ko-KR" altLang="en-US" sz="1200" b="1" dirty="0">
                          <a:latin typeface="Segoe UI Variable Small" pitchFamily="2" charset="0"/>
                        </a:rPr>
                        <a:t>플루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고열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근육통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오한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953208"/>
                  </a:ext>
                </a:extLst>
              </a:tr>
              <a:tr h="522595">
                <a:tc>
                  <a:txBody>
                    <a:bodyPr/>
                    <a:lstStyle/>
                    <a:p>
                      <a:pPr algn="ctr" latinLnBrk="1"/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en-US" altLang="ko-KR" sz="1200" b="1" dirty="0">
                          <a:latin typeface="Segoe UI Variable Small" pitchFamily="2" charset="0"/>
                        </a:rPr>
                        <a:t>Norovirus</a:t>
                      </a:r>
                      <a:endParaRPr lang="ko-KR" altLang="en-US" sz="1200" b="1" dirty="0">
                        <a:latin typeface="Segoe UI Variable Small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latin typeface="Segoe UI Variable Small" pitchFamily="2" charset="0"/>
                        </a:rPr>
                        <a:t>노로바이러스</a:t>
                      </a:r>
                      <a:br>
                        <a:rPr lang="en-US" altLang="ko-KR" sz="1200" b="1" dirty="0">
                          <a:latin typeface="Segoe UI Variable Small" pitchFamily="2" charset="0"/>
                        </a:rPr>
                      </a:br>
                      <a:r>
                        <a:rPr lang="ko-KR" altLang="en-US" sz="1200" b="1" dirty="0">
                          <a:latin typeface="Segoe UI Variable Small" pitchFamily="2" charset="0"/>
                        </a:rPr>
                        <a:t>장염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식중독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구토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>
                          <a:latin typeface="Segoe UI Variable Small" pitchFamily="2" charset="0"/>
                        </a:rPr>
                        <a:t>복통</a:t>
                      </a:r>
                      <a:endParaRPr lang="en-US" altLang="ko-KR" sz="1200" b="1" dirty="0">
                        <a:latin typeface="Segoe UI Variable Small" pitchFamily="2" charset="0"/>
                      </a:endParaRPr>
                    </a:p>
                    <a:p>
                      <a:pPr algn="ctr" latinLnBrk="1"/>
                      <a:r>
                        <a:rPr lang="ko-KR" altLang="en-US" sz="1200" b="1" dirty="0" err="1">
                          <a:latin typeface="Segoe UI Variable Small" pitchFamily="2" charset="0"/>
                        </a:rPr>
                        <a:t>물설사</a:t>
                      </a:r>
                      <a:endParaRPr lang="ko-KR" altLang="en-US" sz="1200" b="1" dirty="0">
                        <a:latin typeface="Segoe UI Variable Small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39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54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314C-6CB9-9C64-9723-B0E6F71F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70DD8B-52C8-F977-3456-D0D02B396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Data</a:t>
            </a:r>
            <a:r>
              <a:rPr lang="en-US" altLang="ko-K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(2/2)</a:t>
            </a:r>
            <a:endParaRPr lang="ko-KR" altLang="en-US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088B5C-A135-8C5F-1147-AF1C9F073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8949976D-E8E5-02CC-BD1B-E174EB8E39A0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7D46FFC-064D-631C-B8B0-972BE1E5F10B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DEF7CB1-F452-24D0-6C03-872D15F55E67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Extracting Concentrations of Infectious Diseases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Using Gemini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Image → Value</a:t>
            </a: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Calculating Search Volume</a:t>
            </a:r>
          </a:p>
          <a:p>
            <a:pPr lvl="1">
              <a:lnSpc>
                <a:spcPct val="100000"/>
              </a:lnSpc>
            </a:pP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A454EA-2B24-273B-053D-6BB5662034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8"/>
          <a:stretch>
            <a:fillRect/>
          </a:stretch>
        </p:blipFill>
        <p:spPr>
          <a:xfrm>
            <a:off x="6003779" y="1704274"/>
            <a:ext cx="3875197" cy="14898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9F8E2C-388C-7E78-75EC-CA3D7A88AED1}"/>
              </a:ext>
            </a:extLst>
          </p:cNvPr>
          <p:cNvSpPr txBox="1"/>
          <p:nvPr/>
        </p:nvSpPr>
        <p:spPr>
          <a:xfrm>
            <a:off x="5622080" y="1735587"/>
            <a:ext cx="6058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Ex)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F2F6765-337C-F2C0-ECA1-AD4C0D437A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4866"/>
          <a:stretch>
            <a:fillRect/>
          </a:stretch>
        </p:blipFill>
        <p:spPr>
          <a:xfrm>
            <a:off x="1483310" y="3512241"/>
            <a:ext cx="1229139" cy="26077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8B8488-637C-60F5-2D58-B913DAC870AD}"/>
              </a:ext>
            </a:extLst>
          </p:cNvPr>
          <p:cNvSpPr txBox="1"/>
          <p:nvPr/>
        </p:nvSpPr>
        <p:spPr>
          <a:xfrm>
            <a:off x="909061" y="3635943"/>
            <a:ext cx="6521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2025</a:t>
            </a:r>
            <a:endParaRPr lang="ko-KR" altLang="en-US" sz="11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932207-8DFA-D77F-3DC4-51AD79C62156}"/>
              </a:ext>
            </a:extLst>
          </p:cNvPr>
          <p:cNvSpPr txBox="1"/>
          <p:nvPr/>
        </p:nvSpPr>
        <p:spPr>
          <a:xfrm>
            <a:off x="909061" y="4877982"/>
            <a:ext cx="5742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Segoe UI Variable Small" pitchFamily="2" charset="0"/>
                <a:cs typeface="Times New Roman" panose="02020603050405020304" pitchFamily="18" charset="0"/>
              </a:rPr>
              <a:t>2026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1F4958-04D5-DD2D-7427-C4DF19229E25}"/>
              </a:ext>
            </a:extLst>
          </p:cNvPr>
          <p:cNvSpPr txBox="1"/>
          <p:nvPr/>
        </p:nvSpPr>
        <p:spPr>
          <a:xfrm>
            <a:off x="1037301" y="6154872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월별 </a:t>
            </a:r>
            <a:r>
              <a:rPr lang="en-US" altLang="ko-KR" sz="1200" b="1" dirty="0">
                <a:effectLst/>
              </a:rPr>
              <a:t>(</a:t>
            </a:r>
            <a:r>
              <a:rPr lang="ko-KR" altLang="en-US" sz="1200" b="1" dirty="0" err="1">
                <a:effectLst/>
              </a:rPr>
              <a:t>검색량</a:t>
            </a:r>
            <a:r>
              <a:rPr lang="en-US" altLang="ko-KR" sz="1200" b="1" dirty="0">
                <a:effectLst/>
              </a:rPr>
              <a:t>)</a:t>
            </a:r>
            <a:r>
              <a:rPr lang="ko-KR" altLang="en-US" sz="1200" b="1" dirty="0">
                <a:effectLst/>
              </a:rPr>
              <a:t> 절대값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광고주센터</a:t>
            </a:r>
            <a:endParaRPr lang="ko-KR" altLang="ko-KR" sz="1200" b="1" dirty="0">
              <a:effectLst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3C800E18-75DB-F2EC-623A-147548C93D2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2" r="74928" b="82727"/>
          <a:stretch>
            <a:fillRect/>
          </a:stretch>
        </p:blipFill>
        <p:spPr>
          <a:xfrm>
            <a:off x="3756467" y="3512241"/>
            <a:ext cx="940087" cy="1443138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4F614474-1A3B-82F0-7E8A-CE1D66873E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0586" r="75006"/>
          <a:stretch>
            <a:fillRect/>
          </a:stretch>
        </p:blipFill>
        <p:spPr>
          <a:xfrm>
            <a:off x="3756466" y="5363131"/>
            <a:ext cx="940087" cy="79174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0086594-7B11-949E-A952-2A11196A9941}"/>
              </a:ext>
            </a:extLst>
          </p:cNvPr>
          <p:cNvSpPr txBox="1"/>
          <p:nvPr/>
        </p:nvSpPr>
        <p:spPr>
          <a:xfrm>
            <a:off x="4089180" y="4878935"/>
            <a:ext cx="2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3276723-B5E1-E1DD-A9B9-C407C2E4A241}"/>
              </a:ext>
            </a:extLst>
          </p:cNvPr>
          <p:cNvCxnSpPr>
            <a:cxnSpLocks/>
          </p:cNvCxnSpPr>
          <p:nvPr/>
        </p:nvCxnSpPr>
        <p:spPr>
          <a:xfrm flipV="1">
            <a:off x="2712449" y="3674431"/>
            <a:ext cx="1044017" cy="66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838B7D2-9115-6956-C259-95D1D3AD8444}"/>
              </a:ext>
            </a:extLst>
          </p:cNvPr>
          <p:cNvCxnSpPr>
            <a:cxnSpLocks/>
          </p:cNvCxnSpPr>
          <p:nvPr/>
        </p:nvCxnSpPr>
        <p:spPr>
          <a:xfrm>
            <a:off x="2712449" y="3940517"/>
            <a:ext cx="1044017" cy="5328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C5A76506-300C-FA90-9CF7-212298F3268D}"/>
              </a:ext>
            </a:extLst>
          </p:cNvPr>
          <p:cNvSpPr txBox="1"/>
          <p:nvPr/>
        </p:nvSpPr>
        <p:spPr>
          <a:xfrm>
            <a:off x="3166964" y="6187488"/>
            <a:ext cx="21084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 err="1">
                <a:effectLst/>
              </a:rPr>
              <a:t>상대값</a:t>
            </a:r>
            <a:endParaRPr lang="en-US" altLang="ko-KR" sz="1200" b="1" dirty="0">
              <a:effectLst/>
            </a:endParaRPr>
          </a:p>
          <a:p>
            <a:pPr algn="ctr">
              <a:buNone/>
            </a:pPr>
            <a:r>
              <a:rPr lang="ko-KR" altLang="en-US" sz="1200" b="1" dirty="0"/>
              <a:t>네이버 </a:t>
            </a:r>
            <a:r>
              <a:rPr lang="ko-KR" altLang="en-US" sz="1200" b="1" dirty="0" err="1"/>
              <a:t>데이터랩</a:t>
            </a:r>
            <a:endParaRPr lang="en-US" altLang="ko-KR" sz="1200" b="1" dirty="0">
              <a:effectLst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7BDE0F4-B605-05FE-7020-EDFEB13FEC21}"/>
              </a:ext>
            </a:extLst>
          </p:cNvPr>
          <p:cNvSpPr txBox="1"/>
          <p:nvPr/>
        </p:nvSpPr>
        <p:spPr>
          <a:xfrm>
            <a:off x="5821126" y="4877982"/>
            <a:ext cx="2746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975CBF-226A-E8E8-2A85-CA130338CB22}"/>
              </a:ext>
            </a:extLst>
          </p:cNvPr>
          <p:cNvSpPr txBox="1"/>
          <p:nvPr/>
        </p:nvSpPr>
        <p:spPr>
          <a:xfrm>
            <a:off x="4879257" y="4581880"/>
            <a:ext cx="43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→</a:t>
            </a:r>
            <a:endParaRPr lang="ko-KR" alt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3D15853-C6C9-D54C-7FB9-16359AC33A08}"/>
              </a:ext>
            </a:extLst>
          </p:cNvPr>
          <p:cNvSpPr txBox="1"/>
          <p:nvPr/>
        </p:nvSpPr>
        <p:spPr>
          <a:xfrm>
            <a:off x="4916917" y="6191891"/>
            <a:ext cx="21084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sz="1200" b="1" dirty="0">
                <a:effectLst/>
              </a:rPr>
              <a:t>주별 </a:t>
            </a:r>
            <a:r>
              <a:rPr lang="ko-KR" altLang="en-US" sz="1200" b="1" dirty="0"/>
              <a:t>절대</a:t>
            </a:r>
            <a:r>
              <a:rPr lang="ko-KR" altLang="en-US" sz="1200" b="1" dirty="0">
                <a:effectLst/>
              </a:rPr>
              <a:t>값</a:t>
            </a:r>
            <a:endParaRPr lang="en-US" altLang="ko-KR" sz="1200" b="1" dirty="0">
              <a:effectLst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91828A-D726-F2CB-687E-2D6E4CC6675A}"/>
                  </a:ext>
                </a:extLst>
              </p:cNvPr>
              <p:cNvSpPr txBox="1"/>
              <p:nvPr/>
            </p:nvSpPr>
            <p:spPr>
              <a:xfrm>
                <a:off x="7084579" y="4764729"/>
                <a:ext cx="2008114" cy="5743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ko-KR" i="1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b="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591828A-D726-F2CB-687E-2D6E4CC667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4579" y="4764729"/>
                <a:ext cx="2008114" cy="57438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AD8072-2910-7B52-1AF5-DD4AF56A4255}"/>
                  </a:ext>
                </a:extLst>
              </p:cNvPr>
              <p:cNvSpPr txBox="1"/>
              <p:nvPr/>
            </p:nvSpPr>
            <p:spPr>
              <a:xfrm>
                <a:off x="7095406" y="5789674"/>
                <a:ext cx="2508441" cy="660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ko-KR" sz="12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i="1">
                        <a:latin typeface="Cambria Math" panose="02040503050406030204" pitchFamily="18" charset="0"/>
                      </a:rPr>
                      <m:t>w</m:t>
                    </m:r>
                    <m:r>
                      <a:rPr lang="ko-KR" altLang="en-US" sz="12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200" dirty="0"/>
                  <a:t> </a:t>
                </a:r>
                <a:r>
                  <a:rPr lang="ko-KR" altLang="en-US" sz="1200" dirty="0"/>
                  <a:t>상대 </a:t>
                </a:r>
                <a:r>
                  <a:rPr lang="ko-KR" altLang="en-US" sz="1200" dirty="0" err="1"/>
                  <a:t>검색량</a:t>
                </a:r>
                <a:endParaRPr lang="en-US" altLang="ko-KR" sz="12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A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1200" i="1">
                            <a:latin typeface="Cambria Math" panose="02040503050406030204" pitchFamily="18" charset="0"/>
                          </a:rPr>
                          <m:t>m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월별 절대 </a:t>
                </a:r>
                <a:r>
                  <a:rPr lang="ko-KR" altLang="en-US" sz="1200" dirty="0" err="1"/>
                  <a:t>검색량</a:t>
                </a:r>
                <a:endParaRPr lang="en-US" altLang="ko-KR" sz="12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en-US" altLang="ko-KR" sz="1200" dirty="0"/>
                  <a:t>: </a:t>
                </a:r>
                <a:r>
                  <a:rPr lang="ko-KR" altLang="en-US" sz="1200" dirty="0"/>
                  <a:t>추정된 주별 절대 </a:t>
                </a:r>
                <a:r>
                  <a:rPr lang="ko-KR" altLang="en-US" sz="1200" dirty="0" err="1"/>
                  <a:t>검색량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45AD8072-2910-7B52-1AF5-DD4AF56A42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406" y="5789674"/>
                <a:ext cx="2508441" cy="660694"/>
              </a:xfrm>
              <a:prstGeom prst="rect">
                <a:avLst/>
              </a:prstGeom>
              <a:blipFill>
                <a:blip r:embed="rId7"/>
                <a:stretch>
                  <a:fillRect t="-926" b="-648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B8E1C-8B19-CD4D-544E-3C83A7FAFE93}"/>
                  </a:ext>
                </a:extLst>
              </p:cNvPr>
              <p:cNvSpPr txBox="1"/>
              <p:nvPr/>
            </p:nvSpPr>
            <p:spPr>
              <a:xfrm>
                <a:off x="6303619" y="3388824"/>
                <a:ext cx="670728" cy="3856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ˆ"/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A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800" i="1">
                              <a:latin typeface="Cambria Math" panose="02040503050406030204" pitchFamily="18" charset="0"/>
                            </a:rPr>
                            <m:t>w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03B8E1C-8B19-CD4D-544E-3C83A7FAF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619" y="3388824"/>
                <a:ext cx="670728" cy="385618"/>
              </a:xfrm>
              <a:prstGeom prst="rect">
                <a:avLst/>
              </a:prstGeom>
              <a:blipFill>
                <a:blip r:embed="rId8"/>
                <a:stretch>
                  <a:fillRect t="-952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300248-C3D2-515A-7E63-EE6AFA97B2A4}"/>
                  </a:ext>
                </a:extLst>
              </p:cNvPr>
              <p:cNvSpPr txBox="1"/>
              <p:nvPr/>
            </p:nvSpPr>
            <p:spPr>
              <a:xfrm>
                <a:off x="4644523" y="3305584"/>
                <a:ext cx="436172" cy="3762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0300248-C3D2-515A-7E63-EE6AFA97B2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4523" y="3305584"/>
                <a:ext cx="436172" cy="37629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1ED38-D1CD-3107-3149-DB7615764314}"/>
                  </a:ext>
                </a:extLst>
              </p:cNvPr>
              <p:cNvSpPr txBox="1"/>
              <p:nvPr/>
            </p:nvSpPr>
            <p:spPr>
              <a:xfrm>
                <a:off x="2668109" y="3391798"/>
                <a:ext cx="5172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751ED38-D1CD-3107-3149-DB76157643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8109" y="3391798"/>
                <a:ext cx="51723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8CBD8747-BECA-58FE-19D7-B7FCAF84D9BF}"/>
              </a:ext>
            </a:extLst>
          </p:cNvPr>
          <p:cNvSpPr txBox="1"/>
          <p:nvPr/>
        </p:nvSpPr>
        <p:spPr>
          <a:xfrm>
            <a:off x="9998774" y="2340724"/>
            <a:ext cx="4361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→</a:t>
            </a:r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31D6F1A-1886-AE1A-923C-ABFEBF48313B}"/>
              </a:ext>
            </a:extLst>
          </p:cNvPr>
          <p:cNvSpPr txBox="1"/>
          <p:nvPr/>
        </p:nvSpPr>
        <p:spPr>
          <a:xfrm>
            <a:off x="10457969" y="2402279"/>
            <a:ext cx="1171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Raw Data</a:t>
            </a:r>
            <a:endParaRPr lang="ko-KR" altLang="en-US" sz="1200" b="1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E5960D0-9540-1A07-1CF1-4849F4ED947C}"/>
              </a:ext>
            </a:extLst>
          </p:cNvPr>
          <p:cNvSpPr txBox="1"/>
          <p:nvPr/>
        </p:nvSpPr>
        <p:spPr>
          <a:xfrm>
            <a:off x="9005834" y="5256847"/>
            <a:ext cx="920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152.00773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9998F7-C25A-87DC-2428-5DEA0085210E}"/>
                  </a:ext>
                </a:extLst>
              </p:cNvPr>
              <p:cNvSpPr txBox="1"/>
              <p:nvPr/>
            </p:nvSpPr>
            <p:spPr>
              <a:xfrm>
                <a:off x="6955244" y="4277183"/>
                <a:ext cx="213744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200" b="0" i="1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=7, </m:t>
                    </m:r>
                    <m:r>
                      <a:rPr lang="en-US" altLang="ko-KR" sz="120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ko-KR" sz="1200" b="0" i="1" smtClean="0">
                        <a:latin typeface="Cambria Math" panose="02040503050406030204" pitchFamily="18" charset="0"/>
                      </a:rPr>
                      <m:t>=27</m:t>
                    </m:r>
                  </m:oMath>
                </a14:m>
                <a:r>
                  <a:rPr lang="ko-KR" altLang="en-US" sz="1200" dirty="0"/>
                  <a:t> </a:t>
                </a:r>
                <a:r>
                  <a:rPr lang="en-US" altLang="ko-KR" sz="1200" dirty="0"/>
                  <a:t>?</a:t>
                </a:r>
                <a:endParaRPr lang="ko-KR" altLang="en-US" sz="1200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849998F7-C25A-87DC-2428-5DEA008521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5244" y="4277183"/>
                <a:ext cx="2137449" cy="276999"/>
              </a:xfrm>
              <a:prstGeom prst="rect">
                <a:avLst/>
              </a:prstGeom>
              <a:blipFill>
                <a:blip r:embed="rId11"/>
                <a:stretch>
                  <a:fillRect t="-4444" b="-155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57E6ECFC-99B7-C5E2-F28F-15F02B9EE2A8}"/>
              </a:ext>
            </a:extLst>
          </p:cNvPr>
          <p:cNvSpPr txBox="1"/>
          <p:nvPr/>
        </p:nvSpPr>
        <p:spPr>
          <a:xfrm>
            <a:off x="8762690" y="4571973"/>
            <a:ext cx="767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/>
              <a:t>133000</a:t>
            </a:r>
            <a:endParaRPr lang="ko-KR" alt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90B4EC0-E4D3-5F20-B4EB-792E5F29BFF8}"/>
              </a:ext>
            </a:extLst>
          </p:cNvPr>
          <p:cNvSpPr txBox="1"/>
          <p:nvPr/>
        </p:nvSpPr>
        <p:spPr>
          <a:xfrm>
            <a:off x="7581631" y="4701463"/>
            <a:ext cx="76799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0" dirty="0"/>
              <a:t>29.2452</a:t>
            </a:r>
            <a:endParaRPr lang="ko-KR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0D21A1-23B1-4CA8-72DB-04C7E36889BE}"/>
                  </a:ext>
                </a:extLst>
              </p:cNvPr>
              <p:cNvSpPr txBox="1"/>
              <p:nvPr/>
            </p:nvSpPr>
            <p:spPr>
              <a:xfrm>
                <a:off x="9702365" y="5132341"/>
                <a:ext cx="1318532" cy="2878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altLang="ko-KR" sz="1200" i="1"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</m:acc>
                      </m:e>
                      <m:sub>
                        <m:r>
                          <a:rPr lang="en-US" altLang="ko-KR" sz="1200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sub>
                    </m:sSub>
                    <m:r>
                      <a:rPr lang="en-US" altLang="ko-KR" sz="1200" i="1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ko-KR" altLang="en-US" sz="1200" b="1" dirty="0"/>
                  <a:t>25588.2</a:t>
                </a:r>
                <a:r>
                  <a:rPr lang="en-US" altLang="ko-KR" sz="1200" b="1" dirty="0"/>
                  <a:t>5</a:t>
                </a:r>
                <a:endParaRPr lang="ko-KR" altLang="en-US" sz="1200" b="1" dirty="0"/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10D21A1-23B1-4CA8-72DB-04C7E3688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02365" y="5132341"/>
                <a:ext cx="1318532" cy="287836"/>
              </a:xfrm>
              <a:prstGeom prst="rect">
                <a:avLst/>
              </a:prstGeom>
              <a:blipFill>
                <a:blip r:embed="rId12"/>
                <a:stretch>
                  <a:fillRect t="-4255" b="-148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17F14915-6A52-4796-11E3-8D1D091A3CC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35336" y="3512242"/>
            <a:ext cx="908643" cy="144313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2C226E-1087-8685-AC29-EBC1176DC15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540109" y="5338731"/>
            <a:ext cx="935841" cy="81614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601DA0B5-A009-1F92-E968-D355B7DDD5F0}"/>
              </a:ext>
            </a:extLst>
          </p:cNvPr>
          <p:cNvCxnSpPr>
            <a:cxnSpLocks/>
          </p:cNvCxnSpPr>
          <p:nvPr/>
        </p:nvCxnSpPr>
        <p:spPr>
          <a:xfrm>
            <a:off x="4696210" y="4469313"/>
            <a:ext cx="839126" cy="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53400B28-6816-5A18-585F-1780E6DC336B}"/>
              </a:ext>
            </a:extLst>
          </p:cNvPr>
          <p:cNvCxnSpPr>
            <a:cxnSpLocks/>
          </p:cNvCxnSpPr>
          <p:nvPr/>
        </p:nvCxnSpPr>
        <p:spPr>
          <a:xfrm>
            <a:off x="4696210" y="3674431"/>
            <a:ext cx="839126" cy="40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51109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652B-83E8-EED4-28F1-842D2131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5FBB59-FFC2-0ED0-A598-3ECF51F8B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2681" y="1255059"/>
            <a:ext cx="10643093" cy="495549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Pearson Correlation Analysis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Inputs: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X: Concentrations of Infectious Diseases</a:t>
            </a:r>
          </a:p>
          <a:p>
            <a:pPr lvl="2">
              <a:lnSpc>
                <a:spcPct val="150000"/>
              </a:lnSpc>
            </a:pPr>
            <a:r>
              <a:rPr lang="en-US" altLang="ko-KR" b="1" dirty="0">
                <a:latin typeface="Segoe UI Variable Small" pitchFamily="2" charset="0"/>
                <a:cs typeface="Times New Roman" panose="02020603050405020304" pitchFamily="18" charset="0"/>
              </a:rPr>
              <a:t>Y: Search Volume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Returns: statics (r, correlation coefficient), </a:t>
            </a: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pvalue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scipy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패키지 </a:t>
            </a:r>
            <a:r>
              <a:rPr lang="en-US" altLang="ko-KR" sz="2000" b="1" dirty="0" err="1">
                <a:latin typeface="Segoe UI Variable Small" pitchFamily="2" charset="0"/>
                <a:cs typeface="Times New Roman" panose="02020603050405020304" pitchFamily="18" charset="0"/>
              </a:rPr>
              <a:t>pearsonr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라이브러리 사용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Time-lag(Shift) Application (1 Week ~ 2 Week)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Sewage (Concentrations)</a:t>
            </a:r>
          </a:p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Search (Volume)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E20DC8-4E26-B14D-28CD-635ADBCE6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8C5E8AD-1A29-6A65-E599-BF6C7DB14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Correlation Analysis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FE178-7C43-E63D-5A24-BEEB22F8732C}"/>
                  </a:ext>
                </a:extLst>
              </p:cNvPr>
              <p:cNvSpPr txBox="1"/>
              <p:nvPr/>
            </p:nvSpPr>
            <p:spPr>
              <a:xfrm>
                <a:off x="7204772" y="1351956"/>
                <a:ext cx="3772828" cy="66063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xy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limLoc m:val="subSup"/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 m:alnAt="25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sup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x</m:t>
                                  </m:r>
                                </m:e>
                              </m:acc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</m:acc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rad>
                            <m:radPr>
                              <m:degHide m:val="on"/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x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  <m:rad>
                            <m:radPr>
                              <m:degHide m:val="on"/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limLoc m:val="subSup"/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 m:alnAt="25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n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i="1">
                                              <a:latin typeface="Cambria Math" panose="02040503050406030204" pitchFamily="18" charset="0"/>
                                            </a:rPr>
                                            <m:t>i</m:t>
                                          </m:r>
                                        </m:sub>
                                      </m:sSub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b="0" i="1" smtClean="0">
                                              <a:latin typeface="Cambria Math" panose="02040503050406030204" pitchFamily="18" charset="0"/>
                                            </a:rPr>
                                            <m:t>y</m:t>
                                          </m:r>
                                        </m:e>
                                      </m:acc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US" altLang="ko-KR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08FE178-7C43-E63D-5A24-BEEB22F87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4772" y="1351956"/>
                <a:ext cx="3772828" cy="6606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D74F368-5AA2-59C1-F8AF-BF0680846DE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D84FC-C140-3ACF-A770-1A94127C272B}"/>
                  </a:ext>
                </a:extLst>
              </p:cNvPr>
              <p:cNvSpPr txBox="1"/>
              <p:nvPr/>
            </p:nvSpPr>
            <p:spPr>
              <a:xfrm>
                <a:off x="8270188" y="3429000"/>
                <a:ext cx="3424024" cy="1292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600" b="1" dirty="0">
                    <a:latin typeface="Segoe UI Variable Small" pitchFamily="2" charset="0"/>
                    <a:cs typeface="Times New Roman" panose="02020603050405020304" pitchFamily="18" charset="0"/>
                  </a:rPr>
                  <a:t>returns</a:t>
                </a:r>
                <a:r>
                  <a:rPr lang="ko-KR" altLang="en-US" sz="1600" b="1" dirty="0">
                    <a:latin typeface="Segoe UI Variable Small" pitchFamily="2" charset="0"/>
                    <a:cs typeface="Times New Roman" panose="02020603050405020304" pitchFamily="18" charset="0"/>
                  </a:rPr>
                  <a:t> 해석</a:t>
                </a:r>
                <a:endParaRPr lang="en-US" altLang="ko-KR" sz="16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R: (-1 ~ 1)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1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에 가까울 수록 강한 상관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P: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유의확률</a:t>
                </a:r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, 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기준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</m:oMath>
                </a14:m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 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통계적으로 유의하지 않음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altLang="ko-KR" sz="1200" b="1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P </a:t>
                </a:r>
                <a14:m>
                  <m:oMath xmlns:m="http://schemas.openxmlformats.org/officeDocument/2006/math">
                    <m:r>
                      <a:rPr lang="en-US" altLang="ko-KR" sz="1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&lt; </m:t>
                    </m:r>
                  </m:oMath>
                </a14:m>
                <a:r>
                  <a:rPr lang="en-US" altLang="ko-KR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0.05 </a:t>
                </a:r>
                <a:r>
                  <a:rPr lang="ko-KR" altLang="en-US" sz="1200" b="1" dirty="0">
                    <a:latin typeface="Segoe UI Variable Small" pitchFamily="2" charset="0"/>
                    <a:cs typeface="Times New Roman" panose="02020603050405020304" pitchFamily="18" charset="0"/>
                  </a:rPr>
                  <a:t>통계적으로 유의함</a:t>
                </a:r>
                <a:endParaRPr lang="en-US" altLang="ko-KR" sz="1200" b="1" dirty="0">
                  <a:latin typeface="Segoe UI Variable Small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F1D84FC-C140-3ACF-A770-1A94127C2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188" y="3429000"/>
                <a:ext cx="3424024" cy="1292662"/>
              </a:xfrm>
              <a:prstGeom prst="rect">
                <a:avLst/>
              </a:prstGeom>
              <a:blipFill>
                <a:blip r:embed="rId3"/>
                <a:stretch>
                  <a:fillRect l="-1070" t="-14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07524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742A9-EF8C-9B9D-B5C3-0E0B34A8E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522162-DDF6-B028-1439-E56AECD3A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Experimental Results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51F23ED-5872-8611-3660-BA20D37A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48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484C3-9DDD-2AB7-A676-88AFE0E15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07150-764B-5ECE-1293-492D30474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Time-series Graph by Grouped Keyword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66AB2A5-F94B-6DBF-6224-92FE661FFF15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27B7785-CC66-2508-87EA-042354DD90E0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E7FCE48D-B90C-20A9-985C-5B5E1DE2365D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23305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SARS-CoV-2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모든 그룹에서 유의하고 강한 양의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전체 그룹과 병명 코로나에서 매우 강한 양의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증상 그룹에서 유의하고 강한 양의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Norovirus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전체 그룹과 병명 그룹에서 중등도의 유의한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증상 그룹 유의한 음의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B6E0D97D-E97B-6168-CC90-9E2A63D62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586784"/>
              </p:ext>
            </p:extLst>
          </p:nvPr>
        </p:nvGraphicFramePr>
        <p:xfrm>
          <a:off x="3947160" y="1086338"/>
          <a:ext cx="3984357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94555">
                  <a:extLst>
                    <a:ext uri="{9D8B030D-6E8A-4147-A177-3AD203B41FA5}">
                      <a16:colId xmlns:a16="http://schemas.microsoft.com/office/drawing/2014/main" val="367957310"/>
                    </a:ext>
                  </a:extLst>
                </a:gridCol>
                <a:gridCol w="1090680">
                  <a:extLst>
                    <a:ext uri="{9D8B030D-6E8A-4147-A177-3AD203B41FA5}">
                      <a16:colId xmlns:a16="http://schemas.microsoft.com/office/drawing/2014/main" val="2091657155"/>
                    </a:ext>
                  </a:extLst>
                </a:gridCol>
                <a:gridCol w="994443">
                  <a:extLst>
                    <a:ext uri="{9D8B030D-6E8A-4147-A177-3AD203B41FA5}">
                      <a16:colId xmlns:a16="http://schemas.microsoft.com/office/drawing/2014/main" val="1364749955"/>
                    </a:ext>
                  </a:extLst>
                </a:gridCol>
                <a:gridCol w="1204679">
                  <a:extLst>
                    <a:ext uri="{9D8B030D-6E8A-4147-A177-3AD203B41FA5}">
                      <a16:colId xmlns:a16="http://schemas.microsoft.com/office/drawing/2014/main" val="3821985480"/>
                    </a:ext>
                  </a:extLst>
                </a:gridCol>
              </a:tblGrid>
              <a:tr h="1921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상관계수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코로나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제반증상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코로나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기침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발열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호흡곤란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57955"/>
                  </a:ext>
                </a:extLst>
              </a:tr>
              <a:tr h="1921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0.8773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0.8772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0.6989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87980"/>
                  </a:ext>
                </a:extLst>
              </a:tr>
              <a:tr h="1921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5.72E-34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5.90E-34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2.24E-16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33897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6DCDD63C-6309-7C71-DCC5-BAE29411B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088185"/>
              </p:ext>
            </p:extLst>
          </p:nvPr>
        </p:nvGraphicFramePr>
        <p:xfrm>
          <a:off x="3612777" y="2714266"/>
          <a:ext cx="4318740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2727">
                  <a:extLst>
                    <a:ext uri="{9D8B030D-6E8A-4147-A177-3AD203B41FA5}">
                      <a16:colId xmlns:a16="http://schemas.microsoft.com/office/drawing/2014/main" val="565572598"/>
                    </a:ext>
                  </a:extLst>
                </a:gridCol>
                <a:gridCol w="1277608">
                  <a:extLst>
                    <a:ext uri="{9D8B030D-6E8A-4147-A177-3AD203B41FA5}">
                      <a16:colId xmlns:a16="http://schemas.microsoft.com/office/drawing/2014/main" val="1517352598"/>
                    </a:ext>
                  </a:extLst>
                </a:gridCol>
                <a:gridCol w="1261914">
                  <a:extLst>
                    <a:ext uri="{9D8B030D-6E8A-4147-A177-3AD203B41FA5}">
                      <a16:colId xmlns:a16="http://schemas.microsoft.com/office/drawing/2014/main" val="3485746579"/>
                    </a:ext>
                  </a:extLst>
                </a:gridCol>
                <a:gridCol w="1156491">
                  <a:extLst>
                    <a:ext uri="{9D8B030D-6E8A-4147-A177-3AD203B41FA5}">
                      <a16:colId xmlns:a16="http://schemas.microsoft.com/office/drawing/2014/main" val="3724059300"/>
                    </a:ext>
                  </a:extLst>
                </a:gridCol>
              </a:tblGrid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상관계수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인플루엔자군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제반증상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인플루엔자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독감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플루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고열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근육통</a:t>
                      </a:r>
                      <a:r>
                        <a:rPr lang="en-US" altLang="ko-KR" sz="800" b="1" dirty="0"/>
                        <a:t>+</a:t>
                      </a:r>
                      <a:r>
                        <a:rPr lang="ko-KR" altLang="en-US" sz="800" b="1" dirty="0"/>
                        <a:t>오한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906949"/>
                  </a:ext>
                </a:extLst>
              </a:tr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0.0767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0.0106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u="none" strike="noStrike" dirty="0">
                          <a:effectLst/>
                        </a:rPr>
                        <a:t>0.7399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3847899"/>
                  </a:ext>
                </a:extLst>
              </a:tr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 0.05, 4.63E-01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 </a:t>
                      </a:r>
                      <a:r>
                        <a:rPr lang="ko-KR" sz="800" b="0" u="none" strike="noStrike" dirty="0">
                          <a:effectLst/>
                        </a:rPr>
                        <a:t>9.20E-01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u="none" strike="noStrike" dirty="0">
                          <a:effectLst/>
                        </a:rPr>
                        <a:t>&lt; 0.05, 1.61E-17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8248298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A870F834-F6F1-BF44-5FD0-6D8F44958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714610"/>
              </p:ext>
            </p:extLst>
          </p:nvPr>
        </p:nvGraphicFramePr>
        <p:xfrm>
          <a:off x="3568514" y="4212532"/>
          <a:ext cx="4407265" cy="6400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5301">
                  <a:extLst>
                    <a:ext uri="{9D8B030D-6E8A-4147-A177-3AD203B41FA5}">
                      <a16:colId xmlns:a16="http://schemas.microsoft.com/office/drawing/2014/main" val="2199995946"/>
                    </a:ext>
                  </a:extLst>
                </a:gridCol>
                <a:gridCol w="1221399">
                  <a:extLst>
                    <a:ext uri="{9D8B030D-6E8A-4147-A177-3AD203B41FA5}">
                      <a16:colId xmlns:a16="http://schemas.microsoft.com/office/drawing/2014/main" val="3324891707"/>
                    </a:ext>
                  </a:extLst>
                </a:gridCol>
                <a:gridCol w="1443319">
                  <a:extLst>
                    <a:ext uri="{9D8B030D-6E8A-4147-A177-3AD203B41FA5}">
                      <a16:colId xmlns:a16="http://schemas.microsoft.com/office/drawing/2014/main" val="3571496950"/>
                    </a:ext>
                  </a:extLst>
                </a:gridCol>
                <a:gridCol w="1147246">
                  <a:extLst>
                    <a:ext uri="{9D8B030D-6E8A-4147-A177-3AD203B41FA5}">
                      <a16:colId xmlns:a16="http://schemas.microsoft.com/office/drawing/2014/main" val="4147792639"/>
                    </a:ext>
                  </a:extLst>
                </a:gridCol>
              </a:tblGrid>
              <a:tr h="134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/>
                        <a:t>상관계수</a:t>
                      </a:r>
                      <a:endParaRPr lang="ko-KR" altLang="en-US" sz="800" b="1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>
                          <a:effectLst/>
                        </a:rPr>
                        <a:t>노로바이러스</a:t>
                      </a:r>
                      <a:r>
                        <a:rPr lang="ko-KR" altLang="en-US" sz="800" b="1" u="none" strike="noStrike">
                          <a:effectLst/>
                        </a:rPr>
                        <a:t>군</a:t>
                      </a:r>
                      <a:r>
                        <a:rPr lang="en-US" altLang="ko-KR" sz="800" b="1" u="none" strike="noStrike">
                          <a:effectLst/>
                        </a:rPr>
                        <a:t>+</a:t>
                      </a:r>
                      <a:r>
                        <a:rPr lang="ko-KR" altLang="en-US" sz="800" b="1" u="none" strike="noStrike">
                          <a:effectLst/>
                        </a:rPr>
                        <a:t>제반증상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u="none" strike="noStrike">
                          <a:effectLst/>
                        </a:rPr>
                        <a:t>노로바이러스</a:t>
                      </a:r>
                      <a:r>
                        <a:rPr lang="en-US" altLang="ko-KR" sz="800" b="1" u="none" strike="noStrike">
                          <a:effectLst/>
                        </a:rPr>
                        <a:t>+</a:t>
                      </a:r>
                      <a:r>
                        <a:rPr lang="ko-KR" sz="800" b="1" u="none" strike="noStrike">
                          <a:effectLst/>
                        </a:rPr>
                        <a:t>장염</a:t>
                      </a:r>
                      <a:r>
                        <a:rPr lang="en-US" altLang="ko-KR" sz="800" b="1" u="none" strike="noStrike">
                          <a:effectLst/>
                        </a:rPr>
                        <a:t>+</a:t>
                      </a:r>
                      <a:r>
                        <a:rPr lang="ko-KR" altLang="en-US" sz="800" b="1" u="none" strike="noStrike">
                          <a:effectLst/>
                        </a:rPr>
                        <a:t>식중독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구토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물설사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복통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77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0.4827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u="none" strike="noStrike" dirty="0">
                          <a:effectLst/>
                        </a:rPr>
                        <a:t>0.4882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-0.276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5798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&lt; 0.05, </a:t>
                      </a:r>
                      <a:r>
                        <a:rPr 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8.35E-07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u="none" strike="noStrike" dirty="0">
                          <a:effectLst/>
                        </a:rPr>
                        <a:t>&lt; 0.05, 5.21E-07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u="none" strike="noStrike" dirty="0">
                          <a:effectLst/>
                        </a:rPr>
                        <a:t>&lt; 0.05, 7.08E-03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1292959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12CF4E-035E-1349-46C9-99FB21BF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15</a:t>
            </a:fld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A0D3320-C27E-C405-9CBD-DDDAEF369D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6259" y="1048611"/>
            <a:ext cx="3933297" cy="195390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8983226-531A-DF28-016A-673DA6250B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05" y="3001814"/>
            <a:ext cx="3938964" cy="1955313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FBFA26-3219-2D18-1954-BAB6609644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1805" y="4957127"/>
            <a:ext cx="3938965" cy="195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598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56364-AB9B-CACA-3048-3CABCCFEB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805B8-316F-C22D-91AC-51E91E897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Symptoms, and Their Combination with Time Lag: Grouped Keywords for SARS-CoV-2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3D23C4-5BB7-7851-30DD-30C11FBFE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117AAFB-5776-595B-CF74-2A29924138FA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CE8995D-8609-9D6D-E4F3-EC1D2CDACA18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23DE29F9-8DEC-2A3D-AF05-C33B59922845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408BB2F-5637-0E4B-956D-A2DAAD643683}"/>
              </a:ext>
            </a:extLst>
          </p:cNvPr>
          <p:cNvSpPr txBox="1">
            <a:spLocks/>
          </p:cNvSpPr>
          <p:nvPr/>
        </p:nvSpPr>
        <p:spPr>
          <a:xfrm>
            <a:off x="263951" y="1258539"/>
            <a:ext cx="11821361" cy="534514"/>
          </a:xfrm>
          <a:prstGeom prst="rect">
            <a:avLst/>
          </a:prstGeom>
        </p:spPr>
        <p:txBody>
          <a:bodyPr vert="horz" lIns="91440" tIns="45720" rIns="91440" bIns="45720" numCol="3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Combination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1BED535-9861-CE73-CDAD-A91AD6519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759" y="1793053"/>
            <a:ext cx="3974481" cy="246518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9925E46-784C-FE83-DDF8-7F9B05CFAC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6" y="1793053"/>
            <a:ext cx="3974480" cy="246518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41702E0-FFB1-AA1F-C928-C25B7F282F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833" y="1793053"/>
            <a:ext cx="3974480" cy="2465184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265DDA0A-5329-CC32-03D1-EFCC8AB0DA49}"/>
              </a:ext>
            </a:extLst>
          </p:cNvPr>
          <p:cNvSpPr txBox="1">
            <a:spLocks/>
          </p:cNvSpPr>
          <p:nvPr/>
        </p:nvSpPr>
        <p:spPr>
          <a:xfrm>
            <a:off x="838200" y="4864232"/>
            <a:ext cx="10205720" cy="1993768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시간 지연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Shift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에서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전반적으로 강한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특히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하수 농도보다 한 주 앞설수록 가장 높은 상관관계 도출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한 주 앞선 전체 그룹과 병명 그룹이 가장 우세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F311DAA-1403-9EC7-6F3E-CAF85CF176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5731136"/>
              </p:ext>
            </p:extLst>
          </p:nvPr>
        </p:nvGraphicFramePr>
        <p:xfrm>
          <a:off x="106686" y="4325525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1.60E-18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3.27E-08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8.42E-38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8.83E-22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A966B7E-C7DE-CFBB-F74A-0BE3EE56F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9248855"/>
              </p:ext>
            </p:extLst>
          </p:nvPr>
        </p:nvGraphicFramePr>
        <p:xfrm>
          <a:off x="3970988" y="4329339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1.49E-18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5.90E-34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8.96E-38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8.28E-22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EC0A1FCD-58F1-645D-282F-5F6E90D75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9937762"/>
              </p:ext>
            </p:extLst>
          </p:nvPr>
        </p:nvGraphicFramePr>
        <p:xfrm>
          <a:off x="7835290" y="4325525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8.78E-10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3.36E-04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1.68E-17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3.09E-11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1726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F5AB-60CA-6BC8-4B95-DB9872481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C40F67-51B8-BC69-90F1-6E24A79FC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Symptoms, and Their Combination with Time Lag: Grouped Keywords for Influenza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AEE33AA-9C46-871B-73D3-7C4FCD5F3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058D576-BF83-53EF-4DCB-6A83917DE780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A7E277D-F100-7D92-32C7-C73D034A7303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11C7786-4CBB-FDB9-52E9-84C24782E530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D12B6B7-0B5C-746F-67D7-D210061BBC3B}"/>
              </a:ext>
            </a:extLst>
          </p:cNvPr>
          <p:cNvSpPr txBox="1">
            <a:spLocks/>
          </p:cNvSpPr>
          <p:nvPr/>
        </p:nvSpPr>
        <p:spPr>
          <a:xfrm>
            <a:off x="263952" y="1258539"/>
            <a:ext cx="11821362" cy="534514"/>
          </a:xfrm>
          <a:prstGeom prst="rect">
            <a:avLst/>
          </a:prstGeom>
        </p:spPr>
        <p:txBody>
          <a:bodyPr vert="horz" lIns="91440" tIns="45720" rIns="91440" bIns="45720" numCol="3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Combination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F279940F-CCD5-0CBB-5E4D-6B355B48E78D}"/>
              </a:ext>
            </a:extLst>
          </p:cNvPr>
          <p:cNvSpPr txBox="1">
            <a:spLocks/>
          </p:cNvSpPr>
          <p:nvPr/>
        </p:nvSpPr>
        <p:spPr>
          <a:xfrm>
            <a:off x="838199" y="4258238"/>
            <a:ext cx="10824883" cy="209811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7E1A3F6-91A5-AB04-328B-7ABB0BE16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5" y="1793053"/>
            <a:ext cx="3974481" cy="246518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C4DB09D-DE50-25EB-3914-57A2B2A2A5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760" y="1793053"/>
            <a:ext cx="3974480" cy="2465184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3094A46-1E77-C2F1-85B9-C554E8E0C3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833" y="1793053"/>
            <a:ext cx="3974481" cy="2465184"/>
          </a:xfrm>
          <a:prstGeom prst="rect">
            <a:avLst/>
          </a:prstGeom>
        </p:spPr>
      </p:pic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B758705C-CB1C-6671-C935-EEB21085C0D8}"/>
              </a:ext>
            </a:extLst>
          </p:cNvPr>
          <p:cNvSpPr txBox="1">
            <a:spLocks/>
          </p:cNvSpPr>
          <p:nvPr/>
        </p:nvSpPr>
        <p:spPr>
          <a:xfrm>
            <a:off x="838198" y="4927600"/>
            <a:ext cx="10824884" cy="177819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시간 지연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Shift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에서 증상 그룹이 유일하게 유의한 강한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전체 그룹과 병명 그룹은 매우 약하거나 음의 상관관계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유의하지 않음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증상 그룹에서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한 주 앞설 때 가장 높은 상관관계 도출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E3ED44D-DB72-B020-7428-F96419E3CE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350549"/>
              </p:ext>
            </p:extLst>
          </p:nvPr>
        </p:nvGraphicFramePr>
        <p:xfrm>
          <a:off x="8120078" y="4371229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8.10E-12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1.29E-07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2.06E-23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5.64E-22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6D57A77C-97E0-6B59-4B57-F508C85D7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251678"/>
              </p:ext>
            </p:extLst>
          </p:nvPr>
        </p:nvGraphicFramePr>
        <p:xfrm>
          <a:off x="4108760" y="4333715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5.25E-01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2.56E-01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6.01E-01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4.08E-01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0BFD8D1-74CF-663C-A451-832EFBAE19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35376"/>
              </p:ext>
            </p:extLst>
          </p:nvPr>
        </p:nvGraphicFramePr>
        <p:xfrm>
          <a:off x="106685" y="4333715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4.96E-01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5.24E-01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1.93E-01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2.03E-01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18972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BFAD-AE8B-02D5-13AD-5398CC4AA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09094-E645-62C4-871C-D93CB0BFF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Symptoms, and Their Combination with Time Lag: Grouped Keywords for Norovirus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8E01EA-8660-FD50-01E9-43C40CCC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CFADE2D2-682C-33DB-A56A-09549AC0EA93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3107ECC-65D6-BBC1-5959-017B32D422D7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4DC4FF7-7510-EFF7-A223-4F41B65C8071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CB0887CA-E6D1-3EB7-0177-D640E888F761}"/>
              </a:ext>
            </a:extLst>
          </p:cNvPr>
          <p:cNvSpPr txBox="1">
            <a:spLocks/>
          </p:cNvSpPr>
          <p:nvPr/>
        </p:nvSpPr>
        <p:spPr>
          <a:xfrm>
            <a:off x="263952" y="1258539"/>
            <a:ext cx="11821362" cy="534514"/>
          </a:xfrm>
          <a:prstGeom prst="rect">
            <a:avLst/>
          </a:prstGeom>
        </p:spPr>
        <p:txBody>
          <a:bodyPr vert="horz" lIns="91440" tIns="45720" rIns="91440" bIns="45720" numCol="3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Combination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919059D-6D76-21E9-5D42-89FC5D136E68}"/>
              </a:ext>
            </a:extLst>
          </p:cNvPr>
          <p:cNvSpPr txBox="1">
            <a:spLocks/>
          </p:cNvSpPr>
          <p:nvPr/>
        </p:nvSpPr>
        <p:spPr>
          <a:xfrm>
            <a:off x="838199" y="4258238"/>
            <a:ext cx="10824883" cy="2098112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FA2791-9DF5-3CA4-FA97-6072902553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6" y="1793053"/>
            <a:ext cx="3974481" cy="246518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8AB19EF-116B-E707-B251-5F3087A6F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759" y="1793053"/>
            <a:ext cx="3974481" cy="246518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E00A0CA-B25A-E06D-DEF0-7865106876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0832" y="1793053"/>
            <a:ext cx="3974481" cy="2465184"/>
          </a:xfrm>
          <a:prstGeom prst="rect">
            <a:avLst/>
          </a:prstGeom>
        </p:spPr>
      </p:pic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73C0EC6B-8E9B-7E4F-18F7-87C28CB45ACE}"/>
              </a:ext>
            </a:extLst>
          </p:cNvPr>
          <p:cNvSpPr txBox="1">
            <a:spLocks/>
          </p:cNvSpPr>
          <p:nvPr/>
        </p:nvSpPr>
        <p:spPr>
          <a:xfrm>
            <a:off x="838198" y="4886960"/>
            <a:ext cx="10824884" cy="1952784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시간 지연 </a:t>
            </a:r>
            <a:r>
              <a:rPr lang="en-US" altLang="ko-KR" sz="2000" b="1" dirty="0">
                <a:latin typeface="Segoe UI Variable Small" pitchFamily="2" charset="0"/>
                <a:cs typeface="Times New Roman" panose="02020603050405020304" pitchFamily="18" charset="0"/>
              </a:rPr>
              <a:t>Shift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에서 전체 그룹과 병명 그룹에서 유의한 중등도의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전체 그룹과 병명 그룹에서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앞설수록 가장 높은 상관관계 도출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증상 그룹에서 모든 지연에서 유의한 음의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884EE076-D5DD-FB9E-B356-A3174689A8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327262"/>
              </p:ext>
            </p:extLst>
          </p:nvPr>
        </p:nvGraphicFramePr>
        <p:xfrm>
          <a:off x="8076896" y="4346344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2.95E-03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1.04E-03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1.32E-02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1.94E-02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C8A92939-7CB6-833B-67A5-2C03DE244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268360"/>
              </p:ext>
            </p:extLst>
          </p:nvPr>
        </p:nvGraphicFramePr>
        <p:xfrm>
          <a:off x="4183381" y="4346344"/>
          <a:ext cx="357094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863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775091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768000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767999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1121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1.06E-05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1.21E-05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4.95E-08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2.57E-08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195145F-2065-D606-5202-0CC177696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251910"/>
              </p:ext>
            </p:extLst>
          </p:nvPr>
        </p:nvGraphicFramePr>
        <p:xfrm>
          <a:off x="106686" y="4350084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1.87E-05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1.99E-05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6.89E-08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4.73E-08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8704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7290-2B96-2C1A-FA97-7CEE9B65F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B2D555-4E4B-CD4B-E711-3D4BBDFE1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Time-series Graph by Single Keyword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05EEA2A-3E19-19A3-C076-C7936465EDC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F5DF157-10BE-B687-4670-CEF2363F9CE5}"/>
              </a:ext>
            </a:extLst>
          </p:cNvPr>
          <p:cNvSpPr txBox="1">
            <a:spLocks/>
          </p:cNvSpPr>
          <p:nvPr/>
        </p:nvSpPr>
        <p:spPr>
          <a:xfrm>
            <a:off x="726893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18" name="내용 개체 틀 2">
            <a:extLst>
              <a:ext uri="{FF2B5EF4-FFF2-40B4-BE49-F238E27FC236}">
                <a16:creationId xmlns:a16="http://schemas.microsoft.com/office/drawing/2014/main" id="{BE786B18-DEB4-2B9C-A7D5-4FB3963264B2}"/>
              </a:ext>
            </a:extLst>
          </p:cNvPr>
          <p:cNvSpPr txBox="1">
            <a:spLocks/>
          </p:cNvSpPr>
          <p:nvPr/>
        </p:nvSpPr>
        <p:spPr>
          <a:xfrm>
            <a:off x="726893" y="1258538"/>
            <a:ext cx="10523305" cy="5097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SARS-CoV-2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모든 키워드에서 유의한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특히 코로나 키워드가 가장 높음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00000"/>
              </a:lnSpc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증상 키워드 모두 유의한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특히 오한 키워드에서 가장 높음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ko-KR" sz="1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Norovirus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유일하게 </a:t>
            </a:r>
            <a:r>
              <a:rPr lang="ko-KR" altLang="en-US" sz="1800" b="1" dirty="0" err="1">
                <a:latin typeface="Segoe UI Variable Small" pitchFamily="2" charset="0"/>
                <a:cs typeface="Times New Roman" panose="02020603050405020304" pitchFamily="18" charset="0"/>
              </a:rPr>
              <a:t>노로바이러스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 키워드만이 유의한 중등도의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복통은 유의한 음의 상관관계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9C94CB1E-11F4-8BAB-9CBD-C8456E976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884178"/>
              </p:ext>
            </p:extLst>
          </p:nvPr>
        </p:nvGraphicFramePr>
        <p:xfrm>
          <a:off x="2993839" y="1099579"/>
          <a:ext cx="4728675" cy="6400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2570">
                  <a:extLst>
                    <a:ext uri="{9D8B030D-6E8A-4147-A177-3AD203B41FA5}">
                      <a16:colId xmlns:a16="http://schemas.microsoft.com/office/drawing/2014/main" val="367957310"/>
                    </a:ext>
                  </a:extLst>
                </a:gridCol>
                <a:gridCol w="1004457">
                  <a:extLst>
                    <a:ext uri="{9D8B030D-6E8A-4147-A177-3AD203B41FA5}">
                      <a16:colId xmlns:a16="http://schemas.microsoft.com/office/drawing/2014/main" val="2091657155"/>
                    </a:ext>
                  </a:extLst>
                </a:gridCol>
                <a:gridCol w="1009169">
                  <a:extLst>
                    <a:ext uri="{9D8B030D-6E8A-4147-A177-3AD203B41FA5}">
                      <a16:colId xmlns:a16="http://schemas.microsoft.com/office/drawing/2014/main" val="1364749955"/>
                    </a:ext>
                  </a:extLst>
                </a:gridCol>
                <a:gridCol w="1001949">
                  <a:extLst>
                    <a:ext uri="{9D8B030D-6E8A-4147-A177-3AD203B41FA5}">
                      <a16:colId xmlns:a16="http://schemas.microsoft.com/office/drawing/2014/main" val="3821985480"/>
                    </a:ext>
                  </a:extLst>
                </a:gridCol>
                <a:gridCol w="1090530">
                  <a:extLst>
                    <a:ext uri="{9D8B030D-6E8A-4147-A177-3AD203B41FA5}">
                      <a16:colId xmlns:a16="http://schemas.microsoft.com/office/drawing/2014/main" val="10907488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상관계수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코로나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기침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발열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호흡곤란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6357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0.8772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0.7233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0.4126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0.5079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087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5.90E-34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6.25E-18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1.48E-05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 5.91E-08</a:t>
                      </a:r>
                      <a:endParaRPr lang="ko-KR" altLang="en-US" sz="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8338976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9F8424C1-AFB8-A6E6-35C2-C44FF6AE6A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5763278"/>
              </p:ext>
            </p:extLst>
          </p:nvPr>
        </p:nvGraphicFramePr>
        <p:xfrm>
          <a:off x="2572102" y="2715911"/>
          <a:ext cx="5362850" cy="6781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1847">
                  <a:extLst>
                    <a:ext uri="{9D8B030D-6E8A-4147-A177-3AD203B41FA5}">
                      <a16:colId xmlns:a16="http://schemas.microsoft.com/office/drawing/2014/main" val="565572598"/>
                    </a:ext>
                  </a:extLst>
                </a:gridCol>
                <a:gridCol w="890303">
                  <a:extLst>
                    <a:ext uri="{9D8B030D-6E8A-4147-A177-3AD203B41FA5}">
                      <a16:colId xmlns:a16="http://schemas.microsoft.com/office/drawing/2014/main" val="1517352598"/>
                    </a:ext>
                  </a:extLst>
                </a:gridCol>
                <a:gridCol w="911008">
                  <a:extLst>
                    <a:ext uri="{9D8B030D-6E8A-4147-A177-3AD203B41FA5}">
                      <a16:colId xmlns:a16="http://schemas.microsoft.com/office/drawing/2014/main" val="3485746579"/>
                    </a:ext>
                  </a:extLst>
                </a:gridCol>
                <a:gridCol w="748752">
                  <a:extLst>
                    <a:ext uri="{9D8B030D-6E8A-4147-A177-3AD203B41FA5}">
                      <a16:colId xmlns:a16="http://schemas.microsoft.com/office/drawing/2014/main" val="3724059300"/>
                    </a:ext>
                  </a:extLst>
                </a:gridCol>
                <a:gridCol w="760041">
                  <a:extLst>
                    <a:ext uri="{9D8B030D-6E8A-4147-A177-3AD203B41FA5}">
                      <a16:colId xmlns:a16="http://schemas.microsoft.com/office/drawing/2014/main" val="2894848637"/>
                    </a:ext>
                  </a:extLst>
                </a:gridCol>
                <a:gridCol w="769089">
                  <a:extLst>
                    <a:ext uri="{9D8B030D-6E8A-4147-A177-3AD203B41FA5}">
                      <a16:colId xmlns:a16="http://schemas.microsoft.com/office/drawing/2014/main" val="434476759"/>
                    </a:ext>
                  </a:extLst>
                </a:gridCol>
                <a:gridCol w="641810">
                  <a:extLst>
                    <a:ext uri="{9D8B030D-6E8A-4147-A177-3AD203B41FA5}">
                      <a16:colId xmlns:a16="http://schemas.microsoft.com/office/drawing/2014/main" val="2237822090"/>
                    </a:ext>
                  </a:extLst>
                </a:gridCol>
              </a:tblGrid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상관계수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인플루엔자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독감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플루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고열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근육통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오한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6906949"/>
                  </a:ext>
                </a:extLst>
              </a:tr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-</a:t>
                      </a:r>
                      <a:r>
                        <a:rPr lang="ko-KR" sz="800" b="0" u="none" strike="noStrike" dirty="0">
                          <a:effectLst/>
                        </a:rPr>
                        <a:t>0.1033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0.0106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-</a:t>
                      </a:r>
                      <a:r>
                        <a:rPr lang="ko-KR" sz="800" b="0" u="none" strike="noStrike" dirty="0">
                          <a:effectLst/>
                        </a:rPr>
                        <a:t>0.0055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0.5386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0.4191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0.8009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73847899"/>
                  </a:ext>
                </a:extLst>
              </a:tr>
              <a:tr h="1224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3.22E-01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9.20E-01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 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9.58E-01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3.06E-08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dirty="0"/>
                        <a:t>&lt; 0.05, 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3.56E-05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dirty="0"/>
                        <a:t>&lt; 0.05, 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9.42E-22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8248298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40FB5D6-A7C6-45B3-EDF5-8190F9D900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7194511"/>
              </p:ext>
            </p:extLst>
          </p:nvPr>
        </p:nvGraphicFramePr>
        <p:xfrm>
          <a:off x="2572102" y="4422405"/>
          <a:ext cx="5362849" cy="67818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84430">
                  <a:extLst>
                    <a:ext uri="{9D8B030D-6E8A-4147-A177-3AD203B41FA5}">
                      <a16:colId xmlns:a16="http://schemas.microsoft.com/office/drawing/2014/main" val="2199995946"/>
                    </a:ext>
                  </a:extLst>
                </a:gridCol>
                <a:gridCol w="927259">
                  <a:extLst>
                    <a:ext uri="{9D8B030D-6E8A-4147-A177-3AD203B41FA5}">
                      <a16:colId xmlns:a16="http://schemas.microsoft.com/office/drawing/2014/main" val="3324891707"/>
                    </a:ext>
                  </a:extLst>
                </a:gridCol>
                <a:gridCol w="779067">
                  <a:extLst>
                    <a:ext uri="{9D8B030D-6E8A-4147-A177-3AD203B41FA5}">
                      <a16:colId xmlns:a16="http://schemas.microsoft.com/office/drawing/2014/main" val="3571496950"/>
                    </a:ext>
                  </a:extLst>
                </a:gridCol>
                <a:gridCol w="745194">
                  <a:extLst>
                    <a:ext uri="{9D8B030D-6E8A-4147-A177-3AD203B41FA5}">
                      <a16:colId xmlns:a16="http://schemas.microsoft.com/office/drawing/2014/main" val="4147792639"/>
                    </a:ext>
                  </a:extLst>
                </a:gridCol>
                <a:gridCol w="774833">
                  <a:extLst>
                    <a:ext uri="{9D8B030D-6E8A-4147-A177-3AD203B41FA5}">
                      <a16:colId xmlns:a16="http://schemas.microsoft.com/office/drawing/2014/main" val="304634818"/>
                    </a:ext>
                  </a:extLst>
                </a:gridCol>
                <a:gridCol w="676033">
                  <a:extLst>
                    <a:ext uri="{9D8B030D-6E8A-4147-A177-3AD203B41FA5}">
                      <a16:colId xmlns:a16="http://schemas.microsoft.com/office/drawing/2014/main" val="3462894295"/>
                    </a:ext>
                  </a:extLst>
                </a:gridCol>
                <a:gridCol w="676033">
                  <a:extLst>
                    <a:ext uri="{9D8B030D-6E8A-4147-A177-3AD203B41FA5}">
                      <a16:colId xmlns:a16="http://schemas.microsoft.com/office/drawing/2014/main" val="2135722984"/>
                    </a:ext>
                  </a:extLst>
                </a:gridCol>
              </a:tblGrid>
              <a:tr h="134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/>
                        <a:t>상관계수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 err="1">
                          <a:effectLst/>
                        </a:rPr>
                        <a:t>노로바이러스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장염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식중독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구토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 err="1">
                          <a:effectLst/>
                        </a:rPr>
                        <a:t>물설사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복통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277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r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>
                          <a:effectLst/>
                        </a:rPr>
                        <a:t>0.5788</a:t>
                      </a:r>
                      <a:endParaRPr lang="ko-KR" sz="8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0.0386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-0.19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0.0653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-</a:t>
                      </a:r>
                      <a:r>
                        <a:rPr lang="ko-KR" sz="800" b="0" u="none" strike="noStrike" dirty="0">
                          <a:effectLst/>
                        </a:rPr>
                        <a:t>0.1776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-</a:t>
                      </a:r>
                      <a:r>
                        <a:rPr lang="ko-KR" sz="800" b="0" u="none" strike="noStrike" dirty="0">
                          <a:effectLst/>
                        </a:rPr>
                        <a:t>0.3993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5798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dirty="0"/>
                        <a:t>&lt; 0.05, </a:t>
                      </a:r>
                      <a:endParaRPr lang="en-US" altLang="ko-KR" sz="800" b="1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9.97-e10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7.18E-01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6.81E-02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5.36E-01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u="none" strike="noStrike" dirty="0">
                          <a:effectLst/>
                        </a:rPr>
                        <a:t>&gt; 0.05,</a:t>
                      </a:r>
                    </a:p>
                    <a:p>
                      <a:pPr algn="ctr" fontAlgn="ctr">
                        <a:buNone/>
                      </a:pPr>
                      <a:r>
                        <a:rPr lang="ko-KR" sz="800" b="0" u="none" strike="noStrike" dirty="0">
                          <a:effectLst/>
                        </a:rPr>
                        <a:t>9.02E-02</a:t>
                      </a:r>
                      <a:endParaRPr 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1" dirty="0"/>
                        <a:t>&lt; 0.05, </a:t>
                      </a:r>
                      <a:endParaRPr lang="en-US" altLang="ko-KR" sz="800" b="1" u="none" strike="noStrike" dirty="0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sz="800" b="1" u="none" strike="noStrike" dirty="0">
                          <a:effectLst/>
                        </a:rPr>
                        <a:t>8.06E-05</a:t>
                      </a:r>
                      <a:endParaRPr 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91292959"/>
                  </a:ext>
                </a:extLst>
              </a:tr>
            </a:tbl>
          </a:graphicData>
        </a:graphic>
      </p:graphicFrame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CF6BCC-32B9-3ECD-29BC-6E8D43837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99293" y="6356350"/>
            <a:ext cx="2743200" cy="365125"/>
          </a:xfrm>
        </p:spPr>
        <p:txBody>
          <a:bodyPr/>
          <a:lstStyle/>
          <a:p>
            <a:fld id="{3A0C5530-42F1-47A2-8D67-542376C72877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279AD47A-518B-DF82-B8B3-C86ADE3191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952" y="1015420"/>
            <a:ext cx="3933303" cy="1953909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DB06CCC7-C723-1251-A74D-17B66E2B6C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4952" y="2969329"/>
            <a:ext cx="3933303" cy="195250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8309663-86E7-300F-F2FD-E9E0564258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4746" y="4921832"/>
            <a:ext cx="3933303" cy="195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054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9324A-C5E1-31C3-11A5-067252AB8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9C97F7-B066-466F-D365-DDAE336B1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and Symptoms with Time Lag:</a:t>
            </a:r>
            <a:b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Keywords for SARS-CoV-2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9EC8D1-F2BB-DD69-97E6-6A803AB7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E1E3B420-8C6C-2FA0-BB68-94C8841062AF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D1A17A2-6A45-EEE3-0449-E9F31870BFB8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85927514-A46E-0EE9-E04B-4283659155EF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97751BF-4C3B-0F1E-2BDE-94AA17E0A9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7618" y="1376038"/>
            <a:ext cx="3018182" cy="187203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2D47BC67-D224-A095-2AD4-C3867A803C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307" y="3827216"/>
            <a:ext cx="3018183" cy="1872037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EC536D98-8CFB-AF28-46EF-0090B0A51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724" y="3805399"/>
            <a:ext cx="3018183" cy="1872037"/>
          </a:xfrm>
          <a:prstGeom prst="rect">
            <a:avLst/>
          </a:prstGeom>
        </p:spPr>
      </p:pic>
      <p:sp>
        <p:nvSpPr>
          <p:cNvPr id="31" name="내용 개체 틀 2">
            <a:extLst>
              <a:ext uri="{FF2B5EF4-FFF2-40B4-BE49-F238E27FC236}">
                <a16:creationId xmlns:a16="http://schemas.microsoft.com/office/drawing/2014/main" id="{37EEF8DC-1E5A-4DB2-3E90-4FB326E660BE}"/>
              </a:ext>
            </a:extLst>
          </p:cNvPr>
          <p:cNvSpPr txBox="1">
            <a:spLocks/>
          </p:cNvSpPr>
          <p:nvPr/>
        </p:nvSpPr>
        <p:spPr>
          <a:xfrm>
            <a:off x="838200" y="6141206"/>
            <a:ext cx="10824883" cy="716793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SARS-CoV-2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는 코로나 키워드가 가장 잘 설명하는 지표로 확인됨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모든 키워드에서 </a:t>
            </a:r>
            <a:r>
              <a:rPr lang="ko-KR" altLang="en-US" sz="18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 한 주 앞설 때 가장 높음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DF923269-4843-216C-40ED-791F973F0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018566"/>
              </p:ext>
            </p:extLst>
          </p:nvPr>
        </p:nvGraphicFramePr>
        <p:xfrm>
          <a:off x="399966" y="5683506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1.07E-10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6.35E-18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3.61E-19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2.80E-12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C975D4E-4FFA-5C44-D882-DF1BED41B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738545"/>
              </p:ext>
            </p:extLst>
          </p:nvPr>
        </p:nvGraphicFramePr>
        <p:xfrm>
          <a:off x="4235800" y="5683506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1.31E-03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1.05E-01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6.72E-06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4.25E-04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2736889E-18EF-5B40-5515-540C096D78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691145"/>
              </p:ext>
            </p:extLst>
          </p:nvPr>
        </p:nvGraphicFramePr>
        <p:xfrm>
          <a:off x="8071634" y="5699782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3.93E-05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5.91E-08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1.53E-08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6.85E-06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540E4A6-2121-EEC4-7EF5-0F72586099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854322"/>
              </p:ext>
            </p:extLst>
          </p:nvPr>
        </p:nvGraphicFramePr>
        <p:xfrm>
          <a:off x="666768" y="3202737"/>
          <a:ext cx="373726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287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2505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3770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3769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4337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1.49E-18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5.90E-34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8.96E-38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8.28E-22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2D879144-7BDF-21CA-1312-68812A1EDB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158" y="3797936"/>
            <a:ext cx="3018183" cy="1872037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86B2555-83CC-2C62-E460-872FAF009C78}"/>
              </a:ext>
            </a:extLst>
          </p:cNvPr>
          <p:cNvSpPr txBox="1">
            <a:spLocks/>
          </p:cNvSpPr>
          <p:nvPr/>
        </p:nvSpPr>
        <p:spPr>
          <a:xfrm>
            <a:off x="263951" y="1079152"/>
            <a:ext cx="5966520" cy="713901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52ACD0CB-9C4B-7508-7C7D-2D8A7A687765}"/>
              </a:ext>
            </a:extLst>
          </p:cNvPr>
          <p:cNvSpPr txBox="1">
            <a:spLocks/>
          </p:cNvSpPr>
          <p:nvPr/>
        </p:nvSpPr>
        <p:spPr>
          <a:xfrm>
            <a:off x="366246" y="3491192"/>
            <a:ext cx="5966520" cy="56165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</p:spTree>
    <p:extLst>
      <p:ext uri="{BB962C8B-B14F-4D97-AF65-F5344CB8AC3E}">
        <p14:creationId xmlns:p14="http://schemas.microsoft.com/office/powerpoint/2010/main" val="39987039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309BD-0438-4E88-5E74-B050865E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B85E8-4FF5-3C30-F1EE-FDC13E3EA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and Symptoms with Time Lag:</a:t>
            </a:r>
            <a:b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Keywords for Influenza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EF848D-E8B3-1BF2-B26D-9A48986E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FB30986D-69A1-03F5-A7D1-C9C346CA5BB1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EF1D27A-5EC9-0326-E3C2-05D8068AC327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E6FBD3DD-BAF9-73FB-5473-CD9107F3F8EF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54BDC9A-7A12-E1A0-B9E7-D5F591EDD10B}"/>
              </a:ext>
            </a:extLst>
          </p:cNvPr>
          <p:cNvSpPr txBox="1">
            <a:spLocks/>
          </p:cNvSpPr>
          <p:nvPr/>
        </p:nvSpPr>
        <p:spPr>
          <a:xfrm>
            <a:off x="263951" y="1064726"/>
            <a:ext cx="5966520" cy="728327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22CBF928-5759-A7F6-593C-ACC086D67C7B}"/>
              </a:ext>
            </a:extLst>
          </p:cNvPr>
          <p:cNvSpPr txBox="1">
            <a:spLocks/>
          </p:cNvSpPr>
          <p:nvPr/>
        </p:nvSpPr>
        <p:spPr>
          <a:xfrm>
            <a:off x="366246" y="3596680"/>
            <a:ext cx="5966520" cy="456169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E36A4BF-F29F-9D0B-6903-9B89AD8CA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00" y="1461599"/>
            <a:ext cx="3018184" cy="1872038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DAB546A-92E0-333B-F766-18B0D7E17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653" y="1440278"/>
            <a:ext cx="3018184" cy="1872038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2C5F9965-7944-72BE-BA73-3550C89D9F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832" y="1428889"/>
            <a:ext cx="3018183" cy="1872037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D4F745D-C979-7125-FAAB-D23AA9C3C7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458" y="3921235"/>
            <a:ext cx="3018185" cy="1872039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66812C3-6673-3283-101F-A615F14BF2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042" y="3930377"/>
            <a:ext cx="3018185" cy="18720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DC9F17A-57FC-2BE5-9AF0-026859E72F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6515" y="3874364"/>
            <a:ext cx="3018185" cy="1872039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9CD6FE7-3839-11E2-AA0B-2691EECCFCF7}"/>
              </a:ext>
            </a:extLst>
          </p:cNvPr>
          <p:cNvSpPr txBox="1">
            <a:spLocks/>
          </p:cNvSpPr>
          <p:nvPr/>
        </p:nvSpPr>
        <p:spPr>
          <a:xfrm>
            <a:off x="838200" y="6107502"/>
            <a:ext cx="10824883" cy="732242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는 증상 그룹이 잘 설명하는 지표로 확인됨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특히 오한 키워드가 가장 강함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증상 그룹에서 모두 </a:t>
            </a:r>
            <a:r>
              <a:rPr lang="ko-KR" altLang="en-US" sz="18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 한 주 앞설 때 가장 높음</a:t>
            </a:r>
            <a:endParaRPr lang="en-US" altLang="ko-KR" sz="18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0FA9BAD-A4C9-FA98-D01F-3AC7B25F69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407473"/>
              </p:ext>
            </p:extLst>
          </p:nvPr>
        </p:nvGraphicFramePr>
        <p:xfrm>
          <a:off x="263951" y="3307481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1.28E-01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5.95E-02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5.94E-01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8.84E-01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7872692-381A-DCE6-A082-4016213BB4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3330144"/>
              </p:ext>
            </p:extLst>
          </p:nvPr>
        </p:nvGraphicFramePr>
        <p:xfrm>
          <a:off x="185870" y="5763293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3.06E-08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2.08E-02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1.23E-12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9.36E-16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F19725ED-9E08-1E19-B220-F03A110BE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479343"/>
              </p:ext>
            </p:extLst>
          </p:nvPr>
        </p:nvGraphicFramePr>
        <p:xfrm>
          <a:off x="4051248" y="5772222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1.46E-04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3.05E-04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1.56E-04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2.50E-03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B832DB3-91DD-9C5E-87E8-8B543590C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4008166"/>
              </p:ext>
            </p:extLst>
          </p:nvPr>
        </p:nvGraphicFramePr>
        <p:xfrm>
          <a:off x="7908963" y="5743688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3.43E-14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7.48E-09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1.32E-32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5.38E-31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0463387-C0F2-AE8B-864B-82F514923A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2774061"/>
              </p:ext>
            </p:extLst>
          </p:nvPr>
        </p:nvGraphicFramePr>
        <p:xfrm>
          <a:off x="4266537" y="3339391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5.72E-01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2.89E-01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5.39E-01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3.56E-01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9648BFEE-43D4-68BD-38E9-11FA782AF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5160596"/>
              </p:ext>
            </p:extLst>
          </p:nvPr>
        </p:nvGraphicFramePr>
        <p:xfrm>
          <a:off x="8105140" y="3333637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9.81E-01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7.43E-01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7.02E-01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4.09E-01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6F79EEBF-A9D4-97E6-7E98-198A254C9F8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3567" y="2048146"/>
            <a:ext cx="8672312" cy="329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339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AE6A-7CE4-10E2-BBC8-8E2DFA9F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F3CA-9EBD-E070-DE24-7BB6C79FB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and Symptoms with Time Lag:</a:t>
            </a:r>
            <a:b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Keywords for Norovirus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71D581-FB7A-F477-FC1B-1DD1EF6D2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22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E32FC27-730D-6F34-B0CD-DBF7E5349964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15FCF0D-C6D6-F3A9-DD18-A8B5E7EF2E59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EAB0660-D1F8-1202-FFFD-2072E8C93662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BD49850-A18E-24EC-535C-686CCD4A7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468" y="1339249"/>
            <a:ext cx="3018184" cy="187203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87713EB-DD4F-2EFE-03F7-B94D528C6B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6909" y="1158600"/>
            <a:ext cx="3018184" cy="18720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946285F1-9EE2-FA13-45C2-D1A89175430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569" y="1150610"/>
            <a:ext cx="3018185" cy="187203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73714D1-8030-9033-0C0A-6BA72071034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01" y="3754161"/>
            <a:ext cx="3018185" cy="18720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D54FABD5-2630-5AB5-1DF6-2A66FF181A1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1079" y="3694800"/>
            <a:ext cx="3018184" cy="187203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3E9A249B-720C-A5F5-2E1D-6DFA48B127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568" y="3717751"/>
            <a:ext cx="3018185" cy="1872039"/>
          </a:xfrm>
          <a:prstGeom prst="rect">
            <a:avLst/>
          </a:prstGeom>
        </p:spPr>
      </p:pic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A4B5660D-E012-05A4-F28D-653744411A26}"/>
              </a:ext>
            </a:extLst>
          </p:cNvPr>
          <p:cNvSpPr txBox="1">
            <a:spLocks/>
          </p:cNvSpPr>
          <p:nvPr/>
        </p:nvSpPr>
        <p:spPr>
          <a:xfrm>
            <a:off x="838200" y="5982063"/>
            <a:ext cx="10824883" cy="857681"/>
          </a:xfrm>
          <a:prstGeom prst="rect">
            <a:avLst/>
          </a:prstGeom>
        </p:spPr>
        <p:txBody>
          <a:bodyPr vert="horz" lIns="91440" tIns="45720" rIns="91440" bIns="45720" numCol="1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1400" b="1" dirty="0">
                <a:latin typeface="Segoe UI Variable Small" pitchFamily="2" charset="0"/>
                <a:cs typeface="Times New Roman" panose="02020603050405020304" pitchFamily="18" charset="0"/>
              </a:rPr>
              <a:t>Norovirus</a:t>
            </a:r>
            <a:r>
              <a:rPr lang="ko-KR" altLang="en-US" sz="1400" b="1" dirty="0">
                <a:latin typeface="Segoe UI Variable Small" pitchFamily="2" charset="0"/>
                <a:cs typeface="Times New Roman" panose="02020603050405020304" pitchFamily="18" charset="0"/>
              </a:rPr>
              <a:t>는 </a:t>
            </a:r>
            <a:r>
              <a:rPr lang="ko-KR" altLang="en-US" sz="1400" b="1" dirty="0" err="1">
                <a:latin typeface="Segoe UI Variable Small" pitchFamily="2" charset="0"/>
                <a:cs typeface="Times New Roman" panose="02020603050405020304" pitchFamily="18" charset="0"/>
              </a:rPr>
              <a:t>노로바이러스</a:t>
            </a:r>
            <a:r>
              <a:rPr lang="ko-KR" altLang="en-US" sz="1400" b="1" dirty="0">
                <a:latin typeface="Segoe UI Variable Small" pitchFamily="2" charset="0"/>
                <a:cs typeface="Times New Roman" panose="02020603050405020304" pitchFamily="18" charset="0"/>
              </a:rPr>
              <a:t> 키워드만이 가장 설명할 수 있는 지표로 확인됨</a:t>
            </a:r>
            <a:endParaRPr lang="en-US" altLang="ko-KR" sz="14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400" b="1" dirty="0">
                <a:latin typeface="Segoe UI Variable Small" pitchFamily="2" charset="0"/>
                <a:cs typeface="Times New Roman" panose="02020603050405020304" pitchFamily="18" charset="0"/>
              </a:rPr>
              <a:t>복통 키워드는 음의 유의한 상관</a:t>
            </a:r>
            <a:endParaRPr lang="en-US" altLang="ko-KR" sz="14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400" b="1" dirty="0" err="1">
                <a:latin typeface="Segoe UI Variable Small" pitchFamily="2" charset="0"/>
                <a:cs typeface="Times New Roman" panose="02020603050405020304" pitchFamily="18" charset="0"/>
              </a:rPr>
              <a:t>노로바이러스</a:t>
            </a:r>
            <a:r>
              <a:rPr lang="ko-KR" altLang="en-US" sz="1400" b="1" dirty="0">
                <a:latin typeface="Segoe UI Variable Small" pitchFamily="2" charset="0"/>
                <a:cs typeface="Times New Roman" panose="02020603050405020304" pitchFamily="18" charset="0"/>
              </a:rPr>
              <a:t> 키워드에서 </a:t>
            </a:r>
            <a:r>
              <a:rPr lang="ko-KR" altLang="en-US" sz="14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1400" b="1" dirty="0">
                <a:latin typeface="Segoe UI Variable Small" pitchFamily="2" charset="0"/>
                <a:cs typeface="Times New Roman" panose="02020603050405020304" pitchFamily="18" charset="0"/>
              </a:rPr>
              <a:t> 한 주 앞설 때 가장 높음</a:t>
            </a:r>
            <a:endParaRPr lang="en-US" altLang="ko-KR" sz="1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8862E46E-10C1-A112-E6BB-4FFC1616F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2722580"/>
              </p:ext>
            </p:extLst>
          </p:nvPr>
        </p:nvGraphicFramePr>
        <p:xfrm>
          <a:off x="318424" y="3152840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8.43E-08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8.66E-08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2.60E-11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7.66E-12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B636AB68-41E1-C7A4-ADAC-952B1E945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1387758"/>
              </p:ext>
            </p:extLst>
          </p:nvPr>
        </p:nvGraphicFramePr>
        <p:xfrm>
          <a:off x="4216106" y="3124819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6.02E-01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7.60E-01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4.79E-01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4.91E-01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7F98FE4-0040-96DC-54C2-A0074E463C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5130292"/>
              </p:ext>
            </p:extLst>
          </p:nvPr>
        </p:nvGraphicFramePr>
        <p:xfrm>
          <a:off x="8251680" y="3054970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8.90E-02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1.08E-01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6.25E-02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5.47E-02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4F200F76-61DF-828D-B397-8FAD8D836C78}"/>
              </a:ext>
            </a:extLst>
          </p:cNvPr>
          <p:cNvSpPr txBox="1">
            <a:spLocks/>
          </p:cNvSpPr>
          <p:nvPr/>
        </p:nvSpPr>
        <p:spPr>
          <a:xfrm>
            <a:off x="366246" y="3454405"/>
            <a:ext cx="5966520" cy="598445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187B5BE2-E5FC-E065-7AAA-E7C540EDC2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45141"/>
              </p:ext>
            </p:extLst>
          </p:nvPr>
        </p:nvGraphicFramePr>
        <p:xfrm>
          <a:off x="4342458" y="5566838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2.74E-02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8.11E-03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7.58E-02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9.36E-02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3AD75BD-8247-4EFB-D578-7BBCDB0B5F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6976387"/>
              </p:ext>
            </p:extLst>
          </p:nvPr>
        </p:nvGraphicFramePr>
        <p:xfrm>
          <a:off x="451396" y="5588188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/>
                        <a:t>&gt; 0.05,</a:t>
                      </a:r>
                    </a:p>
                    <a:p>
                      <a:pPr algn="ctr" latinLnBrk="1"/>
                      <a:r>
                        <a:rPr lang="en-US" altLang="ko-KR" sz="800" b="0" dirty="0"/>
                        <a:t>9.46E-01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6.83E-01</a:t>
                      </a:r>
                      <a:endParaRPr lang="ko-KR" altLang="en-US" sz="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4.10E-01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3.00E-01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B87084AA-1C08-0B52-E6C0-DC7C9DD9A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8870272"/>
              </p:ext>
            </p:extLst>
          </p:nvPr>
        </p:nvGraphicFramePr>
        <p:xfrm>
          <a:off x="8315250" y="5557090"/>
          <a:ext cx="3754120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5328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846306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80739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80739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747695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1.07E-05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5.20E-06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7.09E-05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1.21E-04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B6FA42A-4C50-234F-2E02-4A55DCFE0A0D}"/>
              </a:ext>
            </a:extLst>
          </p:cNvPr>
          <p:cNvSpPr txBox="1">
            <a:spLocks/>
          </p:cNvSpPr>
          <p:nvPr/>
        </p:nvSpPr>
        <p:spPr>
          <a:xfrm>
            <a:off x="263951" y="1005544"/>
            <a:ext cx="5966520" cy="787510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</p:txBody>
      </p:sp>
    </p:spTree>
    <p:extLst>
      <p:ext uri="{BB962C8B-B14F-4D97-AF65-F5344CB8AC3E}">
        <p14:creationId xmlns:p14="http://schemas.microsoft.com/office/powerpoint/2010/main" val="978008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F7531-FF41-3F85-7F9E-D72B00EC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5A536C-98E8-51BD-CE01-42D0AB4FB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and Symptoms with Time Lag:</a:t>
            </a:r>
            <a:b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Grouped Keywords for Influenza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(2025-11-10 ~ 2026-6-22)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1F7A11-CE69-242B-5C22-2241A8AA6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5888AE3D-1AAE-6417-9CA8-4ECB61BE6791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2202750-372C-183B-53D1-5D117152EF6E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5319BE03-7E8F-BCEE-54A0-BB47639C37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5" y="1793053"/>
            <a:ext cx="3974481" cy="2465184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C99E024-8C3F-EB93-0860-F9EA3FE1F7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8759" y="1793053"/>
            <a:ext cx="3974481" cy="246518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EE31FC2-5CD2-3C08-8B6F-97286BB1B8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904" y="1793053"/>
            <a:ext cx="3974481" cy="2465185"/>
          </a:xfrm>
          <a:prstGeom prst="rect">
            <a:avLst/>
          </a:prstGeom>
        </p:spPr>
      </p:pic>
      <p:sp>
        <p:nvSpPr>
          <p:cNvPr id="35" name="내용 개체 틀 2">
            <a:extLst>
              <a:ext uri="{FF2B5EF4-FFF2-40B4-BE49-F238E27FC236}">
                <a16:creationId xmlns:a16="http://schemas.microsoft.com/office/drawing/2014/main" id="{637AA8D0-17FF-EE0E-6586-8E5CA15B2C2C}"/>
              </a:ext>
            </a:extLst>
          </p:cNvPr>
          <p:cNvSpPr txBox="1">
            <a:spLocks/>
          </p:cNvSpPr>
          <p:nvPr/>
        </p:nvSpPr>
        <p:spPr>
          <a:xfrm>
            <a:off x="263952" y="1258539"/>
            <a:ext cx="11821362" cy="534514"/>
          </a:xfrm>
          <a:prstGeom prst="rect">
            <a:avLst/>
          </a:prstGeom>
        </p:spPr>
        <p:txBody>
          <a:bodyPr vert="horz" lIns="91440" tIns="45720" rIns="91440" bIns="45720" numCol="3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Combination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ACCCDA-A4D7-CE0B-0856-0A728CBC37C4}"/>
              </a:ext>
            </a:extLst>
          </p:cNvPr>
          <p:cNvSpPr txBox="1">
            <a:spLocks/>
          </p:cNvSpPr>
          <p:nvPr/>
        </p:nvSpPr>
        <p:spPr>
          <a:xfrm>
            <a:off x="843275" y="4792751"/>
            <a:ext cx="10824884" cy="192872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모든 그룹에서 유의한 상관이 확인됨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특히 증상 그룹에서 강한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모든 그룹에서 </a:t>
            </a:r>
            <a:r>
              <a:rPr lang="ko-KR" altLang="en-US" sz="20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2000" b="1" dirty="0">
                <a:latin typeface="Segoe UI Variable Small" pitchFamily="2" charset="0"/>
                <a:cs typeface="Times New Roman" panose="02020603050405020304" pitchFamily="18" charset="0"/>
              </a:rPr>
              <a:t> 앞설 때 가장 높은 상관관계</a:t>
            </a: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0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3F1D4C1A-B12A-D762-A454-5EE3521D96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3416143"/>
              </p:ext>
            </p:extLst>
          </p:nvPr>
        </p:nvGraphicFramePr>
        <p:xfrm>
          <a:off x="106685" y="4320192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1.22E-02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3.26E-02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1.98E-02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4.46E-04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4.78E-05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A0DA63C-63D2-C587-7A22-E298474E01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826494"/>
              </p:ext>
            </p:extLst>
          </p:nvPr>
        </p:nvGraphicFramePr>
        <p:xfrm>
          <a:off x="3997965" y="4320192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1.85E-02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4.62E-02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2.89E-02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8.20E-04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5.47E-05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5787048F-AC69-4A84-F410-71CD332AF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257493"/>
              </p:ext>
            </p:extLst>
          </p:nvPr>
        </p:nvGraphicFramePr>
        <p:xfrm>
          <a:off x="7924801" y="4311229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3.48E-10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3.22E-05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1.60E-04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6.93E-11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6.20E-13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9480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3FDF4-8688-CB7E-2ECA-E34605C2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47D1DB-65F9-431B-CF7C-91CC0410D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997165"/>
          </a:xfrm>
        </p:spPr>
        <p:txBody>
          <a:bodyPr>
            <a:normAutofit fontScale="90000"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Disease Names, and Symptoms with Time Lag:</a:t>
            </a:r>
            <a:b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</a:br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Single Keywords for Influenza </a:t>
            </a:r>
            <a:r>
              <a:rPr lang="en-US" altLang="ko-KR" sz="2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</a:rPr>
              <a:t>(2025-11-10 ~ 2026-6-22)</a:t>
            </a:r>
            <a:endParaRPr lang="ko-KR" altLang="en-US" sz="2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EFB9B2-FBE3-A626-E53C-EA3F0C2A4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B116D885-A7C5-0D11-7A15-7FC0069276DF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4AAD6F6-340D-BA72-7767-8FC1269ECAB5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384BDF39-D206-4D99-3A58-35BE2265F205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6BCBCF2-4C88-E1D0-F8EE-2E3B8B0091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584" y="1284417"/>
            <a:ext cx="3018184" cy="187203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B55B44-6ECE-6843-4FAE-0138732AC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4599" y="1191124"/>
            <a:ext cx="3263698" cy="202431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6FCDB0B-06E2-87F8-4F62-D04871E5B5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570" y="1139937"/>
            <a:ext cx="3263698" cy="202431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2D531C6-FFA9-FF97-534D-49E8A65D45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917" y="3656504"/>
            <a:ext cx="3018186" cy="1872039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9D14EB1-C1B2-87CB-AF26-397F806D5B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1548" y="3666991"/>
            <a:ext cx="3018186" cy="1872039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BEA5BB45-0F69-3C4E-1A77-809DC84317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570" y="3648771"/>
            <a:ext cx="3018184" cy="1872038"/>
          </a:xfrm>
          <a:prstGeom prst="rect">
            <a:avLst/>
          </a:prstGeom>
        </p:spPr>
      </p:pic>
      <p:sp>
        <p:nvSpPr>
          <p:cNvPr id="19" name="내용 개체 틀 2">
            <a:extLst>
              <a:ext uri="{FF2B5EF4-FFF2-40B4-BE49-F238E27FC236}">
                <a16:creationId xmlns:a16="http://schemas.microsoft.com/office/drawing/2014/main" id="{198CDECB-EAAD-33CB-30BB-F761536E090A}"/>
              </a:ext>
            </a:extLst>
          </p:cNvPr>
          <p:cNvSpPr txBox="1">
            <a:spLocks/>
          </p:cNvSpPr>
          <p:nvPr/>
        </p:nvSpPr>
        <p:spPr>
          <a:xfrm>
            <a:off x="838200" y="5793274"/>
            <a:ext cx="10824883" cy="1064725"/>
          </a:xfrm>
          <a:prstGeom prst="rect">
            <a:avLst/>
          </a:prstGeom>
        </p:spPr>
        <p:txBody>
          <a:bodyPr vert="horz" lIns="91440" tIns="45720" rIns="91440" bIns="45720" numCol="1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전반적으로 </a:t>
            </a:r>
            <a:r>
              <a:rPr lang="ko-KR" altLang="en-US" sz="16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검색량이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 앞설 때 가장 높은 상관을 보임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해당 기간동안 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Influenza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는 오한</a:t>
            </a:r>
            <a:r>
              <a:rPr lang="en-US" altLang="ko-KR" sz="1600" b="1" dirty="0">
                <a:latin typeface="Segoe UI Variable Small" pitchFamily="2" charset="0"/>
                <a:cs typeface="Times New Roman" panose="02020603050405020304" pitchFamily="18" charset="0"/>
              </a:rPr>
              <a:t>(r=0.9366)</a:t>
            </a:r>
            <a:r>
              <a:rPr lang="ko-KR" altLang="en-US" sz="1600" b="1" dirty="0">
                <a:latin typeface="Segoe UI Variable Small" pitchFamily="2" charset="0"/>
                <a:cs typeface="Times New Roman" panose="02020603050405020304" pitchFamily="18" charset="0"/>
              </a:rPr>
              <a:t>과 근육통 키워드가 핵심 지표로 확인됨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ko-KR" altLang="ko-KR" sz="1600" b="1" dirty="0">
                <a:latin typeface="Segoe UI Variable Small" pitchFamily="2" charset="0"/>
              </a:rPr>
              <a:t>하수 </a:t>
            </a:r>
            <a:r>
              <a:rPr lang="ko-KR" altLang="en-US" sz="1600" b="1" dirty="0">
                <a:latin typeface="Segoe UI Variable Small" pitchFamily="2" charset="0"/>
              </a:rPr>
              <a:t>지연도</a:t>
            </a:r>
            <a:r>
              <a:rPr lang="ko-KR" altLang="ko-KR" sz="1600" b="1" dirty="0">
                <a:latin typeface="Segoe UI Variable Small" pitchFamily="2" charset="0"/>
              </a:rPr>
              <a:t> 어느 정도 </a:t>
            </a:r>
            <a:r>
              <a:rPr lang="ko-KR" altLang="ko-KR" sz="1600" b="1" dirty="0" err="1">
                <a:latin typeface="Segoe UI Variable Small" pitchFamily="2" charset="0"/>
              </a:rPr>
              <a:t>유의</a:t>
            </a:r>
            <a:r>
              <a:rPr lang="ko-KR" altLang="en-US" sz="1600" b="1" dirty="0" err="1">
                <a:latin typeface="Segoe UI Variable Small" pitchFamily="2" charset="0"/>
              </a:rPr>
              <a:t>미</a:t>
            </a:r>
            <a:r>
              <a:rPr lang="ko-KR" altLang="ko-KR" sz="1600" b="1" dirty="0" err="1">
                <a:latin typeface="Segoe UI Variable Small" pitchFamily="2" charset="0"/>
              </a:rPr>
              <a:t>성을</a:t>
            </a:r>
            <a:r>
              <a:rPr lang="ko-KR" altLang="ko-KR" sz="1600" b="1" dirty="0">
                <a:latin typeface="Segoe UI Variable Small" pitchFamily="2" charset="0"/>
              </a:rPr>
              <a:t> 띠지만, 검색 </a:t>
            </a:r>
            <a:r>
              <a:rPr lang="ko-KR" altLang="en-US" sz="1600" b="1" dirty="0">
                <a:latin typeface="Segoe UI Variable Small" pitchFamily="2" charset="0"/>
              </a:rPr>
              <a:t>지연이나 지연 </a:t>
            </a:r>
            <a:r>
              <a:rPr lang="ko-KR" altLang="ko-KR" sz="1600" b="1" dirty="0">
                <a:latin typeface="Segoe UI Variable Small" pitchFamily="2" charset="0"/>
              </a:rPr>
              <a:t>비해 예측 </a:t>
            </a:r>
            <a:r>
              <a:rPr lang="ko-KR" altLang="en-US" sz="1600" b="1" dirty="0">
                <a:latin typeface="Segoe UI Variable Small" pitchFamily="2" charset="0"/>
              </a:rPr>
              <a:t>지표</a:t>
            </a:r>
            <a:r>
              <a:rPr lang="ko-KR" altLang="ko-KR" sz="1600" b="1" dirty="0">
                <a:latin typeface="Segoe UI Variable Small" pitchFamily="2" charset="0"/>
              </a:rPr>
              <a:t>로서</a:t>
            </a:r>
            <a:r>
              <a:rPr lang="en-US" altLang="ko-KR" sz="1600" b="1" dirty="0">
                <a:latin typeface="Segoe UI Variable Small" pitchFamily="2" charset="0"/>
              </a:rPr>
              <a:t> </a:t>
            </a:r>
            <a:r>
              <a:rPr lang="ko-KR" altLang="en-US" sz="1600" b="1" dirty="0">
                <a:latin typeface="Segoe UI Variable Small" pitchFamily="2" charset="0"/>
              </a:rPr>
              <a:t>상대적으로</a:t>
            </a:r>
            <a:r>
              <a:rPr lang="ko-KR" altLang="ko-KR" sz="1600" b="1" dirty="0">
                <a:latin typeface="Segoe UI Variable Small" pitchFamily="2" charset="0"/>
              </a:rPr>
              <a:t> 떨어</a:t>
            </a:r>
            <a:r>
              <a:rPr lang="ko-KR" altLang="en-US" sz="1600" b="1" dirty="0">
                <a:latin typeface="Segoe UI Variable Small" pitchFamily="2" charset="0"/>
              </a:rPr>
              <a:t>짐</a:t>
            </a:r>
            <a:endParaRPr lang="en-US" altLang="ko-KR" sz="16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D863379-D42B-DEB5-E42B-5C2C5B623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3408236"/>
              </p:ext>
            </p:extLst>
          </p:nvPr>
        </p:nvGraphicFramePr>
        <p:xfrm>
          <a:off x="394905" y="3098745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2.19E-04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3.81E-02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1.86E-02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1.79E-03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3.94E-04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A76C7AB4-E448-78B0-668C-82407F5E8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371867"/>
              </p:ext>
            </p:extLst>
          </p:nvPr>
        </p:nvGraphicFramePr>
        <p:xfrm>
          <a:off x="4274390" y="3144364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2.76E-02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7.23E-02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4.97E-02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1.11E-03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5.39E-05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A4A4C3C-A19C-AB49-E00A-6A508A1E0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092154"/>
              </p:ext>
            </p:extLst>
          </p:nvPr>
        </p:nvGraphicFramePr>
        <p:xfrm>
          <a:off x="8385875" y="3093720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9.92E-03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2.51E-03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1.47E-02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9.25E-02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4.45E-01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8E522497-BB38-1B15-90FF-E1D2CA74F3A6}"/>
              </a:ext>
            </a:extLst>
          </p:cNvPr>
          <p:cNvSpPr txBox="1">
            <a:spLocks/>
          </p:cNvSpPr>
          <p:nvPr/>
        </p:nvSpPr>
        <p:spPr>
          <a:xfrm>
            <a:off x="366246" y="3315237"/>
            <a:ext cx="5966520" cy="73761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Symptom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34EDBA3-E3A2-A508-1FF2-A2CC21B6D97B}"/>
              </a:ext>
            </a:extLst>
          </p:cNvPr>
          <p:cNvSpPr txBox="1">
            <a:spLocks/>
          </p:cNvSpPr>
          <p:nvPr/>
        </p:nvSpPr>
        <p:spPr>
          <a:xfrm>
            <a:off x="263951" y="1015420"/>
            <a:ext cx="5966520" cy="77763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Disease Name</a:t>
            </a:r>
          </a:p>
        </p:txBody>
      </p:sp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4A3778A3-C95C-B178-035C-687B153786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4155916"/>
              </p:ext>
            </p:extLst>
          </p:nvPr>
        </p:nvGraphicFramePr>
        <p:xfrm>
          <a:off x="378574" y="5415071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1.49E-02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4.97E-02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&gt;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1.34E-01</a:t>
                      </a:r>
                      <a:endParaRPr kumimoji="0" lang="ko-KR" alt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1.96E-04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3.37E-06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080B4BD-E1D7-E17C-96AF-07DFA3B55A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6837107"/>
              </p:ext>
            </p:extLst>
          </p:nvPr>
        </p:nvGraphicFramePr>
        <p:xfrm>
          <a:off x="4435388" y="5415071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5.04E-05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2.14E-04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9.01E-04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1.34E-06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3.31E-06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297D43CF-62FC-8C50-EC11-3F39CBCC4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487999"/>
              </p:ext>
            </p:extLst>
          </p:nvPr>
        </p:nvGraphicFramePr>
        <p:xfrm>
          <a:off x="8397244" y="5457994"/>
          <a:ext cx="3794756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9709">
                  <a:extLst>
                    <a:ext uri="{9D8B030D-6E8A-4147-A177-3AD203B41FA5}">
                      <a16:colId xmlns:a16="http://schemas.microsoft.com/office/drawing/2014/main" val="3522326956"/>
                    </a:ext>
                  </a:extLst>
                </a:gridCol>
                <a:gridCol w="613354">
                  <a:extLst>
                    <a:ext uri="{9D8B030D-6E8A-4147-A177-3AD203B41FA5}">
                      <a16:colId xmlns:a16="http://schemas.microsoft.com/office/drawing/2014/main" val="4094225838"/>
                    </a:ext>
                  </a:extLst>
                </a:gridCol>
                <a:gridCol w="680586">
                  <a:extLst>
                    <a:ext uri="{9D8B030D-6E8A-4147-A177-3AD203B41FA5}">
                      <a16:colId xmlns:a16="http://schemas.microsoft.com/office/drawing/2014/main" val="3304780943"/>
                    </a:ext>
                  </a:extLst>
                </a:gridCol>
                <a:gridCol w="680585">
                  <a:extLst>
                    <a:ext uri="{9D8B030D-6E8A-4147-A177-3AD203B41FA5}">
                      <a16:colId xmlns:a16="http://schemas.microsoft.com/office/drawing/2014/main" val="121547609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2606367344"/>
                    </a:ext>
                  </a:extLst>
                </a:gridCol>
                <a:gridCol w="630261">
                  <a:extLst>
                    <a:ext uri="{9D8B030D-6E8A-4147-A177-3AD203B41FA5}">
                      <a16:colId xmlns:a16="http://schemas.microsoft.com/office/drawing/2014/main" val="841535242"/>
                    </a:ext>
                  </a:extLst>
                </a:gridCol>
              </a:tblGrid>
              <a:tr h="24989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P-value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&lt; 0.05,</a:t>
                      </a:r>
                    </a:p>
                    <a:p>
                      <a:pPr algn="ctr" latinLnBrk="1"/>
                      <a:r>
                        <a:rPr lang="en-US" altLang="ko-KR" sz="800" b="1" dirty="0"/>
                        <a:t>6.41E-08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1.38E-05</a:t>
                      </a:r>
                      <a:endParaRPr lang="ko-KR" altLang="en-US" sz="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7.69E-05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F0502020204030204"/>
                          <a:ea typeface="맑은 고딕" panose="020B0503020000020004" pitchFamily="50" charset="-127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4.62E-12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&lt; 0.05,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2.79E-14</a:t>
                      </a:r>
                      <a:endParaRPr kumimoji="0" lang="ko-KR" altLang="en-US" sz="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5743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418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2C279-45B8-F498-3A12-57F9389D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BCCC63-3FD9-E7E9-E5F8-F4491DC9C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ea typeface="Ebrima" panose="02000000000000000000" pitchFamily="2" charset="0"/>
                <a:cs typeface="Ebrima" panose="02000000000000000000" pitchFamily="2" charset="0"/>
              </a:rPr>
              <a:t>Conclusion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Ebrima" panose="02000000000000000000" pitchFamily="2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82BD43-95D6-8789-EB66-A684C6C7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595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94C0-7F93-DD65-9291-F67B40726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051C66-5035-3536-80BD-2B001BEDC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Conclusion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D2CDBA-15FD-F93C-0ECB-AF0C576EA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974A778-4DFB-302E-3EE4-0D9B212B5A9D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0A0197F-CEC9-D89B-4D55-C2380FABF1FD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80736DD-BE05-AFD2-419A-FA6A7D049440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A1E0576-6366-1589-FD6C-CA1963D6819E}"/>
              </a:ext>
            </a:extLst>
          </p:cNvPr>
          <p:cNvSpPr txBox="1">
            <a:spLocks/>
          </p:cNvSpPr>
          <p:nvPr/>
        </p:nvSpPr>
        <p:spPr>
          <a:xfrm>
            <a:off x="838200" y="1243739"/>
            <a:ext cx="10864174" cy="55960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ko-KR" sz="2400" b="1" dirty="0">
                <a:latin typeface="Segoe UI Variable Small" pitchFamily="2" charset="0"/>
              </a:rPr>
              <a:t>Research Answers for RQs</a:t>
            </a:r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RQ1. </a:t>
            </a:r>
            <a:r>
              <a:rPr lang="ko-KR" altLang="ko-KR" sz="1800" b="1" dirty="0"/>
              <a:t>하수 내 감염병 농도와 인터넷 </a:t>
            </a:r>
            <a:r>
              <a:rPr lang="ko-KR" altLang="ko-KR" sz="1800" b="1" dirty="0" err="1"/>
              <a:t>검색량</a:t>
            </a:r>
            <a:r>
              <a:rPr lang="ko-KR" altLang="ko-KR" sz="1800" b="1" dirty="0"/>
              <a:t> 간에 유의미한 상관관계가 존재하는가?</a:t>
            </a:r>
            <a:endParaRPr lang="en-US" altLang="ko-KR" sz="18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	&gt; RA1.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세 가지 모든 감염병에 대해 유의미한 상관관계를 발견하였다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  <a:p>
            <a:pPr lvl="1">
              <a:lnSpc>
                <a:spcPct val="150000"/>
              </a:lnSpc>
            </a:pPr>
            <a:endParaRPr lang="en-US" altLang="ko-KR" sz="9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RQ2. </a:t>
            </a:r>
            <a:r>
              <a:rPr lang="ko-KR" altLang="ko-KR" sz="1800" b="1" dirty="0"/>
              <a:t>감염병별로 병명 검색과 증상 검색 중 어느 검색 유형이 더 높은 상관관계를</a:t>
            </a:r>
            <a:br>
              <a:rPr lang="en-US" altLang="ko-KR" sz="1800" b="1" dirty="0"/>
            </a:br>
            <a:r>
              <a:rPr lang="en-US" altLang="ko-KR" sz="1800" b="1" dirty="0"/>
              <a:t>       </a:t>
            </a:r>
            <a:r>
              <a:rPr lang="ko-KR" altLang="ko-KR" sz="1800" b="1" dirty="0"/>
              <a:t>보이는가?</a:t>
            </a:r>
            <a:endParaRPr lang="en-US" altLang="ko-KR" sz="18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/>
              <a:t>	&gt; RA2. </a:t>
            </a:r>
            <a:r>
              <a:rPr lang="ko-KR" altLang="en-US" sz="1800" b="1" dirty="0"/>
              <a:t>코로나는 병명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인플루엔자는 증상</a:t>
            </a:r>
            <a:r>
              <a:rPr lang="en-US" altLang="ko-KR" sz="1800" b="1" dirty="0"/>
              <a:t>, </a:t>
            </a:r>
            <a:r>
              <a:rPr lang="ko-KR" altLang="en-US" sz="1800" b="1" dirty="0" err="1"/>
              <a:t>노로바이러스는</a:t>
            </a:r>
            <a:r>
              <a:rPr lang="ko-KR" altLang="en-US" sz="1800" b="1" dirty="0"/>
              <a:t> 병명 검색 유형이 더 높은 </a:t>
            </a:r>
            <a:br>
              <a:rPr lang="en-US" altLang="ko-KR" sz="1800" b="1" dirty="0"/>
            </a:br>
            <a:r>
              <a:rPr lang="en-US" altLang="ko-KR" sz="1800" b="1" dirty="0"/>
              <a:t>        </a:t>
            </a:r>
            <a:r>
              <a:rPr lang="ko-KR" altLang="en-US" sz="1800" b="1" dirty="0"/>
              <a:t>상관관계를 보였다</a:t>
            </a:r>
            <a:r>
              <a:rPr lang="en-US" altLang="ko-KR" sz="1800" b="1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900" b="1" dirty="0"/>
          </a:p>
          <a:p>
            <a:pPr lvl="1">
              <a:lnSpc>
                <a:spcPct val="150000"/>
              </a:lnSpc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RQ3. </a:t>
            </a:r>
            <a:r>
              <a:rPr lang="ko-KR" altLang="ko-KR" sz="1800" b="1" dirty="0"/>
              <a:t>상관</a:t>
            </a:r>
            <a:r>
              <a:rPr lang="ko-KR" altLang="en-US" sz="1800" b="1" dirty="0"/>
              <a:t>계수</a:t>
            </a:r>
            <a:r>
              <a:rPr lang="ko-KR" altLang="ko-KR" sz="1800" b="1" dirty="0"/>
              <a:t>를 최대화하는 최적의 시차는 무엇인가?</a:t>
            </a:r>
            <a:endParaRPr lang="en-US" altLang="ko-KR" sz="18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	&gt; RA3.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하수 농도보다 </a:t>
            </a:r>
            <a:r>
              <a:rPr lang="ko-KR" altLang="en-US" sz="1800" b="1" dirty="0" err="1">
                <a:latin typeface="Segoe UI Variable Small" pitchFamily="2" charset="0"/>
                <a:cs typeface="Times New Roman" panose="02020603050405020304" pitchFamily="18" charset="0"/>
              </a:rPr>
              <a:t>검색량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 코로나는 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1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주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인플루엔자는 첫 번째 기간 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1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주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두 번째 기간 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2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주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, </a:t>
            </a:r>
            <a:b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</a:b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          </a:t>
            </a:r>
            <a:r>
              <a:rPr lang="ko-KR" altLang="en-US" sz="1800" b="1" dirty="0" err="1">
                <a:latin typeface="Segoe UI Variable Small" pitchFamily="2" charset="0"/>
                <a:cs typeface="Times New Roman" panose="02020603050405020304" pitchFamily="18" charset="0"/>
              </a:rPr>
              <a:t>노로바이러스는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2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주 앞서는 것이 최적의 시차로써 예측 지표로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1800" b="1" dirty="0">
                <a:latin typeface="Segoe UI Variable Small" pitchFamily="2" charset="0"/>
                <a:cs typeface="Times New Roman" panose="02020603050405020304" pitchFamily="18" charset="0"/>
              </a:rPr>
              <a:t>사용 가능성을 확인하였다</a:t>
            </a:r>
            <a:r>
              <a:rPr lang="en-US" altLang="ko-KR" sz="1800" b="1" dirty="0">
                <a:latin typeface="Segoe UI Variable Small" pitchFamily="2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5396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D4747-8FB0-1BE8-DC4A-7B0725F5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44BACC-66BB-E30B-EC81-9E24B6244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Limitation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7ED5A-011A-9889-61DD-E343058F0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417B9075-2CC7-365F-32C5-FE160611E0A7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하수 데이터를 다루었으나 감염병</a:t>
            </a:r>
            <a:r>
              <a:rPr lang="en-US" altLang="ko-KR" sz="2400" b="1" dirty="0">
                <a:latin typeface="Segoe UI Variable Small" pitchFamily="2" charset="0"/>
                <a:cs typeface="Times New Roman" panose="02020603050405020304" pitchFamily="18" charset="0"/>
              </a:rPr>
              <a:t> </a:t>
            </a:r>
            <a:r>
              <a:rPr lang="ko-KR" altLang="en-US" sz="2400" b="1" dirty="0" err="1">
                <a:latin typeface="Segoe UI Variable Small" pitchFamily="2" charset="0"/>
                <a:cs typeface="Times New Roman" panose="02020603050405020304" pitchFamily="18" charset="0"/>
              </a:rPr>
              <a:t>확진자</a:t>
            </a: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 수 데이터 부재</a:t>
            </a: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각각의 감염병 키워드 채택의 한계</a:t>
            </a: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latin typeface="Segoe UI Variable Small" pitchFamily="2" charset="0"/>
                <a:cs typeface="Times New Roman" panose="02020603050405020304" pitchFamily="18" charset="0"/>
              </a:rPr>
              <a:t>인플루엔자 하수 농도 데이터 완전성 및 품질 의심</a:t>
            </a: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62BEE44-093E-2EB3-F342-6A4588E5DD8F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03695FF2-4D3F-3103-E502-33CBB5C4C93B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62CF8E2-1FFA-9D45-59B7-D16968A512EF}"/>
              </a:ext>
            </a:extLst>
          </p:cNvPr>
          <p:cNvSpPr txBox="1">
            <a:spLocks/>
          </p:cNvSpPr>
          <p:nvPr/>
        </p:nvSpPr>
        <p:spPr>
          <a:xfrm>
            <a:off x="795580" y="1217357"/>
            <a:ext cx="106680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000" b="1" dirty="0">
              <a:latin typeface="Segoe UI Variable Small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04098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2615-E470-2136-45ED-1FEBC6B53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3A099D-B8CB-7129-367F-8EB0D1F45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951" y="18255"/>
            <a:ext cx="11928049" cy="1131815"/>
          </a:xfrm>
        </p:spPr>
        <p:txBody>
          <a:bodyPr>
            <a:normAutofit/>
          </a:bodyPr>
          <a:lstStyle/>
          <a:p>
            <a:r>
              <a:rPr lang="en-US" altLang="ko-KR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Reference</a:t>
            </a:r>
            <a:endParaRPr lang="ko-KR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A2AB30-241C-57F3-1584-DB606C38C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28</a:t>
            </a:fld>
            <a:endParaRPr lang="ko-KR" altLang="en-US" dirty="0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7B2710F-06DD-CBBC-680B-0E69C343CA71}"/>
              </a:ext>
            </a:extLst>
          </p:cNvPr>
          <p:cNvSpPr txBox="1">
            <a:spLocks/>
          </p:cNvSpPr>
          <p:nvPr/>
        </p:nvSpPr>
        <p:spPr>
          <a:xfrm>
            <a:off x="838200" y="1329457"/>
            <a:ext cx="10515600" cy="4847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B72DEA7-3B87-E187-3579-4949B9FA5BF6}"/>
              </a:ext>
            </a:extLst>
          </p:cNvPr>
          <p:cNvCxnSpPr>
            <a:cxnSpLocks/>
          </p:cNvCxnSpPr>
          <p:nvPr/>
        </p:nvCxnSpPr>
        <p:spPr>
          <a:xfrm>
            <a:off x="366246" y="1015420"/>
            <a:ext cx="10677674" cy="0"/>
          </a:xfrm>
          <a:prstGeom prst="line">
            <a:avLst/>
          </a:prstGeom>
          <a:ln w="2222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6B5AE5B-1506-E504-3093-05EE2793389D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5156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400" b="1" dirty="0"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369752A2-DD82-36DB-BB40-8A35FC9779BF}"/>
              </a:ext>
            </a:extLst>
          </p:cNvPr>
          <p:cNvSpPr txBox="1">
            <a:spLocks/>
          </p:cNvSpPr>
          <p:nvPr/>
        </p:nvSpPr>
        <p:spPr>
          <a:xfrm>
            <a:off x="838200" y="1258539"/>
            <a:ext cx="106680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ko-KR" sz="2000" b="1" dirty="0">
              <a:latin typeface="Segoe UI Variable Small" pitchFamily="2" charset="0"/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FEAFC10-35B2-CB52-3284-E2B14209AF21}"/>
              </a:ext>
            </a:extLst>
          </p:cNvPr>
          <p:cNvSpPr txBox="1">
            <a:spLocks/>
          </p:cNvSpPr>
          <p:nvPr/>
        </p:nvSpPr>
        <p:spPr>
          <a:xfrm>
            <a:off x="990600" y="1410939"/>
            <a:ext cx="10668000" cy="4918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1</a:t>
            </a:r>
            <a:r>
              <a:rPr lang="en-US" altLang="ko-KR" sz="1800" baseline="30000" dirty="0"/>
              <a:t>st</a:t>
            </a:r>
            <a:r>
              <a:rPr lang="en-US" altLang="ko-KR" sz="1800" dirty="0"/>
              <a:t> Related Work</a:t>
            </a:r>
          </a:p>
          <a:p>
            <a:pPr lvl="1"/>
            <a:r>
              <a:rPr lang="ko-KR" altLang="en-US" sz="1400" dirty="0"/>
              <a:t>https://pmc.ncbi.nlm.nih.gov/articles/PMC7716951/</a:t>
            </a:r>
            <a:endParaRPr lang="en-US" altLang="ko-KR" sz="1400" dirty="0"/>
          </a:p>
          <a:p>
            <a:pPr lvl="1"/>
            <a:r>
              <a:rPr lang="en-US" altLang="ko-KR" sz="1400" dirty="0"/>
              <a:t>https://en.wikipedia.org/wiki/Pearson_correlation_coefficient</a:t>
            </a:r>
          </a:p>
          <a:p>
            <a:pPr lvl="1"/>
            <a:r>
              <a:rPr lang="en-US" altLang="ko-KR" sz="1400" dirty="0"/>
              <a:t>https://en.wikipedia.org/wiki/Spearman%27s_rank_correlation_coefficient</a:t>
            </a:r>
          </a:p>
          <a:p>
            <a:r>
              <a:rPr lang="en-US" altLang="ko-KR" sz="1800" dirty="0"/>
              <a:t>2</a:t>
            </a:r>
            <a:r>
              <a:rPr lang="en-US" altLang="ko-KR" sz="1800" baseline="30000" dirty="0"/>
              <a:t>nd</a:t>
            </a:r>
            <a:r>
              <a:rPr lang="ko-KR" altLang="en-US" sz="1800" dirty="0"/>
              <a:t> </a:t>
            </a:r>
            <a:r>
              <a:rPr lang="en-US" altLang="ko-KR" sz="1800" dirty="0"/>
              <a:t>Related Work</a:t>
            </a:r>
          </a:p>
          <a:p>
            <a:pPr lvl="1"/>
            <a:r>
              <a:rPr lang="en-US" altLang="ko-KR" sz="1400" dirty="0"/>
              <a:t>https://scienceon.kisti.re.kr/srch/selectPORSrchArticle.do?cn=JAKO202422757658749&amp;SITE=CLICK</a:t>
            </a:r>
          </a:p>
          <a:p>
            <a:r>
              <a:rPr lang="en-US" altLang="ko-KR" sz="1800" dirty="0"/>
              <a:t>Data</a:t>
            </a:r>
          </a:p>
          <a:p>
            <a:pPr lvl="1"/>
            <a:r>
              <a:rPr lang="ko-KR" altLang="en-US" sz="1400" dirty="0"/>
              <a:t>https://dportal.kdca.go.kr/pot/bbs/BD_selectBbsList.do?q_bbsSn=1010&amp;q_bbsDocNo=&amp;q_clsfNo=4&amp;q_searchKeyTy=&amp;q_searchVal=&amp;q_currPage=1&amp;q_sortName=&amp;q_sortOrder=</a:t>
            </a:r>
            <a:endParaRPr lang="en-US" altLang="ko-KR" sz="1400" dirty="0"/>
          </a:p>
          <a:p>
            <a:pPr lvl="1"/>
            <a:r>
              <a:rPr lang="ko-KR" altLang="en-US" sz="1400" dirty="0"/>
              <a:t>https://ads.naver.com/ </a:t>
            </a:r>
            <a:endParaRPr lang="en-US" altLang="ko-KR" sz="1400" dirty="0"/>
          </a:p>
          <a:p>
            <a:pPr lvl="1"/>
            <a:r>
              <a:rPr lang="en-US" altLang="ko-KR" sz="1400" dirty="0"/>
              <a:t>https://datalab.naver.com/</a:t>
            </a:r>
            <a:endParaRPr lang="ko-KR" altLang="en-US" sz="1400" dirty="0"/>
          </a:p>
          <a:p>
            <a:r>
              <a:rPr lang="en-US" altLang="ko-KR" sz="1800" dirty="0"/>
              <a:t>Correlation</a:t>
            </a:r>
          </a:p>
          <a:p>
            <a:pPr lvl="1"/>
            <a:r>
              <a:rPr lang="en-US" altLang="ko-KR" sz="1400" dirty="0"/>
              <a:t>https://docs.scipy.org/doc/scipy/reference/generated/scipy.stats.pearsonr.html</a:t>
            </a:r>
          </a:p>
          <a:p>
            <a:pPr lvl="1"/>
            <a:r>
              <a:rPr lang="en-US" altLang="ko-KR" sz="1400" dirty="0"/>
              <a:t>https://en.wikipedia.org/wiki/Pearson_correlation_coefficient</a:t>
            </a:r>
          </a:p>
          <a:p>
            <a:pPr lvl="1"/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62043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32B5D-2E70-FDA5-B9BC-3E50AEC1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F37967-141C-7AFF-F867-1C59EEA4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ko-KR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감사합니다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Small" pitchFamily="2" charset="0"/>
                <a:cs typeface="Times New Roman" panose="02020603050405020304" pitchFamily="18" charset="0"/>
              </a:rPr>
              <a:t>!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Small" pitchFamily="2" charset="0"/>
              <a:cs typeface="Times New Roman" panose="02020603050405020304" pitchFamily="18" charset="0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786A503-D5FC-042F-9907-0C113C7D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C5530-42F1-47A2-8D67-542376C72877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3358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6343</TotalTime>
  <Words>2285</Words>
  <Application>Microsoft Office PowerPoint</Application>
  <PresentationFormat>와이드스크린</PresentationFormat>
  <Paragraphs>728</Paragraphs>
  <Slides>29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맑은 고딕</vt:lpstr>
      <vt:lpstr>Arial</vt:lpstr>
      <vt:lpstr>Cambria Math</vt:lpstr>
      <vt:lpstr>Segoe UI Variable Small</vt:lpstr>
      <vt:lpstr>Office 테마</vt:lpstr>
      <vt:lpstr>하수기반 감염병 농도와 검색량 간의 시차 상관분석을 이용한 감염병 조기 감시 연구</vt:lpstr>
      <vt:lpstr>Outline</vt:lpstr>
      <vt:lpstr>Introduction</vt:lpstr>
      <vt:lpstr>Background</vt:lpstr>
      <vt:lpstr>Motivation</vt:lpstr>
      <vt:lpstr>Objective</vt:lpstr>
      <vt:lpstr>Related Works</vt:lpstr>
      <vt:lpstr>구글 검색량으로 코로나 집단 감염 발생 예측 연구</vt:lpstr>
      <vt:lpstr>울산지역 하수기반역학을 이용한 코로나19 감시 연구</vt:lpstr>
      <vt:lpstr>Method</vt:lpstr>
      <vt:lpstr>Data(1/2)</vt:lpstr>
      <vt:lpstr>Data(2/2)</vt:lpstr>
      <vt:lpstr>Correlation Analysis</vt:lpstr>
      <vt:lpstr>Experimental Results</vt:lpstr>
      <vt:lpstr>Time-series Graph by Grouped Keyword</vt:lpstr>
      <vt:lpstr>Disease Names, Symptoms, and Their Combination with Time Lag: Grouped Keywords for SARS-CoV-2</vt:lpstr>
      <vt:lpstr>Disease Names, Symptoms, and Their Combination with Time Lag: Grouped Keywords for Influenza</vt:lpstr>
      <vt:lpstr>Disease Names, Symptoms, and Their Combination with Time Lag: Grouped Keywords for Norovirus</vt:lpstr>
      <vt:lpstr>Time-series Graph by Single Keyword</vt:lpstr>
      <vt:lpstr>Disease Names, and Symptoms with Time Lag: Single Keywords for SARS-CoV-2</vt:lpstr>
      <vt:lpstr>Disease Names, and Symptoms with Time Lag: Single Keywords for Influenza</vt:lpstr>
      <vt:lpstr>Disease Names, and Symptoms with Time Lag: Single Keywords for Norovirus</vt:lpstr>
      <vt:lpstr>Disease Names, and Symptoms with Time Lag: Grouped Keywords for Influenza (2025-11-10 ~ 2026-6-22)</vt:lpstr>
      <vt:lpstr>Disease Names, and Symptoms with Time Lag: Single Keywords for Influenza (2025-11-10 ~ 2026-6-22)</vt:lpstr>
      <vt:lpstr>Conclusion</vt:lpstr>
      <vt:lpstr>Conclusion</vt:lpstr>
      <vt:lpstr>Limitation</vt:lpstr>
      <vt:lpstr>Reference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SeoJin Kang</dc:creator>
  <cp:lastModifiedBy>SeoJin Kang</cp:lastModifiedBy>
  <cp:revision>44</cp:revision>
  <dcterms:created xsi:type="dcterms:W3CDTF">2026-07-03T09:13:49Z</dcterms:created>
  <dcterms:modified xsi:type="dcterms:W3CDTF">2026-08-03T01:37:15Z</dcterms:modified>
</cp:coreProperties>
</file>