
<file path=[Content_Types].xml><?xml version="1.0" encoding="utf-8"?>
<Types xmlns="http://schemas.openxmlformats.org/package/2006/content-types">
  <Default Extension="cskrvRPBLFJW1Va4RslRMVIjK0qb0CabCxXpgw38gpO1Qf7acrlm29m6HTjAZ-j8UC3-WjEWOw-Ztez8B1TjnA&amp;response-cache-control=public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77" r:id="rId4"/>
    <p:sldId id="261" r:id="rId5"/>
    <p:sldId id="266" r:id="rId6"/>
    <p:sldId id="264" r:id="rId7"/>
    <p:sldId id="280" r:id="rId8"/>
    <p:sldId id="281" r:id="rId9"/>
    <p:sldId id="282" r:id="rId10"/>
    <p:sldId id="283" r:id="rId11"/>
    <p:sldId id="284" r:id="rId12"/>
    <p:sldId id="265" r:id="rId13"/>
    <p:sldId id="27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184" autoAdjust="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5872F-D8E6-4376-85E7-8E0BE66BD76B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9DBCA-738F-45AD-B1D5-0651DCA924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983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9DBCA-738F-45AD-B1D5-0651DCA9246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586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EEA47-C67F-BB2E-8120-3BAC567DF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7DBC31-F5C3-BF2D-2841-A89A5040C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3363C5-EDF8-9321-F0D3-252EE3E78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D3F53B-633A-6566-4ED3-B65BC7BC1C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9DBCA-738F-45AD-B1D5-0651DCA9246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389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B719B-8F98-94C9-668B-16108CF1B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2F14BA-54D3-B85C-7969-C6FCE95065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C2D291-041C-4276-96DD-FF74ACA62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B85107-F7BE-B37A-D3C0-F75E04DB95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9DBCA-738F-45AD-B1D5-0651DCA9246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498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F4617-444A-6787-8F92-B6DD8E190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1EBFAB-0049-367A-F012-7D58BBCB1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5EEC4A-D623-C957-EAAC-8D1BC9D52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918CF2-83AC-F4EC-94E5-03769CB002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9DBCA-738F-45AD-B1D5-0651DCA9246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035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3ACFE-A3DF-15A8-3ECB-144E540F2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C5C990-D0FE-21E3-C00F-A3D737FE0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63B6AF-DBA7-E41D-5DEF-6A3E99380D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C4DB2D-B554-D2B4-99DC-6912CD8F3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9DBCA-738F-45AD-B1D5-0651DCA9246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342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5B77D-D25B-1870-C779-DC91B9F4B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43D893-042B-C880-B1E8-4F6B975EB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956CF4-A01D-5468-E3C0-D94221E35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51D97A-3D7F-4A3F-0340-B9BF2191B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9DBCA-738F-45AD-B1D5-0651DCA9246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694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FE024-5D48-C60C-D88B-53DA780D2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E699F5-F2BC-7E86-DB9B-957F02F49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093381-4B81-FC2D-A9CF-45AF20937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11B6B-B3A5-4681-B069-0930B2E9C66D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4F8858-D393-9D6A-82F2-1AE4E1E00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3F02EA-5113-923D-FAD1-A40610AFC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735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0D5D5-4101-DA56-ED4B-BC203986F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3CA382-DE4C-3AF7-9815-2CC51DBE6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327E2F-827A-1D3F-0E16-D7052D53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9EF5-6D34-4524-AC8C-23C4BD746617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4739F8-A319-311E-2F0F-09A8C6E6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3C2162-EFFD-200A-F1C1-912FAFFE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60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AC1114-1FF5-E637-361F-772CC3B0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FBB6F5-E57C-ABEE-9A39-0B4544EA1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025442-8996-638A-1769-ACCAAA13D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55E96-8569-4028-A024-39AF353DC455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12C807-6F82-A15B-A00C-552E2565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41B9BC-2C7A-43B3-BFA4-45094D37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794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3AC28-4B39-3B0E-2D56-A5A299DF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CD4F61-9914-6FE1-F564-988DFE83A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E46CDF-4BA0-81B9-76F0-F62076A40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6AF448-1EBA-8A79-12BE-A4442DFBB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4EDC-7878-4CBA-A4CC-810471BFCE4E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BDF8FE-AB59-D53C-004D-854B43302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7CC34F-86F6-ADDD-A54A-8B8A423B0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60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166E92-C521-19E3-0C56-60438D81D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0EE006-008D-A109-F2DB-81E8DF56F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B5330E-BB4E-2039-2E80-94162918D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AC39A94-87EE-0B5C-5483-72B48A7E50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0430ED-962E-D416-32EB-CEDBB6F247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BAF16F2-4443-1FD2-F497-011309CFD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5E517-9A32-4B00-810C-24D0935D3CA4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9E34A60-7169-9094-5433-32D0BCCA9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79D0453-0517-8F75-58CA-00C55209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77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A7B4A-ED11-2942-6C3C-B7F823380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EB72845-1856-8B67-75BF-08804847D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CADE-41C4-41D7-8A6C-C8521C341E19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7A5A44-338D-2E0B-D018-509F6DFA9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CA93D6-A7AD-D07D-3649-58593A8D5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871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D2B586-25D8-7945-2DE2-6506D8847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C2F52-0B74-434F-825D-2594E8957160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24AC61-4C89-95DF-F019-7F4848283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556A90-B6F6-E6E9-C022-1346435AC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810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E901ED-6E81-111E-9DF6-17A29F9B3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19B601-D96F-7169-307F-726FEA7E5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D1B1AF-E00C-823E-AF03-D9C090593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AFBB6B-C925-ECED-0946-0DA29FB20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93B00-CAE1-4D6A-A760-9C0B5BD1D7E4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16F16A-3058-5EA7-E0A9-9AAB3A32C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B36AD1-6D43-4AA0-E15D-C3BE87EEB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861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319C9-BCC8-5D4A-2B27-8DBF32BD8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5259AB-C17E-1E5D-0AAC-3EF048DB3E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CB3C06-F9CD-43EC-0BD3-BD31FD076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9BE135-A847-9399-8ABD-D1902C5BB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885D3-B783-4B9B-8D89-64FEE799EDE4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FC813E-00FB-91F1-ACA4-1CD31DA54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EE87F2-5EAC-D696-885E-541CC9D3A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814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5AA1B-2BCA-FF97-07A8-220DF524E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E1D85A-70E4-A271-758C-2DE9F2221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9155D5-7544-1BA3-650A-9BC4C968A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9A01D-2631-421E-B45D-7172839BF98D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6C32AF-1DF0-ACB2-E6F8-A6DF58ED9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F6DB62-CEEA-9562-7C2D-F2AA5558F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40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A3DBE5-40CA-2631-DFAC-9E1071A92B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864FFE-7AE9-7310-26AD-DF1217884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9A6FB4-57C9-9EDE-C0A5-CC1AA42D7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C288-609C-4775-89D0-D87D2656BA3B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49B39-3E29-DCE8-771F-E9FD5D5E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DC9DE7-2C29-8E60-7F1E-54EF1260C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12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8AC1BBA-9F43-9881-65E3-10AE06513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0EC44E-013C-C495-82E1-C2AA56417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FF63C0-829E-217B-AEC3-EE9A66619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9D3BE-D6F2-4D9B-9032-30F3C513E17E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26AF4B-A809-3C54-2FA1-020C94EB8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70BD93-4D9C-A538-FEA9-348D7CA1D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015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cskrvRPBLFJW1Va4RslRMVIjK0qb0CabCxXpgw38gpO1Qf7acrlm29m6HTjAZ-j8UC3-WjEWOw-Ztez8B1TjnA&amp;response-cache-control=public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intfloat/multilingual-e5-large-instruc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6488AA-510F-DCB1-8BFB-176195E940A6}"/>
              </a:ext>
            </a:extLst>
          </p:cNvPr>
          <p:cNvSpPr txBox="1"/>
          <p:nvPr/>
        </p:nvSpPr>
        <p:spPr>
          <a:xfrm>
            <a:off x="604015" y="5967091"/>
            <a:ext cx="2876150" cy="416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학생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강서진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4A4E972B-3437-24CA-81C5-3C9178A85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4015" y="1964362"/>
            <a:ext cx="10159235" cy="2124075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진행사항 보고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D00E97C-BAC9-2F9A-6244-0BF79AAA073C}"/>
              </a:ext>
            </a:extLst>
          </p:cNvPr>
          <p:cNvCxnSpPr/>
          <p:nvPr/>
        </p:nvCxnSpPr>
        <p:spPr>
          <a:xfrm>
            <a:off x="678378" y="4204508"/>
            <a:ext cx="9720000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74984EA7-0D6F-1540-BACD-13A41E344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695" y="204458"/>
            <a:ext cx="2603686" cy="5957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CF0A89-D5DF-88EA-78E8-F622DA7FA90F}"/>
              </a:ext>
            </a:extLst>
          </p:cNvPr>
          <p:cNvSpPr txBox="1"/>
          <p:nvPr/>
        </p:nvSpPr>
        <p:spPr>
          <a:xfrm>
            <a:off x="10158115" y="6014540"/>
            <a:ext cx="1429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2026. 7.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C67962-551A-ABD9-AF22-68E0C1FDAACB}"/>
              </a:ext>
            </a:extLst>
          </p:cNvPr>
          <p:cNvSpPr txBox="1"/>
          <p:nvPr/>
        </p:nvSpPr>
        <p:spPr>
          <a:xfrm>
            <a:off x="604015" y="5633561"/>
            <a:ext cx="2876150" cy="416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지도교수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김성찬 교수님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ADA7415-3F62-A0B0-6F44-77BB9EDAB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401" y="152400"/>
            <a:ext cx="2878648" cy="54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02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0FC69-2C96-4827-DCAB-E433AFE45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A45FAB-07CB-0C57-A0D0-DECC0A900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완료된 사항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진행사항 보고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b="1" dirty="0"/>
              <a:t>지역별 </a:t>
            </a:r>
            <a:r>
              <a:rPr lang="ko-KR" altLang="ko-KR" b="1" dirty="0"/>
              <a:t>하수 기반 감염병 감시 데이터</a:t>
            </a:r>
            <a:r>
              <a:rPr lang="en-US" altLang="ko-KR" b="1" dirty="0"/>
              <a:t> </a:t>
            </a:r>
            <a:r>
              <a:rPr lang="ko-KR" altLang="en-US" b="1" dirty="0"/>
              <a:t>확보 완료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ko-KR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연관키워드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리스트 정리 완료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앞으로의 진행 단계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093FA1-0C81-9A18-59C3-C2BCBFBA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</a:t>
            </a:fld>
            <a:r>
              <a:rPr lang="en-US" altLang="ko-KR" dirty="0"/>
              <a:t>/20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525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4C7E8-1547-0547-AE38-FA2884232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95D640-E1D1-C7C4-0116-AC45EBF74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완료된 사항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422ED8-825B-0E7F-5548-4A981F68B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/>
              <a:t>지역별 </a:t>
            </a:r>
            <a:r>
              <a:rPr lang="ko-KR" altLang="ko-KR" sz="2000" b="1" dirty="0"/>
              <a:t>하수 기반 감염병 감시 데이터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확보 완료</a:t>
            </a:r>
          </a:p>
          <a:p>
            <a:pPr>
              <a:lnSpc>
                <a:spcPct val="150000"/>
              </a:lnSpc>
            </a:pPr>
            <a:r>
              <a:rPr lang="ko-K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연관키워드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리스트 정리 완료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사람들이 해당 감염병을 부르는 명칭</a:t>
            </a:r>
            <a:endParaRPr lang="en-US" altLang="ko-KR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연관키워드</a:t>
            </a:r>
            <a:endParaRPr lang="en-US" altLang="ko-KR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구글 자동완성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사용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제미나이 사용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네이버 광고주센터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의미 벡터 변환 후 클러스터링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9A9622-C68F-C90E-5102-57150723D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272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01AF1-4C7A-5CA9-6980-CA088A4E6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7492CB-E318-FD04-5C29-1F3545FFB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진행사항 보고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0B15F88-DACB-E179-BE7C-66F434CFB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6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519D5-2948-9F62-635E-B4DF8E61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82B417-70FD-9EBF-8FCD-BE43022F5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지역별 하수 농도 데이터 확보 완료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29F0C8-5A59-8B43-DC93-AEF6B6969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000" b="1" dirty="0"/>
              <a:t>교수님의 로그 치환 데이터와의 일부 비교</a:t>
            </a:r>
          </a:p>
          <a:p>
            <a:pPr>
              <a:lnSpc>
                <a:spcPct val="100000"/>
              </a:lnSpc>
            </a:pP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FA373A-07E6-4F24-76FF-31BFE7BA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A4AAA86-FB44-11F2-D087-8B52FE0E7A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760" b="9468"/>
          <a:stretch>
            <a:fillRect/>
          </a:stretch>
        </p:blipFill>
        <p:spPr>
          <a:xfrm>
            <a:off x="838200" y="2624467"/>
            <a:ext cx="3846922" cy="3069566"/>
          </a:xfrm>
          <a:prstGeom prst="rect">
            <a:avLst/>
          </a:prstGeom>
        </p:spPr>
      </p:pic>
      <p:pic>
        <p:nvPicPr>
          <p:cNvPr id="8" name="그림 7" descr="image.png">
            <a:extLst>
              <a:ext uri="{FF2B5EF4-FFF2-40B4-BE49-F238E27FC236}">
                <a16:creationId xmlns:a16="http://schemas.microsoft.com/office/drawing/2014/main" id="{233FEB8C-F742-2FED-CDB6-AD1DD0A64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004" y="2890597"/>
            <a:ext cx="4336522" cy="26952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302830-EFDD-4AAC-C922-92F9277AC233}"/>
              </a:ext>
            </a:extLst>
          </p:cNvPr>
          <p:cNvSpPr txBox="1"/>
          <p:nvPr/>
        </p:nvSpPr>
        <p:spPr>
          <a:xfrm>
            <a:off x="8106755" y="2552287"/>
            <a:ext cx="29659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서울</a:t>
            </a:r>
            <a:r>
              <a:rPr lang="en-US" altLang="ko-KR" sz="1600" b="1" dirty="0"/>
              <a:t>         </a:t>
            </a:r>
            <a:r>
              <a:rPr lang="ko-KR" altLang="en-US" sz="1600" b="1" dirty="0"/>
              <a:t>부산</a:t>
            </a:r>
            <a:r>
              <a:rPr lang="en-US" altLang="ko-KR" sz="1600" b="1" dirty="0"/>
              <a:t>	    </a:t>
            </a:r>
            <a:r>
              <a:rPr lang="ko-KR" altLang="en-US" sz="1600" b="1" dirty="0"/>
              <a:t>대구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53AE9D-92CB-77AA-06D2-16B99F73C208}"/>
              </a:ext>
            </a:extLst>
          </p:cNvPr>
          <p:cNvSpPr txBox="1"/>
          <p:nvPr/>
        </p:nvSpPr>
        <p:spPr>
          <a:xfrm>
            <a:off x="838200" y="5754900"/>
            <a:ext cx="6636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교수님 데이터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9DDECE-8815-CB63-6E97-3332E9B19FBD}"/>
              </a:ext>
            </a:extLst>
          </p:cNvPr>
          <p:cNvSpPr txBox="1"/>
          <p:nvPr/>
        </p:nvSpPr>
        <p:spPr>
          <a:xfrm>
            <a:off x="6344632" y="5679729"/>
            <a:ext cx="6636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제미나이 사용한 데이터</a:t>
            </a:r>
          </a:p>
        </p:txBody>
      </p:sp>
    </p:spTree>
    <p:extLst>
      <p:ext uri="{BB962C8B-B14F-4D97-AF65-F5344CB8AC3E}">
        <p14:creationId xmlns:p14="http://schemas.microsoft.com/office/powerpoint/2010/main" val="1966630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AF26D-58AD-39FF-EEB2-E5C44A8CF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A21AB-3ABB-9019-F605-91E2046DF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연관키워드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리스트 정리 완료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43FE00-9E29-ABD4-CD4A-27518A336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사람들이 해당 감염병을 부르는 명칭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제미나이 사용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ko-KR" altLang="ko-KR" sz="1600" b="1" dirty="0"/>
              <a:t>코로나: 코로나19, COVID-19, 코로나, 신종 코로나</a:t>
            </a:r>
          </a:p>
          <a:p>
            <a:pPr>
              <a:lnSpc>
                <a:spcPct val="150000"/>
              </a:lnSpc>
            </a:pPr>
            <a:r>
              <a:rPr lang="ko-KR" altLang="ko-KR" sz="1600" b="1" dirty="0"/>
              <a:t>인플루엔자: 독감, 플루, </a:t>
            </a:r>
            <a:r>
              <a:rPr lang="ko-KR" altLang="ko-KR" sz="1600" b="1" dirty="0" err="1"/>
              <a:t>Flu</a:t>
            </a:r>
            <a:r>
              <a:rPr lang="ko-KR" altLang="ko-KR" sz="1600" b="1" dirty="0"/>
              <a:t>, 인플루엔자</a:t>
            </a:r>
          </a:p>
          <a:p>
            <a:pPr>
              <a:lnSpc>
                <a:spcPct val="150000"/>
              </a:lnSpc>
            </a:pPr>
            <a:r>
              <a:rPr lang="ko-KR" altLang="ko-KR" sz="1600" b="1" dirty="0" err="1"/>
              <a:t>노로바이러스</a:t>
            </a:r>
            <a:r>
              <a:rPr lang="ko-KR" altLang="ko-KR" sz="1600" b="1" dirty="0"/>
              <a:t>: 장염, 겨울 장염, 식중독</a:t>
            </a:r>
            <a:endParaRPr lang="ko-KR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59473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C32D2-B4C1-29E4-EBC6-0F8B41AAA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5411B2-46FA-D874-AABD-92A7FF6CC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연관키워드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리스트 정리 완료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1BD719-7D9D-7448-5AA4-C107C39AD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20677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ko-K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연관키워드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(1/3)</a:t>
            </a:r>
          </a:p>
          <a:p>
            <a:pPr lvl="1">
              <a:lnSpc>
                <a:spcPct val="150000"/>
              </a:lnSpc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구글 자동완성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사용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(1/2)</a:t>
            </a:r>
          </a:p>
          <a:p>
            <a:pPr>
              <a:lnSpc>
                <a:spcPct val="150000"/>
              </a:lnSpc>
            </a:pPr>
            <a:r>
              <a:rPr lang="ko-KR" altLang="ko-KR" sz="1600" b="1" dirty="0"/>
              <a:t>코로나: </a:t>
            </a:r>
            <a:r>
              <a:rPr lang="ko-KR" altLang="ko-KR" sz="1400" b="1" dirty="0"/>
              <a:t>코로나 백신,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코로나 시기,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코로나 19,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코로나 증상,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코로나 백신 부작용,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코로나 바이러스,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코로나 매미,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코로나 나무위키,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코로나 맥주,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코로나 백신 종류,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코로나 기간,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코로나 백신 곰팡이,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코로나 변이,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코로나 시작,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코로나 유행</a:t>
            </a:r>
          </a:p>
          <a:p>
            <a:pPr>
              <a:lnSpc>
                <a:spcPct val="150000"/>
              </a:lnSpc>
            </a:pPr>
            <a:r>
              <a:rPr lang="ko-KR" altLang="ko-KR" sz="1600" b="1" dirty="0"/>
              <a:t>SARS-CoV-2: </a:t>
            </a:r>
            <a:r>
              <a:rPr lang="ko-KR" altLang="ko-KR" sz="1400" b="1" dirty="0"/>
              <a:t>sars-cov-2 </a:t>
            </a:r>
            <a:r>
              <a:rPr lang="ko-KR" altLang="ko-KR" sz="1400" b="1" dirty="0" err="1"/>
              <a:t>aberrantly</a:t>
            </a:r>
            <a:r>
              <a:rPr lang="ko-KR" altLang="ko-KR" sz="1400" b="1" dirty="0"/>
              <a:t> </a:t>
            </a:r>
            <a:r>
              <a:rPr lang="ko-KR" altLang="ko-KR" sz="1400" b="1" dirty="0" err="1"/>
              <a:t>elevates</a:t>
            </a:r>
            <a:r>
              <a:rPr lang="ko-KR" altLang="ko-KR" sz="1400" b="1" dirty="0"/>
              <a:t> </a:t>
            </a:r>
            <a:r>
              <a:rPr lang="ko-KR" altLang="ko-KR" sz="1400" b="1" dirty="0" err="1"/>
              <a:t>mitochondrial</a:t>
            </a:r>
            <a:r>
              <a:rPr lang="ko-KR" altLang="ko-KR" sz="1400" b="1" dirty="0"/>
              <a:t> </a:t>
            </a:r>
            <a:r>
              <a:rPr lang="ko-KR" altLang="ko-KR" sz="1400" b="1" dirty="0" err="1"/>
              <a:t>bioenergetics</a:t>
            </a:r>
            <a:r>
              <a:rPr lang="ko-KR" altLang="ko-KR" sz="1400" b="1" dirty="0"/>
              <a:t> </a:t>
            </a:r>
            <a:r>
              <a:rPr lang="ko-KR" altLang="ko-KR" sz="1400" b="1" dirty="0" err="1"/>
              <a:t>to</a:t>
            </a:r>
            <a:r>
              <a:rPr lang="ko-KR" altLang="ko-KR" sz="1400" b="1" dirty="0"/>
              <a:t> </a:t>
            </a:r>
            <a:r>
              <a:rPr lang="ko-KR" altLang="ko-KR" sz="1400" b="1" dirty="0" err="1"/>
              <a:t>induce</a:t>
            </a:r>
            <a:r>
              <a:rPr lang="ko-KR" altLang="ko-KR" sz="1400" b="1" dirty="0"/>
              <a:t> </a:t>
            </a:r>
            <a:r>
              <a:rPr lang="ko-KR" altLang="ko-KR" sz="1400" b="1" dirty="0" err="1"/>
              <a:t>robust</a:t>
            </a:r>
            <a:r>
              <a:rPr lang="ko-KR" altLang="ko-KR" sz="1400" b="1" dirty="0"/>
              <a:t> </a:t>
            </a:r>
            <a:r>
              <a:rPr lang="ko-KR" altLang="ko-KR" sz="1400" b="1" dirty="0" err="1"/>
              <a:t>virus</a:t>
            </a:r>
            <a:r>
              <a:rPr lang="ko-KR" altLang="ko-KR" sz="1400" b="1" dirty="0"/>
              <a:t> </a:t>
            </a:r>
            <a:r>
              <a:rPr lang="ko-KR" altLang="ko-KR" sz="1400" b="1" dirty="0" err="1"/>
              <a:t>propagation</a:t>
            </a:r>
            <a:r>
              <a:rPr lang="ko-KR" altLang="ko-KR" sz="1400" b="1" dirty="0"/>
              <a:t>, sars-cov-2 바이러스, sars-cov-2 </a:t>
            </a:r>
            <a:r>
              <a:rPr lang="ko-KR" altLang="ko-KR" sz="1400" b="1" dirty="0" err="1"/>
              <a:t>spike</a:t>
            </a:r>
            <a:r>
              <a:rPr lang="ko-KR" altLang="ko-KR" sz="1400" b="1" dirty="0"/>
              <a:t> </a:t>
            </a:r>
            <a:r>
              <a:rPr lang="ko-KR" altLang="ko-KR" sz="1400" b="1" dirty="0" err="1"/>
              <a:t>protein</a:t>
            </a:r>
            <a:r>
              <a:rPr lang="ko-KR" altLang="ko-KR" sz="1400" b="1" dirty="0"/>
              <a:t>, sars-cov-2 </a:t>
            </a:r>
            <a:r>
              <a:rPr lang="ko-KR" altLang="ko-KR" sz="1400" b="1" dirty="0" err="1"/>
              <a:t>genome</a:t>
            </a:r>
            <a:endParaRPr lang="ko-KR" altLang="ko-KR" sz="1400" b="1" dirty="0"/>
          </a:p>
          <a:p>
            <a:pPr>
              <a:lnSpc>
                <a:spcPct val="150000"/>
              </a:lnSpc>
            </a:pPr>
            <a:r>
              <a:rPr lang="ko-KR" altLang="ko-KR" sz="1600" b="1" dirty="0"/>
              <a:t>인플루엔자: </a:t>
            </a:r>
            <a:r>
              <a:rPr lang="ko-KR" altLang="ko-KR" sz="1400" b="1" dirty="0"/>
              <a:t>인플루엔자 뜻,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인플루엔자 백신,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인플루엔자 독감,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인플루엔자 바이러스,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인플루엔자 증상,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인플루엔자 독감 차이,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인플루엔자 백신 종류,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인플루엔자 예방접종,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인플루엔자 잠복기,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인플루엔자 예방법,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인플루엔자 원인,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인플루엔자 특징,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인플루엔자 </a:t>
            </a:r>
            <a:r>
              <a:rPr lang="ko-KR" altLang="ko-KR" sz="1400" b="1" dirty="0" err="1"/>
              <a:t>b</a:t>
            </a:r>
            <a:r>
              <a:rPr lang="ko-KR" altLang="ko-KR" sz="1400" b="1" dirty="0"/>
              <a:t>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인플루엔자 </a:t>
            </a:r>
            <a:r>
              <a:rPr lang="ko-KR" altLang="ko-KR" sz="1400" b="1" dirty="0" err="1"/>
              <a:t>a</a:t>
            </a:r>
            <a:r>
              <a:rPr lang="ko-KR" altLang="ko-KR" sz="1400" b="1" dirty="0"/>
              <a:t>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인플루엔자 감염</a:t>
            </a:r>
            <a:endParaRPr lang="ko-KR" altLang="ko-KR" sz="1600" b="1" dirty="0"/>
          </a:p>
        </p:txBody>
      </p:sp>
    </p:spTree>
    <p:extLst>
      <p:ext uri="{BB962C8B-B14F-4D97-AF65-F5344CB8AC3E}">
        <p14:creationId xmlns:p14="http://schemas.microsoft.com/office/powerpoint/2010/main" val="2886066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3F394-D8A0-D31E-B5CD-7C847E748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57078F-0191-B101-B093-9FB7EA785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연관키워드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리스트 정리 완료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0AFE65-79D8-53CC-8E3F-3F71230FD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20677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ko-K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연관키워드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(1/3)</a:t>
            </a:r>
          </a:p>
          <a:p>
            <a:pPr lvl="1">
              <a:lnSpc>
                <a:spcPct val="150000"/>
              </a:lnSpc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구글 자동완성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사용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(2/2)</a:t>
            </a:r>
            <a:endParaRPr lang="ko-KR" altLang="ko-KR" sz="1600" b="1" dirty="0"/>
          </a:p>
          <a:p>
            <a:pPr>
              <a:lnSpc>
                <a:spcPct val="150000"/>
              </a:lnSpc>
            </a:pPr>
            <a:r>
              <a:rPr lang="ko-KR" altLang="ko-KR" sz="1600" b="1" dirty="0"/>
              <a:t>독감: </a:t>
            </a:r>
            <a:r>
              <a:rPr lang="ko-KR" altLang="ko-KR" sz="1400" b="1" dirty="0"/>
              <a:t>독감 증상,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독감 검사,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독감 유행,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독감 잠복기,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독감 영어로,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독감 감염,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독감 감기 차이,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독감 초기 증상,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독감 걸렸을 때 빨리 낫는 법,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독감 증상 순서,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독감 검사 비용,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독감 수액,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독감 항생제,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독감 예방법,</a:t>
            </a:r>
            <a:r>
              <a:rPr lang="en-US" altLang="ko-KR" sz="1400" b="1" dirty="0"/>
              <a:t> </a:t>
            </a:r>
            <a:r>
              <a:rPr lang="ko-KR" altLang="ko-KR" sz="1400" b="1" dirty="0"/>
              <a:t>독감 격리</a:t>
            </a:r>
          </a:p>
          <a:p>
            <a:pPr>
              <a:lnSpc>
                <a:spcPct val="150000"/>
              </a:lnSpc>
            </a:pPr>
            <a:r>
              <a:rPr lang="ko-KR" altLang="ko-KR" sz="1600" b="1" dirty="0" err="1"/>
              <a:t>노로바이러스</a:t>
            </a:r>
            <a:r>
              <a:rPr lang="ko-KR" altLang="ko-KR" sz="1600" b="1" dirty="0"/>
              <a:t>: </a:t>
            </a:r>
            <a:r>
              <a:rPr lang="ko-KR" altLang="ko-KR" sz="1400" b="1" dirty="0" err="1"/>
              <a:t>노로바이러스</a:t>
            </a:r>
            <a:r>
              <a:rPr lang="ko-KR" altLang="ko-KR" sz="1400" b="1" dirty="0"/>
              <a:t> 증상,</a:t>
            </a:r>
            <a:r>
              <a:rPr lang="en-US" altLang="ko-KR" sz="1400" b="1" dirty="0"/>
              <a:t> </a:t>
            </a:r>
            <a:r>
              <a:rPr lang="ko-KR" altLang="ko-KR" sz="1400" b="1" dirty="0" err="1"/>
              <a:t>노로바이러스</a:t>
            </a:r>
            <a:r>
              <a:rPr lang="ko-KR" altLang="ko-KR" sz="1400" b="1" dirty="0"/>
              <a:t> 전염,</a:t>
            </a:r>
            <a:r>
              <a:rPr lang="en-US" altLang="ko-KR" sz="1400" b="1" dirty="0"/>
              <a:t> </a:t>
            </a:r>
            <a:r>
              <a:rPr lang="ko-KR" altLang="ko-KR" sz="1400" b="1" dirty="0" err="1"/>
              <a:t>노로바이러스</a:t>
            </a:r>
            <a:r>
              <a:rPr lang="ko-KR" altLang="ko-KR" sz="1400" b="1" dirty="0"/>
              <a:t> 원인,</a:t>
            </a:r>
            <a:r>
              <a:rPr lang="en-US" altLang="ko-KR" sz="1400" b="1" dirty="0"/>
              <a:t> </a:t>
            </a:r>
            <a:r>
              <a:rPr lang="ko-KR" altLang="ko-KR" sz="1400" b="1" dirty="0" err="1"/>
              <a:t>노로바이러스</a:t>
            </a:r>
            <a:r>
              <a:rPr lang="ko-KR" altLang="ko-KR" sz="1400" b="1" dirty="0"/>
              <a:t> 잠복기,</a:t>
            </a:r>
            <a:r>
              <a:rPr lang="en-US" altLang="ko-KR" sz="1400" b="1" dirty="0"/>
              <a:t> </a:t>
            </a:r>
            <a:r>
              <a:rPr lang="ko-KR" altLang="ko-KR" sz="1400" b="1" dirty="0" err="1"/>
              <a:t>노로바이러스</a:t>
            </a:r>
            <a:r>
              <a:rPr lang="ko-KR" altLang="ko-KR" sz="1400" b="1" dirty="0"/>
              <a:t> 약,</a:t>
            </a:r>
            <a:r>
              <a:rPr lang="en-US" altLang="ko-KR" sz="1400" b="1" dirty="0"/>
              <a:t> </a:t>
            </a:r>
            <a:r>
              <a:rPr lang="ko-KR" altLang="ko-KR" sz="1400" b="1" dirty="0" err="1"/>
              <a:t>노로바이러스</a:t>
            </a:r>
            <a:r>
              <a:rPr lang="ko-KR" altLang="ko-KR" sz="1400" b="1" dirty="0"/>
              <a:t> 장염 차이,</a:t>
            </a:r>
            <a:r>
              <a:rPr lang="en-US" altLang="ko-KR" sz="1400" b="1" dirty="0"/>
              <a:t> </a:t>
            </a:r>
            <a:r>
              <a:rPr lang="ko-KR" altLang="ko-KR" sz="1400" b="1" dirty="0" err="1"/>
              <a:t>노로바이러스</a:t>
            </a:r>
            <a:r>
              <a:rPr lang="ko-KR" altLang="ko-KR" sz="1400" b="1" dirty="0"/>
              <a:t> 굴,</a:t>
            </a:r>
            <a:r>
              <a:rPr lang="en-US" altLang="ko-KR" sz="1400" b="1" dirty="0"/>
              <a:t> </a:t>
            </a:r>
            <a:r>
              <a:rPr lang="ko-KR" altLang="ko-KR" sz="1400" b="1" dirty="0" err="1"/>
              <a:t>노로바이러스</a:t>
            </a:r>
            <a:r>
              <a:rPr lang="ko-KR" altLang="ko-KR" sz="1400" b="1" dirty="0"/>
              <a:t> 치료,</a:t>
            </a:r>
            <a:r>
              <a:rPr lang="en-US" altLang="ko-KR" sz="1400" b="1" dirty="0"/>
              <a:t> </a:t>
            </a:r>
            <a:r>
              <a:rPr lang="ko-KR" altLang="ko-KR" sz="1400" b="1" dirty="0" err="1"/>
              <a:t>노로바이러스</a:t>
            </a:r>
            <a:r>
              <a:rPr lang="ko-KR" altLang="ko-KR" sz="1400" b="1" dirty="0"/>
              <a:t> 검사,</a:t>
            </a:r>
            <a:r>
              <a:rPr lang="en-US" altLang="ko-KR" sz="1400" b="1" dirty="0"/>
              <a:t> </a:t>
            </a:r>
            <a:r>
              <a:rPr lang="ko-KR" altLang="ko-KR" sz="1400" b="1" dirty="0" err="1"/>
              <a:t>노로바이러스</a:t>
            </a:r>
            <a:r>
              <a:rPr lang="ko-KR" altLang="ko-KR" sz="1400" b="1" dirty="0"/>
              <a:t> </a:t>
            </a:r>
            <a:r>
              <a:rPr lang="ko-KR" altLang="ko-KR" sz="1400" b="1" dirty="0" err="1"/>
              <a:t>디시</a:t>
            </a:r>
            <a:r>
              <a:rPr lang="ko-KR" altLang="ko-KR" sz="1400" b="1" dirty="0"/>
              <a:t>,</a:t>
            </a:r>
            <a:r>
              <a:rPr lang="en-US" altLang="ko-KR" sz="1400" b="1" dirty="0"/>
              <a:t> </a:t>
            </a:r>
            <a:r>
              <a:rPr lang="ko-KR" altLang="ko-KR" sz="1400" b="1" dirty="0" err="1"/>
              <a:t>노로바이러스</a:t>
            </a:r>
            <a:r>
              <a:rPr lang="ko-KR" altLang="ko-KR" sz="1400" b="1" dirty="0"/>
              <a:t> 걸리는 이유,</a:t>
            </a:r>
            <a:r>
              <a:rPr lang="en-US" altLang="ko-KR" sz="1400" b="1" dirty="0"/>
              <a:t> </a:t>
            </a:r>
            <a:r>
              <a:rPr lang="ko-KR" altLang="ko-KR" sz="1400" b="1" dirty="0" err="1"/>
              <a:t>노로바이러스</a:t>
            </a:r>
            <a:r>
              <a:rPr lang="ko-KR" altLang="ko-KR" sz="1400" b="1" dirty="0"/>
              <a:t> 장염,</a:t>
            </a:r>
            <a:r>
              <a:rPr lang="en-US" altLang="ko-KR" sz="1400" b="1" dirty="0"/>
              <a:t> </a:t>
            </a:r>
            <a:r>
              <a:rPr lang="ko-KR" altLang="ko-KR" sz="1400" b="1" dirty="0" err="1"/>
              <a:t>노로바이러스</a:t>
            </a:r>
            <a:r>
              <a:rPr lang="ko-KR" altLang="ko-KR" sz="1400" b="1" dirty="0"/>
              <a:t> 가열,</a:t>
            </a:r>
            <a:r>
              <a:rPr lang="en-US" altLang="ko-KR" sz="1400" b="1" dirty="0"/>
              <a:t> </a:t>
            </a:r>
            <a:r>
              <a:rPr lang="ko-KR" altLang="ko-KR" sz="1400" b="1" dirty="0" err="1"/>
              <a:t>노로바이러스</a:t>
            </a:r>
            <a:r>
              <a:rPr lang="ko-KR" altLang="ko-KR" sz="1400" b="1" dirty="0"/>
              <a:t> 타이레놀,</a:t>
            </a:r>
            <a:r>
              <a:rPr lang="en-US" altLang="ko-KR" sz="1400" b="1" dirty="0"/>
              <a:t> </a:t>
            </a:r>
            <a:r>
              <a:rPr lang="ko-KR" altLang="ko-KR" sz="1400" b="1" dirty="0" err="1"/>
              <a:t>노로바이러스</a:t>
            </a:r>
            <a:r>
              <a:rPr lang="ko-KR" altLang="ko-KR" sz="1400" b="1" dirty="0"/>
              <a:t> 공기 전염</a:t>
            </a:r>
            <a:endParaRPr lang="ko-KR" altLang="ko-KR" sz="1600" b="1" dirty="0"/>
          </a:p>
        </p:txBody>
      </p:sp>
    </p:spTree>
    <p:extLst>
      <p:ext uri="{BB962C8B-B14F-4D97-AF65-F5344CB8AC3E}">
        <p14:creationId xmlns:p14="http://schemas.microsoft.com/office/powerpoint/2010/main" val="186752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D680A-E8E7-1867-9A5A-DA14F69DF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79EE5B-4EF1-D9A5-967E-4AB943AD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연관키워드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리스트 정리 완료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8C331E-AC5D-D333-88CB-7FD31E724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624794" cy="520677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ko-K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연관키워드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(2/3)</a:t>
            </a:r>
          </a:p>
          <a:p>
            <a:pPr lvl="1">
              <a:lnSpc>
                <a:spcPct val="150000"/>
              </a:lnSpc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제미나이 사용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ko-KR" altLang="ko-KR" sz="1600" b="1" dirty="0"/>
              <a:t>코로나: </a:t>
            </a:r>
            <a:r>
              <a:rPr lang="ko-KR" altLang="ko-KR" sz="1400" b="1" dirty="0"/>
              <a:t>SARS-CoV-2, RNA 바이러스, 오미크론, 델타, JN.1, KP.2, 발열, 인후통, 기침, 미각/후각 상실, 호흡곤란, 전신 피로감, 비말 감염, 공기 전파, PCR 검사, </a:t>
            </a:r>
            <a:r>
              <a:rPr lang="ko-KR" altLang="ko-KR" sz="1400" b="1" dirty="0" err="1"/>
              <a:t>신속항원검사</a:t>
            </a:r>
            <a:r>
              <a:rPr lang="ko-KR" altLang="ko-KR" sz="1400" b="1" dirty="0"/>
              <a:t>, 자가진단키트, 무증상 감염, 잠복기, mRNA 백신(화이자, 모더나), 경구용 치료제(팍스로비드, </a:t>
            </a:r>
            <a:r>
              <a:rPr lang="ko-KR" altLang="ko-KR" sz="1400" b="1" dirty="0" err="1"/>
              <a:t>라게브리오</a:t>
            </a:r>
            <a:r>
              <a:rPr lang="ko-KR" altLang="ko-KR" sz="1400" b="1" dirty="0"/>
              <a:t>), 격리, 마스크, </a:t>
            </a:r>
            <a:r>
              <a:rPr lang="ko-KR" altLang="ko-KR" sz="1400" b="1" dirty="0" err="1"/>
              <a:t>롱코비드</a:t>
            </a:r>
            <a:r>
              <a:rPr lang="ko-KR" altLang="ko-KR" sz="1400" b="1" dirty="0"/>
              <a:t>, </a:t>
            </a:r>
            <a:r>
              <a:rPr lang="ko-KR" altLang="ko-KR" sz="1400" b="1" dirty="0" err="1"/>
              <a:t>브레인포그</a:t>
            </a:r>
            <a:r>
              <a:rPr lang="ko-KR" altLang="ko-KR" sz="1400" b="1" dirty="0"/>
              <a:t>, 팬데믹, 엔데믹</a:t>
            </a:r>
            <a:endParaRPr lang="ko-KR" altLang="ko-KR" sz="1600" b="1" dirty="0"/>
          </a:p>
          <a:p>
            <a:pPr>
              <a:lnSpc>
                <a:spcPct val="150000"/>
              </a:lnSpc>
            </a:pPr>
            <a:r>
              <a:rPr lang="ko-KR" altLang="ko-KR" sz="1600" b="1" dirty="0"/>
              <a:t>인플루엔자: </a:t>
            </a:r>
            <a:r>
              <a:rPr lang="ko-KR" altLang="ko-KR" sz="1400" b="1" dirty="0"/>
              <a:t>인플루엔자 바이러스, </a:t>
            </a:r>
            <a:r>
              <a:rPr lang="ko-KR" altLang="ko-KR" sz="1400" b="1" dirty="0" err="1"/>
              <a:t>A형</a:t>
            </a:r>
            <a:r>
              <a:rPr lang="ko-KR" altLang="ko-KR" sz="1400" b="1" dirty="0"/>
              <a:t> 독감, </a:t>
            </a:r>
            <a:r>
              <a:rPr lang="ko-KR" altLang="ko-KR" sz="1400" b="1" dirty="0" err="1"/>
              <a:t>B형</a:t>
            </a:r>
            <a:r>
              <a:rPr lang="ko-KR" altLang="ko-KR" sz="1400" b="1" dirty="0"/>
              <a:t> 독감, 조류 인플루엔자(AI), 갑작스러운 고열, 극심한 근육통, 오한, 두통, 마른 기침, 비말 감염, 접촉 감염, 독감 간이검사(키트), 겨울철 유행, 항바이러스제(타미플루, </a:t>
            </a:r>
            <a:r>
              <a:rPr lang="ko-KR" altLang="ko-KR" sz="1400" b="1" dirty="0" err="1"/>
              <a:t>페라미플루</a:t>
            </a:r>
            <a:r>
              <a:rPr lang="ko-KR" altLang="ko-KR" sz="1400" b="1" dirty="0"/>
              <a:t>, </a:t>
            </a:r>
            <a:r>
              <a:rPr lang="ko-KR" altLang="ko-KR" sz="1400" b="1" dirty="0" err="1"/>
              <a:t>릴렌자</a:t>
            </a:r>
            <a:r>
              <a:rPr lang="ko-KR" altLang="ko-KR" sz="1400" b="1" dirty="0"/>
              <a:t>), 4가 백신, 매년 예방접종, </a:t>
            </a:r>
            <a:r>
              <a:rPr lang="ko-KR" altLang="ko-KR" sz="1400" b="1" dirty="0" err="1"/>
              <a:t>트윈데믹</a:t>
            </a:r>
            <a:r>
              <a:rPr lang="ko-KR" altLang="ko-KR" sz="1400" b="1" dirty="0"/>
              <a:t>, </a:t>
            </a:r>
            <a:r>
              <a:rPr lang="ko-KR" altLang="ko-KR" sz="1400" b="1" dirty="0" err="1"/>
              <a:t>멀티데믹</a:t>
            </a:r>
            <a:endParaRPr lang="ko-KR" altLang="ko-KR" sz="1600" b="1" dirty="0"/>
          </a:p>
          <a:p>
            <a:pPr>
              <a:lnSpc>
                <a:spcPct val="150000"/>
              </a:lnSpc>
            </a:pPr>
            <a:r>
              <a:rPr lang="ko-KR" altLang="ko-KR" sz="1600" b="1" dirty="0" err="1"/>
              <a:t>노로바이러스</a:t>
            </a:r>
            <a:r>
              <a:rPr lang="ko-KR" altLang="ko-KR" sz="1600" b="1" dirty="0"/>
              <a:t>: </a:t>
            </a:r>
            <a:r>
              <a:rPr lang="ko-KR" altLang="ko-KR" sz="1400" b="1" dirty="0"/>
              <a:t>급성 장염, 겨울철 식중독, 생굴, 조개류, 오염된 지하수, 구토, 설사, 복통, 오심, 탈수, 분변-구강 경로, 사람 간 접촉 감염, 수액 치료, 전해질 보충, 비누 </a:t>
            </a:r>
            <a:r>
              <a:rPr lang="ko-KR" altLang="ko-KR" sz="1400" b="1" dirty="0" err="1"/>
              <a:t>손씻기</a:t>
            </a:r>
            <a:r>
              <a:rPr lang="ko-KR" altLang="ko-KR" sz="1400" b="1" dirty="0"/>
              <a:t>, 85℃ 가열 조리, 집단 감염, 염소계 소독제</a:t>
            </a:r>
            <a:endParaRPr lang="ko-KR" altLang="ko-KR" sz="16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02639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B7F03-6C67-8E61-6FD0-670545CD1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7A3D39-A821-99AC-DC2E-F68876D99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연관키워드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리스트 정리 완료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157A65-B49B-65EF-74C8-21088B0C4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624794" cy="520677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ko-K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연관키워드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(3/3)</a:t>
            </a:r>
          </a:p>
          <a:p>
            <a:pPr lvl="1">
              <a:lnSpc>
                <a:spcPct val="150000"/>
              </a:lnSpc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네이버 광고주센터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의미 벡터 변환 후 클러스터링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(1/2)</a:t>
            </a:r>
          </a:p>
          <a:p>
            <a:pPr>
              <a:lnSpc>
                <a:spcPct val="150000"/>
              </a:lnSpc>
            </a:pPr>
            <a:r>
              <a:rPr lang="ko-KR" altLang="en-US" sz="1600" b="1" dirty="0"/>
              <a:t>의미 벡터 추출 모델</a:t>
            </a:r>
            <a:r>
              <a:rPr lang="en-US" altLang="ko-KR" sz="1600" b="1" dirty="0"/>
              <a:t>: </a:t>
            </a:r>
            <a:r>
              <a:rPr lang="ko-KR" altLang="ko-KR" sz="1600" b="1" dirty="0">
                <a:hlinkClick r:id="rId3"/>
              </a:rPr>
              <a:t>Multilingual-E5-large-instruct</a:t>
            </a:r>
            <a:r>
              <a:rPr lang="en-US" altLang="ko-KR" sz="1600" b="1" dirty="0"/>
              <a:t>, 2024</a:t>
            </a:r>
          </a:p>
          <a:p>
            <a:pPr lvl="1">
              <a:lnSpc>
                <a:spcPct val="150000"/>
              </a:lnSpc>
            </a:pPr>
            <a:r>
              <a:rPr lang="en-US" altLang="ko-KR" sz="1600" b="1" dirty="0"/>
              <a:t>24</a:t>
            </a:r>
            <a:r>
              <a:rPr lang="ko-KR" altLang="en-US" sz="1600" b="1" dirty="0"/>
              <a:t>층</a:t>
            </a:r>
            <a:r>
              <a:rPr lang="en-US" altLang="ko-KR" sz="1600" b="1" dirty="0"/>
              <a:t>, 1024</a:t>
            </a:r>
            <a:r>
              <a:rPr lang="ko-KR" altLang="en-US" sz="1600" b="1" dirty="0"/>
              <a:t>차원</a:t>
            </a:r>
            <a:r>
              <a:rPr lang="en-US" altLang="ko-KR" sz="1600" b="1" dirty="0"/>
              <a:t>, L2 Norm</a:t>
            </a:r>
            <a:endParaRPr lang="ko-KR" altLang="en-US" sz="1600" dirty="0"/>
          </a:p>
          <a:p>
            <a:pPr>
              <a:lnSpc>
                <a:spcPct val="150000"/>
              </a:lnSpc>
            </a:pPr>
            <a:r>
              <a:rPr lang="ko-KR" altLang="en-US" sz="1600" b="1" dirty="0">
                <a:effectLst/>
              </a:rPr>
              <a:t>차원 축소 방법</a:t>
            </a:r>
            <a:r>
              <a:rPr lang="en-US" altLang="ko-KR" sz="1600" b="1" dirty="0">
                <a:effectLst/>
              </a:rPr>
              <a:t>: UMAP</a:t>
            </a:r>
          </a:p>
          <a:p>
            <a:pPr lvl="1">
              <a:lnSpc>
                <a:spcPct val="150000"/>
              </a:lnSpc>
            </a:pPr>
            <a:r>
              <a:rPr lang="ko-KR" altLang="en-US" sz="1600" b="1" dirty="0">
                <a:effectLst/>
              </a:rPr>
              <a:t>비선형적으로 복잡한 데이터에 강함</a:t>
            </a:r>
            <a:r>
              <a:rPr lang="en-US" altLang="ko-KR" sz="1600" b="1" dirty="0">
                <a:effectLst/>
              </a:rPr>
              <a:t>, </a:t>
            </a:r>
            <a:r>
              <a:rPr lang="ko-KR" altLang="en-US" sz="1600" b="1" dirty="0">
                <a:effectLst/>
              </a:rPr>
              <a:t>파라미터 조정 가능</a:t>
            </a:r>
            <a:endParaRPr lang="en-US" altLang="ko-KR" sz="1600" b="1" dirty="0">
              <a:effectLst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b="1" dirty="0"/>
              <a:t>선택 이유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데이터의 군집 수 가늠 </a:t>
            </a:r>
            <a:r>
              <a:rPr lang="en-US" altLang="ko-KR" sz="1600" b="1" dirty="0"/>
              <a:t>X</a:t>
            </a:r>
          </a:p>
          <a:p>
            <a:pPr>
              <a:lnSpc>
                <a:spcPct val="150000"/>
              </a:lnSpc>
            </a:pPr>
            <a:r>
              <a:rPr lang="ko-KR" altLang="en-US" sz="1600" b="1" dirty="0">
                <a:effectLst/>
              </a:rPr>
              <a:t>클러스터링</a:t>
            </a:r>
            <a:r>
              <a:rPr lang="en-US" altLang="ko-KR" sz="1600" b="1" dirty="0">
                <a:effectLst/>
              </a:rPr>
              <a:t>: HDBSCAN</a:t>
            </a:r>
          </a:p>
          <a:p>
            <a:pPr lvl="1">
              <a:lnSpc>
                <a:spcPct val="150000"/>
              </a:lnSpc>
            </a:pPr>
            <a:r>
              <a:rPr lang="ko-KR" altLang="en-US" sz="1600" b="1" dirty="0"/>
              <a:t>자동으로 클러스터링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이상치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노이즈</a:t>
            </a:r>
            <a:r>
              <a:rPr lang="en-US" altLang="ko-KR" sz="1600" b="1" dirty="0"/>
              <a:t>) </a:t>
            </a:r>
            <a:r>
              <a:rPr lang="ko-KR" altLang="en-US" sz="1600" b="1" dirty="0"/>
              <a:t>자동으로 거름</a:t>
            </a:r>
            <a:endParaRPr lang="en-US" altLang="ko-KR" sz="1600" b="1" dirty="0"/>
          </a:p>
          <a:p>
            <a:pPr lvl="1">
              <a:lnSpc>
                <a:spcPct val="150000"/>
              </a:lnSpc>
            </a:pPr>
            <a:r>
              <a:rPr lang="ko-KR" altLang="en-US" sz="1600" b="1" dirty="0"/>
              <a:t>선택 이유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데이터의 군집 수 가늠 </a:t>
            </a:r>
            <a:r>
              <a:rPr lang="en-US" altLang="ko-KR" sz="1600" b="1" dirty="0"/>
              <a:t>X</a:t>
            </a:r>
            <a:endParaRPr lang="ko-KR" altLang="ko-KR" sz="16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49947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341AE-E7B3-28B8-6226-54D63474C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7063CC-EC34-07AA-2392-29354E9AD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연관키워드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리스트 정리 완료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E6038A-B83D-4FE0-34B0-8C05D6DDF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775623" cy="473543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ko-K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연관키워드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(3/3)</a:t>
            </a:r>
          </a:p>
          <a:p>
            <a:pPr lvl="1">
              <a:lnSpc>
                <a:spcPct val="150000"/>
              </a:lnSpc>
            </a:pP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네이버 광고주센터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의미 벡터 변환 후 클러스터링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(2/2)</a:t>
            </a:r>
          </a:p>
          <a:p>
            <a:pPr>
              <a:lnSpc>
                <a:spcPct val="150000"/>
              </a:lnSpc>
            </a:pPr>
            <a:r>
              <a:rPr lang="ko-KR" altLang="ko-KR" sz="1600" b="1" dirty="0"/>
              <a:t>코로나: </a:t>
            </a:r>
            <a:r>
              <a:rPr lang="ko-KR" altLang="ko-KR" sz="1400" b="1" dirty="0"/>
              <a:t>코로나, 코로나진단키트, 코로나자가진단키트, 코로나키트, 코로나자가키트, 코로나검사키트, 진단키트, </a:t>
            </a:r>
            <a:r>
              <a:rPr lang="ko-KR" altLang="ko-KR" sz="1400" b="1" dirty="0" err="1"/>
              <a:t>코로나진단키트가격</a:t>
            </a:r>
            <a:r>
              <a:rPr lang="ko-KR" altLang="ko-KR" sz="1400" b="1" dirty="0"/>
              <a:t>, 코로나검사, 자가키트, 자가진단키트, 자가검진키트, 코로나19자가키트, </a:t>
            </a:r>
            <a:r>
              <a:rPr lang="ko-KR" altLang="ko-KR" sz="1400" b="1" dirty="0" err="1"/>
              <a:t>코로나자가키트구매</a:t>
            </a:r>
            <a:r>
              <a:rPr lang="ko-KR" altLang="ko-KR" sz="1400" b="1" dirty="0"/>
              <a:t>, </a:t>
            </a:r>
            <a:r>
              <a:rPr lang="ko-KR" altLang="ko-KR" sz="1400" b="1" dirty="0" err="1"/>
              <a:t>코로나키트편의점</a:t>
            </a:r>
            <a:r>
              <a:rPr lang="ko-KR" altLang="ko-KR" sz="1400" b="1" dirty="0"/>
              <a:t>, </a:t>
            </a:r>
            <a:r>
              <a:rPr lang="ko-KR" altLang="ko-KR" sz="1400" b="1" dirty="0" err="1"/>
              <a:t>코로나자가키트가격</a:t>
            </a:r>
            <a:r>
              <a:rPr lang="ko-KR" altLang="ko-KR" sz="1400" b="1" dirty="0"/>
              <a:t>, </a:t>
            </a:r>
            <a:r>
              <a:rPr lang="ko-KR" altLang="ko-KR" sz="1400" b="1" dirty="0" err="1"/>
              <a:t>코로나신속항원검사키트</a:t>
            </a:r>
            <a:r>
              <a:rPr lang="ko-KR" altLang="ko-KR" sz="1400" b="1" dirty="0"/>
              <a:t>, </a:t>
            </a:r>
            <a:r>
              <a:rPr lang="ko-KR" altLang="ko-KR" sz="1400" b="1" dirty="0" err="1"/>
              <a:t>코로나자가진단키트가격</a:t>
            </a:r>
            <a:r>
              <a:rPr lang="ko-KR" altLang="ko-KR" sz="1400" b="1" dirty="0"/>
              <a:t>, 코로나자가검사키트, </a:t>
            </a:r>
            <a:r>
              <a:rPr lang="ko-KR" altLang="ko-KR" sz="1400" b="1" dirty="0" err="1"/>
              <a:t>코로나키트가격</a:t>
            </a:r>
            <a:r>
              <a:rPr lang="ko-KR" altLang="ko-KR" sz="1400" b="1" dirty="0"/>
              <a:t>, </a:t>
            </a:r>
            <a:r>
              <a:rPr lang="ko-KR" altLang="ko-KR" sz="1400" b="1" dirty="0" err="1"/>
              <a:t>신속항원검사키트</a:t>
            </a:r>
            <a:r>
              <a:rPr lang="ko-KR" altLang="ko-KR" sz="1400" b="1" dirty="0"/>
              <a:t>, 코로나19자가진단키트, </a:t>
            </a:r>
            <a:r>
              <a:rPr lang="ko-KR" altLang="ko-KR" sz="1400" b="1" dirty="0" err="1"/>
              <a:t>신속항원키트</a:t>
            </a:r>
            <a:r>
              <a:rPr lang="ko-KR" altLang="ko-KR" sz="1400" b="1" dirty="0"/>
              <a:t>, 자가검사키트, </a:t>
            </a:r>
            <a:r>
              <a:rPr lang="ko-KR" altLang="ko-KR" sz="1400" b="1" dirty="0" err="1"/>
              <a:t>코로나자가진단키트구매</a:t>
            </a:r>
            <a:r>
              <a:rPr lang="ko-KR" altLang="ko-KR" sz="1400" b="1" dirty="0"/>
              <a:t>, </a:t>
            </a:r>
            <a:r>
              <a:rPr lang="ko-KR" altLang="ko-KR" sz="1400" b="1" dirty="0" err="1"/>
              <a:t>코로나검사키트가격</a:t>
            </a:r>
            <a:r>
              <a:rPr lang="ko-KR" altLang="ko-KR" sz="1400" b="1" dirty="0"/>
              <a:t>, </a:t>
            </a:r>
            <a:r>
              <a:rPr lang="ko-KR" altLang="ko-KR" sz="1400" b="1" dirty="0" err="1"/>
              <a:t>코로나진단키트구매</a:t>
            </a:r>
            <a:r>
              <a:rPr lang="ko-KR" altLang="ko-KR" sz="1400" b="1" dirty="0"/>
              <a:t>, </a:t>
            </a:r>
            <a:r>
              <a:rPr lang="ko-KR" altLang="ko-KR" sz="1400" b="1" dirty="0" err="1"/>
              <a:t>래피젠진단키트</a:t>
            </a:r>
            <a:r>
              <a:rPr lang="ko-KR" altLang="ko-KR" sz="1400" b="1" dirty="0"/>
              <a:t>, </a:t>
            </a:r>
            <a:r>
              <a:rPr lang="ko-KR" altLang="ko-KR" sz="1400" b="1" dirty="0" err="1"/>
              <a:t>수젠텍진단키트</a:t>
            </a:r>
            <a:r>
              <a:rPr lang="ko-KR" altLang="ko-KR" sz="1400" b="1" dirty="0"/>
              <a:t>, </a:t>
            </a:r>
            <a:r>
              <a:rPr lang="ko-KR" altLang="ko-KR" sz="1400" b="1" dirty="0" err="1"/>
              <a:t>당체크기</a:t>
            </a:r>
            <a:endParaRPr lang="en-US" altLang="ko-KR" sz="1400" b="1" dirty="0"/>
          </a:p>
          <a:p>
            <a:pPr>
              <a:lnSpc>
                <a:spcPct val="150000"/>
              </a:lnSpc>
            </a:pPr>
            <a:r>
              <a:rPr lang="ko-KR" altLang="ko-KR" sz="1600" b="1" dirty="0"/>
              <a:t>인플루엔자: </a:t>
            </a:r>
            <a:r>
              <a:rPr lang="ko-KR" altLang="ko-KR" sz="1400" b="1" dirty="0"/>
              <a:t>인플루엔자, </a:t>
            </a:r>
            <a:r>
              <a:rPr lang="ko-KR" altLang="ko-KR" sz="1400" b="1" dirty="0" err="1"/>
              <a:t>프리오릭스</a:t>
            </a:r>
            <a:r>
              <a:rPr lang="ko-KR" altLang="ko-KR" sz="1400" b="1" dirty="0"/>
              <a:t>, </a:t>
            </a:r>
            <a:r>
              <a:rPr lang="ko-KR" altLang="ko-KR" sz="1400" b="1" dirty="0" err="1"/>
              <a:t>프로페시아</a:t>
            </a:r>
            <a:r>
              <a:rPr lang="ko-KR" altLang="ko-KR" sz="1400" b="1" dirty="0"/>
              <a:t>, </a:t>
            </a:r>
            <a:r>
              <a:rPr lang="ko-KR" altLang="ko-KR" sz="1400" b="1" dirty="0" err="1"/>
              <a:t>프릴리지</a:t>
            </a:r>
            <a:r>
              <a:rPr lang="ko-KR" altLang="ko-KR" sz="1400" b="1" dirty="0"/>
              <a:t>, </a:t>
            </a:r>
            <a:r>
              <a:rPr lang="ko-KR" altLang="ko-KR" sz="1400" b="1" dirty="0" err="1"/>
              <a:t>핀페시아</a:t>
            </a:r>
            <a:r>
              <a:rPr lang="ko-KR" altLang="ko-KR" sz="1400" b="1" dirty="0"/>
              <a:t>, </a:t>
            </a:r>
            <a:r>
              <a:rPr lang="ko-KR" altLang="ko-KR" sz="1400" b="1" dirty="0" err="1"/>
              <a:t>푸라존</a:t>
            </a:r>
            <a:r>
              <a:rPr lang="ko-KR" altLang="ko-KR" sz="1400" b="1" dirty="0"/>
              <a:t>, </a:t>
            </a:r>
            <a:r>
              <a:rPr lang="ko-KR" altLang="ko-KR" sz="1400" b="1" dirty="0" err="1"/>
              <a:t>프레퍼레이션</a:t>
            </a:r>
            <a:r>
              <a:rPr lang="ko-KR" altLang="ko-KR" sz="1400" b="1" dirty="0"/>
              <a:t>, </a:t>
            </a:r>
            <a:r>
              <a:rPr lang="ko-KR" altLang="ko-KR" sz="1400" b="1" dirty="0" err="1"/>
              <a:t>프리베나</a:t>
            </a:r>
            <a:r>
              <a:rPr lang="ko-KR" altLang="ko-KR" sz="1400" b="1" dirty="0"/>
              <a:t>, </a:t>
            </a:r>
            <a:r>
              <a:rPr lang="ko-KR" altLang="ko-KR" sz="1400" b="1" dirty="0" err="1"/>
              <a:t>푸르티아민주</a:t>
            </a:r>
            <a:r>
              <a:rPr lang="ko-KR" altLang="ko-KR" sz="1400" b="1" dirty="0"/>
              <a:t>, </a:t>
            </a:r>
            <a:r>
              <a:rPr lang="ko-KR" altLang="ko-KR" sz="1400" b="1" dirty="0" err="1"/>
              <a:t>피록시캄</a:t>
            </a:r>
            <a:endParaRPr lang="ko-KR" altLang="ko-KR" sz="1400" b="1" dirty="0"/>
          </a:p>
          <a:p>
            <a:pPr>
              <a:lnSpc>
                <a:spcPct val="150000"/>
              </a:lnSpc>
            </a:pPr>
            <a:r>
              <a:rPr lang="ko-KR" altLang="ko-KR" sz="1600" b="1" dirty="0" err="1"/>
              <a:t>노로바이러스</a:t>
            </a:r>
            <a:r>
              <a:rPr lang="ko-KR" altLang="ko-KR" sz="1600" b="1" dirty="0"/>
              <a:t>: </a:t>
            </a:r>
            <a:r>
              <a:rPr lang="ko-KR" altLang="ko-KR" sz="1400" b="1" dirty="0" err="1"/>
              <a:t>노로바이러스</a:t>
            </a:r>
            <a:r>
              <a:rPr lang="ko-KR" altLang="ko-KR" sz="1400" b="1" dirty="0"/>
              <a:t>, </a:t>
            </a:r>
            <a:r>
              <a:rPr lang="ko-KR" altLang="ko-KR" sz="1400" b="1" dirty="0" err="1"/>
              <a:t>요폐</a:t>
            </a:r>
            <a:r>
              <a:rPr lang="ko-KR" altLang="ko-KR" sz="1400" b="1" dirty="0"/>
              <a:t>, 대상포진, 수족구병, 폐렴, 뇌염, 통풍, 궤양, 독감, </a:t>
            </a:r>
            <a:r>
              <a:rPr lang="ko-KR" altLang="ko-KR" sz="1400" b="1" dirty="0" err="1"/>
              <a:t>역류성식도염</a:t>
            </a:r>
            <a:r>
              <a:rPr lang="ko-KR" altLang="ko-KR" sz="1400" b="1" dirty="0"/>
              <a:t>, 기관지확장증, </a:t>
            </a:r>
            <a:r>
              <a:rPr lang="ko-KR" altLang="ko-KR" sz="1400" b="1" dirty="0" err="1"/>
              <a:t>대장용종</a:t>
            </a:r>
            <a:endParaRPr lang="ko-KR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3104299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546DB-5DC0-066F-EA40-EB483AF56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5C8D7-3CD6-6B57-43C4-755113B31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앞으로의 진행 단계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9C33ABB7-735A-F44D-1B37-976289A93D7A}"/>
              </a:ext>
            </a:extLst>
          </p:cNvPr>
          <p:cNvSpPr/>
          <p:nvPr/>
        </p:nvSpPr>
        <p:spPr>
          <a:xfrm>
            <a:off x="2357120" y="2230120"/>
            <a:ext cx="680720" cy="67056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8EA4B14-B0AE-7333-E575-5FB442D67B0A}"/>
              </a:ext>
            </a:extLst>
          </p:cNvPr>
          <p:cNvSpPr/>
          <p:nvPr/>
        </p:nvSpPr>
        <p:spPr>
          <a:xfrm>
            <a:off x="4612640" y="2230120"/>
            <a:ext cx="680720" cy="67056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900A3C4-1EC0-8270-D517-61201F39DE5A}"/>
              </a:ext>
            </a:extLst>
          </p:cNvPr>
          <p:cNvSpPr/>
          <p:nvPr/>
        </p:nvSpPr>
        <p:spPr>
          <a:xfrm>
            <a:off x="6868160" y="2230120"/>
            <a:ext cx="680720" cy="67056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5DDE6A0-9D01-D020-FA3F-136872FE49B7}"/>
              </a:ext>
            </a:extLst>
          </p:cNvPr>
          <p:cNvSpPr/>
          <p:nvPr/>
        </p:nvSpPr>
        <p:spPr>
          <a:xfrm>
            <a:off x="9123680" y="2230120"/>
            <a:ext cx="680720" cy="67056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CB8BE9C-061C-5B49-2F3D-D96AABAF4E34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498600" y="2565400"/>
            <a:ext cx="858520" cy="254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C544DF7-8875-6FBE-37B7-995E7D5AA168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037840" y="2560320"/>
            <a:ext cx="157480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0D34187-9166-A2D6-BE4B-5858ED3BB772}"/>
              </a:ext>
            </a:extLst>
          </p:cNvPr>
          <p:cNvCxnSpPr>
            <a:cxnSpLocks/>
          </p:cNvCxnSpPr>
          <p:nvPr/>
        </p:nvCxnSpPr>
        <p:spPr>
          <a:xfrm>
            <a:off x="5308600" y="2555240"/>
            <a:ext cx="157480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120289F-B70F-67CA-9D51-3672A5397A06}"/>
              </a:ext>
            </a:extLst>
          </p:cNvPr>
          <p:cNvCxnSpPr>
            <a:cxnSpLocks/>
          </p:cNvCxnSpPr>
          <p:nvPr/>
        </p:nvCxnSpPr>
        <p:spPr>
          <a:xfrm>
            <a:off x="7533640" y="2562860"/>
            <a:ext cx="157480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A8B9DED-D16A-DC89-67BD-939907AD0BCA}"/>
              </a:ext>
            </a:extLst>
          </p:cNvPr>
          <p:cNvCxnSpPr>
            <a:cxnSpLocks/>
          </p:cNvCxnSpPr>
          <p:nvPr/>
        </p:nvCxnSpPr>
        <p:spPr>
          <a:xfrm>
            <a:off x="9804400" y="2560320"/>
            <a:ext cx="985520" cy="254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1E24486-2719-E19A-824D-B25966A0DFD0}"/>
              </a:ext>
            </a:extLst>
          </p:cNvPr>
          <p:cNvSpPr txBox="1"/>
          <p:nvPr/>
        </p:nvSpPr>
        <p:spPr>
          <a:xfrm>
            <a:off x="1402079" y="3060960"/>
            <a:ext cx="25784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7</a:t>
            </a:r>
            <a:r>
              <a:rPr lang="ko-KR" altLang="en-US" sz="1600" b="1" dirty="0"/>
              <a:t>월</a:t>
            </a:r>
            <a:r>
              <a:rPr lang="en-US" altLang="ko-KR" sz="1600" b="1" dirty="0"/>
              <a:t>6</a:t>
            </a:r>
            <a:r>
              <a:rPr lang="ko-KR" altLang="en-US" sz="1600" b="1" dirty="0"/>
              <a:t>일</a:t>
            </a:r>
            <a:r>
              <a:rPr lang="en-US" altLang="ko-KR" sz="1600" b="1" dirty="0"/>
              <a:t>~7</a:t>
            </a:r>
            <a:r>
              <a:rPr lang="ko-KR" altLang="en-US" sz="1600" b="1" dirty="0"/>
              <a:t>월</a:t>
            </a:r>
            <a:r>
              <a:rPr lang="en-US" altLang="ko-KR" sz="1600" b="1" dirty="0"/>
              <a:t>10</a:t>
            </a:r>
            <a:r>
              <a:rPr lang="ko-KR" altLang="en-US" sz="1600" b="1" dirty="0"/>
              <a:t>일</a:t>
            </a:r>
            <a:r>
              <a:rPr lang="en-US" altLang="ko-KR" sz="1600" b="1" dirty="0"/>
              <a:t>(1</a:t>
            </a:r>
            <a:r>
              <a:rPr lang="ko-KR" altLang="en-US" sz="1600" b="1" dirty="0"/>
              <a:t>주차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1235CA-56F9-0638-AFBC-432BB1ED4710}"/>
              </a:ext>
            </a:extLst>
          </p:cNvPr>
          <p:cNvSpPr txBox="1"/>
          <p:nvPr/>
        </p:nvSpPr>
        <p:spPr>
          <a:xfrm>
            <a:off x="3846556" y="3056523"/>
            <a:ext cx="2212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2</a:t>
            </a:r>
            <a:r>
              <a:rPr lang="ko-KR" altLang="en-US" sz="1600" b="1" dirty="0"/>
              <a:t>주차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4A446D5-7BC4-5ABB-49B1-2C234E30F78B}"/>
              </a:ext>
            </a:extLst>
          </p:cNvPr>
          <p:cNvSpPr/>
          <p:nvPr/>
        </p:nvSpPr>
        <p:spPr>
          <a:xfrm>
            <a:off x="6868160" y="4638040"/>
            <a:ext cx="680720" cy="67056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1421F58-F052-7617-F8E8-554A01A8B392}"/>
              </a:ext>
            </a:extLst>
          </p:cNvPr>
          <p:cNvSpPr/>
          <p:nvPr/>
        </p:nvSpPr>
        <p:spPr>
          <a:xfrm>
            <a:off x="9123680" y="4638040"/>
            <a:ext cx="680720" cy="67056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65888C5-AD3F-88FE-D79D-A87A74679EA4}"/>
              </a:ext>
            </a:extLst>
          </p:cNvPr>
          <p:cNvCxnSpPr>
            <a:cxnSpLocks/>
          </p:cNvCxnSpPr>
          <p:nvPr/>
        </p:nvCxnSpPr>
        <p:spPr>
          <a:xfrm>
            <a:off x="7533640" y="4970780"/>
            <a:ext cx="157480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80388D61-738E-52B0-9C65-98D3328652E6}"/>
              </a:ext>
            </a:extLst>
          </p:cNvPr>
          <p:cNvCxnSpPr>
            <a:cxnSpLocks/>
          </p:cNvCxnSpPr>
          <p:nvPr/>
        </p:nvCxnSpPr>
        <p:spPr>
          <a:xfrm flipV="1">
            <a:off x="9804400" y="4963160"/>
            <a:ext cx="98552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44BC22B6-0D67-A875-C767-E2E4983018F2}"/>
              </a:ext>
            </a:extLst>
          </p:cNvPr>
          <p:cNvCxnSpPr>
            <a:cxnSpLocks/>
          </p:cNvCxnSpPr>
          <p:nvPr/>
        </p:nvCxnSpPr>
        <p:spPr>
          <a:xfrm>
            <a:off x="10789920" y="2562860"/>
            <a:ext cx="0" cy="24079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AF02127-A9E4-AFB4-EF9C-ED969C2FC374}"/>
              </a:ext>
            </a:extLst>
          </p:cNvPr>
          <p:cNvSpPr txBox="1"/>
          <p:nvPr/>
        </p:nvSpPr>
        <p:spPr>
          <a:xfrm>
            <a:off x="6421120" y="3056523"/>
            <a:ext cx="157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3</a:t>
            </a:r>
            <a:r>
              <a:rPr lang="ko-KR" altLang="en-US" sz="1600" b="1" dirty="0"/>
              <a:t>주차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AC415A-AEF9-23C5-ACFA-06F2ED144DA8}"/>
              </a:ext>
            </a:extLst>
          </p:cNvPr>
          <p:cNvSpPr txBox="1"/>
          <p:nvPr/>
        </p:nvSpPr>
        <p:spPr>
          <a:xfrm>
            <a:off x="8357596" y="3056523"/>
            <a:ext cx="2212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4</a:t>
            </a:r>
            <a:r>
              <a:rPr lang="ko-KR" altLang="en-US" sz="1600" b="1" dirty="0"/>
              <a:t>주차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094DEA-26A4-2FFA-3D51-ECDF459D3272}"/>
              </a:ext>
            </a:extLst>
          </p:cNvPr>
          <p:cNvSpPr txBox="1"/>
          <p:nvPr/>
        </p:nvSpPr>
        <p:spPr>
          <a:xfrm>
            <a:off x="8357596" y="5456823"/>
            <a:ext cx="2212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8</a:t>
            </a:r>
            <a:r>
              <a:rPr lang="ko-KR" altLang="en-US" sz="1600" b="1" dirty="0"/>
              <a:t>월</a:t>
            </a:r>
            <a:r>
              <a:rPr lang="en-US" altLang="ko-KR" sz="1600" b="1" dirty="0"/>
              <a:t>3</a:t>
            </a:r>
            <a:r>
              <a:rPr lang="ko-KR" altLang="en-US" sz="1600" b="1" dirty="0"/>
              <a:t>일</a:t>
            </a:r>
            <a:r>
              <a:rPr lang="en-US" altLang="ko-KR" sz="1600" b="1" dirty="0"/>
              <a:t>~8</a:t>
            </a:r>
            <a:r>
              <a:rPr lang="ko-KR" altLang="en-US" sz="1600" b="1" dirty="0"/>
              <a:t>월</a:t>
            </a:r>
            <a:r>
              <a:rPr lang="en-US" altLang="ko-KR" sz="1600" b="1" dirty="0"/>
              <a:t>7</a:t>
            </a:r>
            <a:r>
              <a:rPr lang="ko-KR" altLang="en-US" sz="1600" b="1" dirty="0"/>
              <a:t>일</a:t>
            </a:r>
            <a:r>
              <a:rPr lang="en-US" altLang="ko-KR" sz="1600" b="1" dirty="0"/>
              <a:t>(5</a:t>
            </a:r>
            <a:r>
              <a:rPr lang="ko-KR" altLang="en-US" sz="1600" b="1" dirty="0"/>
              <a:t>주차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968923-56E4-6F84-AC23-809D8B77AB31}"/>
              </a:ext>
            </a:extLst>
          </p:cNvPr>
          <p:cNvSpPr txBox="1"/>
          <p:nvPr/>
        </p:nvSpPr>
        <p:spPr>
          <a:xfrm>
            <a:off x="6421120" y="5464443"/>
            <a:ext cx="157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장기인턴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571A6BBA-BF8B-0495-F4D0-6E89464894DB}"/>
              </a:ext>
            </a:extLst>
          </p:cNvPr>
          <p:cNvCxnSpPr/>
          <p:nvPr/>
        </p:nvCxnSpPr>
        <p:spPr>
          <a:xfrm flipH="1">
            <a:off x="5409886" y="4970780"/>
            <a:ext cx="147351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5B1A412-72C5-DA9A-02ED-07632164B263}"/>
              </a:ext>
            </a:extLst>
          </p:cNvPr>
          <p:cNvSpPr txBox="1"/>
          <p:nvPr/>
        </p:nvSpPr>
        <p:spPr>
          <a:xfrm>
            <a:off x="1565933" y="3458487"/>
            <a:ext cx="22507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데이터 수집 마무리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+ 3</a:t>
            </a:r>
            <a:r>
              <a:rPr lang="ko-KR" altLang="en-US" sz="1600" b="1" dirty="0"/>
              <a:t>주 이동평균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상관계수 코드 정리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논문 리딩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202B23-450E-D2F8-EA88-BA5C138A1691}"/>
              </a:ext>
            </a:extLst>
          </p:cNvPr>
          <p:cNvSpPr txBox="1"/>
          <p:nvPr/>
        </p:nvSpPr>
        <p:spPr>
          <a:xfrm>
            <a:off x="3893256" y="3447257"/>
            <a:ext cx="20267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상관계수 구하기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결과값 기입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논문 리딩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40CE45-690A-12CA-0C46-A2328C557FAA}"/>
              </a:ext>
            </a:extLst>
          </p:cNvPr>
          <p:cNvSpPr txBox="1"/>
          <p:nvPr/>
        </p:nvSpPr>
        <p:spPr>
          <a:xfrm>
            <a:off x="6249842" y="3420108"/>
            <a:ext cx="17763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/>
              <a:t>교수님 피드백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논문 작성</a:t>
            </a:r>
            <a:r>
              <a:rPr lang="en-US" altLang="ko-KR" sz="1600" b="1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0F4C1F-D091-A1DE-8A12-CADB85F7E0D4}"/>
              </a:ext>
            </a:extLst>
          </p:cNvPr>
          <p:cNvSpPr txBox="1"/>
          <p:nvPr/>
        </p:nvSpPr>
        <p:spPr>
          <a:xfrm>
            <a:off x="8630841" y="3458487"/>
            <a:ext cx="17763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교수님 피드백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논문 작성</a:t>
            </a:r>
            <a:r>
              <a:rPr lang="en-US" altLang="ko-KR" sz="1600" b="1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4FD642-B7B5-F009-FE77-0917671A4629}"/>
              </a:ext>
            </a:extLst>
          </p:cNvPr>
          <p:cNvSpPr txBox="1"/>
          <p:nvPr/>
        </p:nvSpPr>
        <p:spPr>
          <a:xfrm>
            <a:off x="8575863" y="5797183"/>
            <a:ext cx="17763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교수님 피드백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논문 작성</a:t>
            </a:r>
            <a:r>
              <a:rPr lang="en-US" altLang="ko-KR" sz="1600" b="1" dirty="0"/>
              <a:t>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마무리</a:t>
            </a:r>
            <a:endParaRPr lang="en-US" altLang="ko-KR" sz="16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3E8D4EB-ECE5-0CEA-35D8-F4498D7A9DF1}"/>
              </a:ext>
            </a:extLst>
          </p:cNvPr>
          <p:cNvSpPr txBox="1"/>
          <p:nvPr/>
        </p:nvSpPr>
        <p:spPr>
          <a:xfrm>
            <a:off x="6211668" y="5802262"/>
            <a:ext cx="18526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다음 연구 진행</a:t>
            </a:r>
            <a:endParaRPr lang="en-US" altLang="ko-KR" sz="1600" b="1" dirty="0"/>
          </a:p>
        </p:txBody>
      </p:sp>
      <p:sp>
        <p:nvSpPr>
          <p:cNvPr id="48" name="슬라이드 번호 개체 틀 47">
            <a:extLst>
              <a:ext uri="{FF2B5EF4-FFF2-40B4-BE49-F238E27FC236}">
                <a16:creationId xmlns:a16="http://schemas.microsoft.com/office/drawing/2014/main" id="{F251A3CD-8941-A08C-D4B2-6B2247C28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616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32B5D-2E70-FDA5-B9BC-3E50AEC1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37967-141C-7AFF-F867-1C59EEA4D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감사합니다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786A503-D5FC-042F-9907-0C113C7D3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335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2027</TotalTime>
  <Words>899</Words>
  <Application>Microsoft Office PowerPoint</Application>
  <PresentationFormat>와이드스크린</PresentationFormat>
  <Paragraphs>99</Paragraphs>
  <Slides>13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Times New Roman</vt:lpstr>
      <vt:lpstr>Office 테마</vt:lpstr>
      <vt:lpstr>진행사항 보고</vt:lpstr>
      <vt:lpstr>Outline</vt:lpstr>
      <vt:lpstr>1. 완료된 사항</vt:lpstr>
      <vt:lpstr>2. 진행사항 보고</vt:lpstr>
      <vt:lpstr>지역별 하수 농도 데이터 확보 완료</vt:lpstr>
      <vt:lpstr>연관키워드 리스트 정리 완료</vt:lpstr>
      <vt:lpstr>연관키워드 리스트 정리 완료</vt:lpstr>
      <vt:lpstr>연관키워드 리스트 정리 완료</vt:lpstr>
      <vt:lpstr>연관키워드 리스트 정리 완료</vt:lpstr>
      <vt:lpstr>연관키워드 리스트 정리 완료</vt:lpstr>
      <vt:lpstr>연관키워드 리스트 정리 완료</vt:lpstr>
      <vt:lpstr>앞으로의 진행 단계</vt:lpstr>
      <vt:lpstr>감사합니다!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SeoJin Kang</dc:creator>
  <cp:lastModifiedBy>SeoJin Kang</cp:lastModifiedBy>
  <cp:revision>16</cp:revision>
  <dcterms:created xsi:type="dcterms:W3CDTF">2026-07-03T09:13:49Z</dcterms:created>
  <dcterms:modified xsi:type="dcterms:W3CDTF">2026-07-09T05:19:44Z</dcterms:modified>
</cp:coreProperties>
</file>